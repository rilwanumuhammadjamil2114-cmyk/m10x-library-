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80" r:id="rId8"/>
    <p:sldId id="264" r:id="rId9"/>
    <p:sldId id="265" r:id="rId10"/>
    <p:sldId id="281" r:id="rId11"/>
    <p:sldId id="282" r:id="rId12"/>
    <p:sldId id="266" r:id="rId13"/>
    <p:sldId id="283" r:id="rId14"/>
    <p:sldId id="267" r:id="rId15"/>
    <p:sldId id="284" r:id="rId16"/>
    <p:sldId id="268" r:id="rId17"/>
    <p:sldId id="285" r:id="rId18"/>
    <p:sldId id="28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3216" autoAdjust="0"/>
  </p:normalViewPr>
  <p:slideViewPr>
    <p:cSldViewPr snapToGrid="0">
      <p:cViewPr varScale="1">
        <p:scale>
          <a:sx n="65" d="100"/>
          <a:sy n="65" d="100"/>
        </p:scale>
        <p:origin x="710" y="2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7EE9-5D66-F14F-3B34-225822B8E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8855" y="1380068"/>
            <a:ext cx="9761220" cy="2616199"/>
          </a:xfrm>
        </p:spPr>
        <p:txBody>
          <a:bodyPr/>
          <a:lstStyle/>
          <a:p>
            <a:pPr algn="l"/>
            <a:r>
              <a:rPr lang="en-GB" dirty="0"/>
              <a:t>CMP 201: Programming </a:t>
            </a:r>
          </a:p>
        </p:txBody>
      </p:sp>
    </p:spTree>
    <p:extLst>
      <p:ext uri="{BB962C8B-B14F-4D97-AF65-F5344CB8AC3E}">
        <p14:creationId xmlns:p14="http://schemas.microsoft.com/office/powerpoint/2010/main" val="2470596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7E5F-D50A-0DE8-DC9D-2603075CD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831" y="80587"/>
            <a:ext cx="10018713" cy="893020"/>
          </a:xfrm>
        </p:spPr>
        <p:txBody>
          <a:bodyPr/>
          <a:lstStyle/>
          <a:p>
            <a:r>
              <a:rPr lang="en-GB" altLang="en-US" dirty="0"/>
              <a:t>Computer Programming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9065-6505-41D6-7409-D0396F69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778" y="920978"/>
            <a:ext cx="10738022" cy="5203527"/>
          </a:xfrm>
        </p:spPr>
        <p:txBody>
          <a:bodyPr>
            <a:normAutofit/>
          </a:bodyPr>
          <a:lstStyle/>
          <a:p>
            <a:pPr marR="0" algn="l"/>
            <a:r>
              <a:rPr lang="en-GB" sz="32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In one sentence:</a:t>
            </a:r>
          </a:p>
          <a:p>
            <a:pPr lvl="1"/>
            <a:r>
              <a:rPr lang="en-GB" sz="2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The process of writing computer programs is known as computer programming.</a:t>
            </a:r>
          </a:p>
          <a:p>
            <a:pPr lvl="1"/>
            <a:r>
              <a:rPr lang="en-GB" sz="2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A computer program is a clear, step-by-step, finite set of instructions that solve a specific problem. </a:t>
            </a:r>
            <a:endParaRPr lang="en-GB" sz="280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lvl="2"/>
            <a:r>
              <a:rPr lang="en-GB" sz="26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A computer program must be clear so that only one meaning can be derived from it</a:t>
            </a:r>
          </a:p>
          <a:p>
            <a:pPr lvl="1"/>
            <a:r>
              <a:rPr lang="en-GB" sz="2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A computer program is written by a computer programmer in a computer language called a programming language.</a:t>
            </a:r>
          </a:p>
        </p:txBody>
      </p:sp>
    </p:spTree>
    <p:extLst>
      <p:ext uri="{BB962C8B-B14F-4D97-AF65-F5344CB8AC3E}">
        <p14:creationId xmlns:p14="http://schemas.microsoft.com/office/powerpoint/2010/main" val="2682166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446" y="190502"/>
            <a:ext cx="10018713" cy="695324"/>
          </a:xfrm>
        </p:spPr>
        <p:txBody>
          <a:bodyPr>
            <a:noAutofit/>
          </a:bodyPr>
          <a:lstStyle/>
          <a:p>
            <a:r>
              <a:rPr lang="en-GB" sz="40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How to write a Program?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871" y="948690"/>
            <a:ext cx="10018713" cy="5640705"/>
          </a:xfrm>
        </p:spPr>
        <p:txBody>
          <a:bodyPr>
            <a:noAutofit/>
          </a:bodyPr>
          <a:lstStyle/>
          <a:p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 Computer is not Intelligent. Is this true???</a:t>
            </a:r>
          </a:p>
          <a:p>
            <a:pPr lvl="1"/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It cannot </a:t>
            </a:r>
            <a:r>
              <a:rPr lang="en-GB" sz="28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analyze</a:t>
            </a:r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a problem and come up with a solution. </a:t>
            </a:r>
          </a:p>
          <a:p>
            <a:pPr lvl="1"/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 human (the programmer) must </a:t>
            </a:r>
            <a:r>
              <a:rPr lang="en-GB" sz="28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analyze</a:t>
            </a:r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the problem, develop the instructions for solving the problem, and then have the computer carry out the instructions. </a:t>
            </a:r>
          </a:p>
          <a:p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To write a program for a computer to follow, we must go through a two-phase process: </a:t>
            </a:r>
            <a:r>
              <a:rPr lang="en-GB" sz="3200" b="1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Problem Solving</a:t>
            </a:r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and </a:t>
            </a:r>
            <a:r>
              <a:rPr lang="en-GB" sz="3200" b="1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Implementation</a:t>
            </a:r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.</a:t>
            </a:r>
          </a:p>
          <a:p>
            <a:pPr algn="l"/>
            <a:endParaRPr lang="en-GB" sz="32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21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446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Problem-Solving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6451" y="1013077"/>
            <a:ext cx="10018713" cy="5170635"/>
          </a:xfrm>
        </p:spPr>
        <p:txBody>
          <a:bodyPr>
            <a:noAutofit/>
          </a:bodyPr>
          <a:lstStyle/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Analysis and Specification- Understand (define) the problem and what the solution must do.</a:t>
            </a:r>
          </a:p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General Solution (Algorithm)- Specify the required data types and the logical sequences of steps that solve the problem.</a:t>
            </a:r>
          </a:p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Verify- Follow the steps exactly to see if the solution really does solve the problem.</a:t>
            </a:r>
          </a:p>
        </p:txBody>
      </p:sp>
    </p:spTree>
    <p:extLst>
      <p:ext uri="{BB962C8B-B14F-4D97-AF65-F5344CB8AC3E}">
        <p14:creationId xmlns:p14="http://schemas.microsoft.com/office/powerpoint/2010/main" val="411088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446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Implementation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6451" y="1013077"/>
            <a:ext cx="10018713" cy="5170635"/>
          </a:xfrm>
        </p:spPr>
        <p:txBody>
          <a:bodyPr>
            <a:noAutofit/>
          </a:bodyPr>
          <a:lstStyle/>
          <a:p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Coding </a:t>
            </a:r>
            <a:r>
              <a:rPr lang="en-GB" sz="2800" dirty="0">
                <a:solidFill>
                  <a:srgbClr val="222222"/>
                </a:solidFill>
                <a:latin typeface="Trebuchet MS" panose="020B0603020202020204" pitchFamily="34" charset="0"/>
              </a:rPr>
              <a:t>the </a:t>
            </a:r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Program</a:t>
            </a:r>
            <a:r>
              <a:rPr lang="en-GB" sz="2800" dirty="0">
                <a:solidFill>
                  <a:srgbClr val="222222"/>
                </a:solidFill>
                <a:latin typeface="Trebuchet MS" panose="020B0603020202020204" pitchFamily="34" charset="0"/>
              </a:rPr>
              <a:t> </a:t>
            </a:r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- Translate the algorithm (the general solution) into a programming language.</a:t>
            </a:r>
          </a:p>
          <a:p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Testing the Program - Have the computer follow the instructions.</a:t>
            </a:r>
          </a:p>
          <a:p>
            <a:pPr lvl="1"/>
            <a:r>
              <a:rPr lang="en-GB" sz="24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Then manually check the results. </a:t>
            </a:r>
          </a:p>
          <a:p>
            <a:pPr lvl="1"/>
            <a:r>
              <a:rPr lang="en-GB" sz="24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If you find errors, </a:t>
            </a:r>
            <a:r>
              <a:rPr lang="en-GB" sz="2400" b="0" i="0" u="none" strike="noStrike" baseline="0" dirty="0" err="1">
                <a:solidFill>
                  <a:srgbClr val="222222"/>
                </a:solidFill>
                <a:latin typeface="Trebuchet MS" panose="020B0603020202020204" pitchFamily="34" charset="0"/>
              </a:rPr>
              <a:t>analyze</a:t>
            </a:r>
            <a:r>
              <a:rPr lang="en-GB" sz="24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the program and the algorithm to determine the source of the errors, and then make corrections.</a:t>
            </a:r>
          </a:p>
          <a:p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Maintenance requires Modification of the program to meet changing requirements or to correct any errors that show up while using it.</a:t>
            </a:r>
          </a:p>
        </p:txBody>
      </p:sp>
    </p:spTree>
    <p:extLst>
      <p:ext uri="{BB962C8B-B14F-4D97-AF65-F5344CB8AC3E}">
        <p14:creationId xmlns:p14="http://schemas.microsoft.com/office/powerpoint/2010/main" val="2560949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446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Steps in Program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6451" y="1013077"/>
            <a:ext cx="10018713" cy="5170635"/>
          </a:xfrm>
        </p:spPr>
        <p:txBody>
          <a:bodyPr>
            <a:noAutofit/>
          </a:bodyPr>
          <a:lstStyle/>
          <a:p>
            <a:r>
              <a:rPr lang="en-GB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Define the problem into three separate components:</a:t>
            </a:r>
          </a:p>
          <a:p>
            <a:pPr lvl="1"/>
            <a:r>
              <a:rPr lang="en-GB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Identify the inputs</a:t>
            </a:r>
          </a:p>
          <a:p>
            <a:pPr lvl="1"/>
            <a:r>
              <a:rPr lang="en-GB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Identify the outputs</a:t>
            </a:r>
          </a:p>
          <a:p>
            <a:pPr lvl="1"/>
            <a:r>
              <a:rPr lang="en-GB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processing steps to produce required outputs.</a:t>
            </a:r>
          </a:p>
          <a:p>
            <a:r>
              <a:rPr lang="en-GB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Outline the solution.</a:t>
            </a:r>
          </a:p>
          <a:p>
            <a:pPr lvl="1"/>
            <a:r>
              <a:rPr lang="en-GB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Decompose the problem to smaller steps.</a:t>
            </a:r>
          </a:p>
          <a:p>
            <a:pPr lvl="1"/>
            <a:r>
              <a:rPr lang="en-GB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Establish a solution outline.</a:t>
            </a:r>
          </a:p>
          <a:p>
            <a:r>
              <a:rPr lang="en-GB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Develop the outline into an algorithm.</a:t>
            </a:r>
          </a:p>
          <a:p>
            <a:pPr lvl="1"/>
            <a:r>
              <a:rPr lang="en-GB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The solution outline is now expanded into an algorithm.</a:t>
            </a:r>
          </a:p>
        </p:txBody>
      </p:sp>
    </p:spTree>
    <p:extLst>
      <p:ext uri="{BB962C8B-B14F-4D97-AF65-F5344CB8AC3E}">
        <p14:creationId xmlns:p14="http://schemas.microsoft.com/office/powerpoint/2010/main" val="1660877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446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Steps in Program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6451" y="1013077"/>
            <a:ext cx="10018713" cy="5170635"/>
          </a:xfrm>
        </p:spPr>
        <p:txBody>
          <a:bodyPr>
            <a:noAutofit/>
          </a:bodyPr>
          <a:lstStyle/>
          <a:p>
            <a:r>
              <a:rPr lang="en-GB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Test the algorithm for correctness.</a:t>
            </a:r>
          </a:p>
          <a:p>
            <a:pPr lvl="1"/>
            <a:r>
              <a:rPr lang="en-GB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Very important in the development of a program, but often forgotten</a:t>
            </a:r>
          </a:p>
          <a:p>
            <a:pPr lvl="1"/>
            <a:r>
              <a:rPr lang="en-GB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Major logic errors can be detected and corrected at an early stage.</a:t>
            </a:r>
          </a:p>
          <a:p>
            <a:r>
              <a:rPr lang="en-GB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Code the algorithm into a specific programming language.</a:t>
            </a:r>
          </a:p>
          <a:p>
            <a:r>
              <a:rPr lang="en-GB" sz="2600" dirty="0">
                <a:solidFill>
                  <a:srgbClr val="222222"/>
                </a:solidFill>
                <a:latin typeface="Trebuchet MS" panose="020B0603020202020204" pitchFamily="34" charset="0"/>
              </a:rPr>
              <a:t>Test</a:t>
            </a:r>
            <a:r>
              <a:rPr lang="en-GB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the program on the computer.</a:t>
            </a:r>
          </a:p>
          <a:p>
            <a:pPr lvl="1"/>
            <a:r>
              <a:rPr lang="en-GB" sz="2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This step uses a program compiler and programmer-designed test data to machine-test the code for</a:t>
            </a:r>
          </a:p>
          <a:p>
            <a:pPr lvl="2"/>
            <a:r>
              <a:rPr lang="en-GB" sz="20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syntax errors</a:t>
            </a:r>
          </a:p>
          <a:p>
            <a:pPr lvl="2"/>
            <a:r>
              <a:rPr lang="en-GB" sz="20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logic errors</a:t>
            </a:r>
          </a:p>
          <a:p>
            <a:r>
              <a:rPr lang="en-GB" sz="2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Document and maintain the program.</a:t>
            </a:r>
          </a:p>
        </p:txBody>
      </p:sp>
    </p:spTree>
    <p:extLst>
      <p:ext uri="{BB962C8B-B14F-4D97-AF65-F5344CB8AC3E}">
        <p14:creationId xmlns:p14="http://schemas.microsoft.com/office/powerpoint/2010/main" val="213505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446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Algorithms  &amp; Flowcharts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883" y="885826"/>
            <a:ext cx="10295209" cy="5844923"/>
          </a:xfrm>
        </p:spPr>
        <p:txBody>
          <a:bodyPr>
            <a:noAutofit/>
          </a:bodyPr>
          <a:lstStyle/>
          <a:p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What is an algorithm?</a:t>
            </a:r>
          </a:p>
          <a:p>
            <a:pPr lvl="1"/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Lists the steps involved in accomplishing a task (like a recipe)</a:t>
            </a:r>
          </a:p>
          <a:p>
            <a:pPr lvl="1"/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An algorithm must:</a:t>
            </a:r>
          </a:p>
          <a:p>
            <a:pPr lvl="2"/>
            <a:r>
              <a:rPr lang="en-GB" sz="24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Be lucid (clear), precise and unambiguous</a:t>
            </a:r>
          </a:p>
          <a:p>
            <a:pPr lvl="2"/>
            <a:r>
              <a:rPr lang="en-GB" sz="24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Give the correct solution in all cases</a:t>
            </a:r>
          </a:p>
          <a:p>
            <a:pPr lvl="2"/>
            <a:r>
              <a:rPr lang="en-GB" sz="24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Eventually end (Finite number of Instructions)</a:t>
            </a:r>
          </a:p>
          <a:p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What is pseudocode?</a:t>
            </a:r>
          </a:p>
          <a:p>
            <a:pPr lvl="1"/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Structured English (formalized and abbreviated to look like high-level computer language)</a:t>
            </a:r>
          </a:p>
        </p:txBody>
      </p:sp>
    </p:spTree>
    <p:extLst>
      <p:ext uri="{BB962C8B-B14F-4D97-AF65-F5344CB8AC3E}">
        <p14:creationId xmlns:p14="http://schemas.microsoft.com/office/powerpoint/2010/main" val="529332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883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Pseudocode &amp;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883" y="986763"/>
            <a:ext cx="10295209" cy="5381145"/>
          </a:xfrm>
        </p:spPr>
        <p:txBody>
          <a:bodyPr>
            <a:noAutofit/>
          </a:bodyPr>
          <a:lstStyle/>
          <a:p>
            <a:r>
              <a:rPr lang="en-GB" sz="32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Example 1: Write an algorithm to determine a student’s final grade and indicate whether it is passing or failing. The final grade is calculated as the Total of CA and Exam Scores.</a:t>
            </a:r>
          </a:p>
        </p:txBody>
      </p:sp>
    </p:spTree>
    <p:extLst>
      <p:ext uri="{BB962C8B-B14F-4D97-AF65-F5344CB8AC3E}">
        <p14:creationId xmlns:p14="http://schemas.microsoft.com/office/powerpoint/2010/main" val="3088042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883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Pseudocode &amp;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883" y="986763"/>
            <a:ext cx="10295209" cy="5381145"/>
          </a:xfrm>
        </p:spPr>
        <p:txBody>
          <a:bodyPr>
            <a:noAutofit/>
          </a:bodyPr>
          <a:lstStyle/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Pseudocode:</a:t>
            </a:r>
          </a:p>
          <a:p>
            <a:pPr lvl="1"/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Input CA and Exam Scores</a:t>
            </a:r>
          </a:p>
          <a:p>
            <a:pPr lvl="1"/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Calculate </a:t>
            </a:r>
            <a:r>
              <a:rPr lang="en-GB" sz="3200" i="1" dirty="0">
                <a:solidFill>
                  <a:srgbClr val="222222"/>
                </a:solidFill>
                <a:latin typeface="Trebuchet MS" panose="020B0603020202020204" pitchFamily="34" charset="0"/>
              </a:rPr>
              <a:t>Total Score </a:t>
            </a:r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by summing CA and Exam Scores</a:t>
            </a:r>
          </a:p>
          <a:p>
            <a:pPr lvl="1"/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if Total Score is below 40</a:t>
            </a:r>
          </a:p>
          <a:p>
            <a:pPr lvl="2"/>
            <a:r>
              <a:rPr lang="en-GB" sz="30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Print “FAIL”</a:t>
            </a:r>
          </a:p>
          <a:p>
            <a:pPr lvl="1"/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else</a:t>
            </a:r>
          </a:p>
          <a:p>
            <a:pPr lvl="2"/>
            <a:r>
              <a:rPr lang="en-GB" sz="30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Print “PASS”</a:t>
            </a:r>
          </a:p>
        </p:txBody>
      </p:sp>
    </p:spTree>
    <p:extLst>
      <p:ext uri="{BB962C8B-B14F-4D97-AF65-F5344CB8AC3E}">
        <p14:creationId xmlns:p14="http://schemas.microsoft.com/office/powerpoint/2010/main" val="2230810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883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Pseudocode &amp;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883" y="986763"/>
            <a:ext cx="10295209" cy="5381145"/>
          </a:xfrm>
        </p:spPr>
        <p:txBody>
          <a:bodyPr>
            <a:noAutofit/>
          </a:bodyPr>
          <a:lstStyle/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Detailed Algorithm: </a:t>
            </a:r>
          </a:p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Step 1:  	Input CA, Exam</a:t>
            </a:r>
          </a:p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Step 2: 	Total = CA + Exam </a:t>
            </a:r>
          </a:p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Step 3: 	if (Total &lt; 40) then</a:t>
            </a:r>
          </a:p>
          <a:p>
            <a:pPr marL="0" indent="0">
              <a:buNone/>
            </a:pPr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							Print “FAIL”</a:t>
            </a:r>
          </a:p>
          <a:p>
            <a:pPr marL="0" indent="0">
              <a:buNone/>
            </a:pPr>
            <a:r>
              <a:rPr lang="en-GB" sz="3600" dirty="0">
                <a:solidFill>
                  <a:srgbClr val="222222"/>
                </a:solidFill>
                <a:latin typeface="Trebuchet MS" panose="020B0603020202020204" pitchFamily="34" charset="0"/>
              </a:rPr>
              <a:t>						</a:t>
            </a:r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else</a:t>
            </a:r>
          </a:p>
          <a:p>
            <a:pPr marL="0" indent="0">
              <a:buNone/>
            </a:pPr>
            <a:r>
              <a:rPr lang="en-GB" sz="3600" dirty="0">
                <a:solidFill>
                  <a:srgbClr val="222222"/>
                </a:solidFill>
                <a:latin typeface="Trebuchet MS" panose="020B0603020202020204" pitchFamily="34" charset="0"/>
              </a:rPr>
              <a:t>							</a:t>
            </a:r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Print “PASS”</a:t>
            </a:r>
          </a:p>
          <a:p>
            <a:pPr marL="0" indent="0">
              <a:buNone/>
            </a:pPr>
            <a:r>
              <a:rPr lang="en-GB" sz="3600" dirty="0">
                <a:solidFill>
                  <a:srgbClr val="222222"/>
                </a:solidFill>
                <a:latin typeface="Trebuchet MS" panose="020B0603020202020204" pitchFamily="34" charset="0"/>
              </a:rPr>
              <a:t>						</a:t>
            </a:r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endif</a:t>
            </a:r>
          </a:p>
        </p:txBody>
      </p:sp>
    </p:spTree>
    <p:extLst>
      <p:ext uri="{BB962C8B-B14F-4D97-AF65-F5344CB8AC3E}">
        <p14:creationId xmlns:p14="http://schemas.microsoft.com/office/powerpoint/2010/main" val="4139418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883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500" y="1098596"/>
            <a:ext cx="10295209" cy="5354832"/>
          </a:xfrm>
        </p:spPr>
        <p:txBody>
          <a:bodyPr>
            <a:noAutofit/>
          </a:bodyPr>
          <a:lstStyle/>
          <a:p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 graphical representation of the sequence of operations in an information system or program. </a:t>
            </a:r>
          </a:p>
          <a:p>
            <a:endParaRPr lang="en-GB" sz="2800" b="0" i="0" u="none" strike="noStrike" baseline="0" dirty="0">
              <a:solidFill>
                <a:srgbClr val="222222"/>
              </a:solidFill>
              <a:latin typeface="Trebuchet MS" panose="020B0603020202020204" pitchFamily="34" charset="0"/>
            </a:endParaRPr>
          </a:p>
          <a:p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Program flowcharts show the sequence of instructions in a single program or subroutine. </a:t>
            </a:r>
          </a:p>
          <a:p>
            <a:pPr lvl="1"/>
            <a:r>
              <a:rPr lang="en-GB" sz="24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shows logic of an algorithm</a:t>
            </a:r>
          </a:p>
          <a:p>
            <a:pPr lvl="1"/>
            <a:r>
              <a:rPr lang="en-GB" sz="24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emphasizes individual steps and their interconnections</a:t>
            </a:r>
          </a:p>
          <a:p>
            <a:pPr lvl="1"/>
            <a:r>
              <a:rPr lang="en-GB" sz="24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e.g. control flow from one action to the next</a:t>
            </a:r>
          </a:p>
          <a:p>
            <a:r>
              <a:rPr lang="en-GB" sz="28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Note: Different symbols are used to draw each type of flowchart.</a:t>
            </a:r>
          </a:p>
        </p:txBody>
      </p:sp>
    </p:spTree>
    <p:extLst>
      <p:ext uri="{BB962C8B-B14F-4D97-AF65-F5344CB8AC3E}">
        <p14:creationId xmlns:p14="http://schemas.microsoft.com/office/powerpoint/2010/main" val="3672848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883" y="190502"/>
            <a:ext cx="10018713" cy="5638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6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Flowchart Symbols</a:t>
            </a: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28C05111-F75F-5CC9-0F34-0179846D90B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28850" y="885826"/>
            <a:ext cx="9126855" cy="5857875"/>
            <a:chOff x="720" y="1320"/>
            <a:chExt cx="10278" cy="9226"/>
          </a:xfrm>
        </p:grpSpPr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28E3F2B7-689C-83BC-8909-F2B90360B6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1320"/>
              <a:ext cx="10278" cy="9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ar-SA" altLang="en-US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630E85FC-B82B-3B43-7464-29C3F7CC6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1994"/>
              <a:ext cx="1860" cy="930"/>
            </a:xfrm>
            <a:custGeom>
              <a:avLst/>
              <a:gdLst>
                <a:gd name="T0" fmla="*/ 1858 w 1860"/>
                <a:gd name="T1" fmla="*/ 429 h 930"/>
                <a:gd name="T2" fmla="*/ 1846 w 1860"/>
                <a:gd name="T3" fmla="*/ 383 h 930"/>
                <a:gd name="T4" fmla="*/ 1826 w 1860"/>
                <a:gd name="T5" fmla="*/ 338 h 930"/>
                <a:gd name="T6" fmla="*/ 1796 w 1860"/>
                <a:gd name="T7" fmla="*/ 295 h 930"/>
                <a:gd name="T8" fmla="*/ 1759 w 1860"/>
                <a:gd name="T9" fmla="*/ 253 h 930"/>
                <a:gd name="T10" fmla="*/ 1714 w 1860"/>
                <a:gd name="T11" fmla="*/ 214 h 930"/>
                <a:gd name="T12" fmla="*/ 1661 w 1860"/>
                <a:gd name="T13" fmla="*/ 178 h 930"/>
                <a:gd name="T14" fmla="*/ 1604 w 1860"/>
                <a:gd name="T15" fmla="*/ 144 h 930"/>
                <a:gd name="T16" fmla="*/ 1486 w 1860"/>
                <a:gd name="T17" fmla="*/ 93 h 930"/>
                <a:gd name="T18" fmla="*/ 1333 w 1860"/>
                <a:gd name="T19" fmla="*/ 47 h 930"/>
                <a:gd name="T20" fmla="*/ 1162 w 1860"/>
                <a:gd name="T21" fmla="*/ 14 h 930"/>
                <a:gd name="T22" fmla="*/ 978 w 1860"/>
                <a:gd name="T23" fmla="*/ 0 h 930"/>
                <a:gd name="T24" fmla="*/ 789 w 1860"/>
                <a:gd name="T25" fmla="*/ 5 h 930"/>
                <a:gd name="T26" fmla="*/ 610 w 1860"/>
                <a:gd name="T27" fmla="*/ 28 h 930"/>
                <a:gd name="T28" fmla="*/ 448 w 1860"/>
                <a:gd name="T29" fmla="*/ 67 h 930"/>
                <a:gd name="T30" fmla="*/ 305 w 1860"/>
                <a:gd name="T31" fmla="*/ 121 h 930"/>
                <a:gd name="T32" fmla="*/ 228 w 1860"/>
                <a:gd name="T33" fmla="*/ 161 h 930"/>
                <a:gd name="T34" fmla="*/ 172 w 1860"/>
                <a:gd name="T35" fmla="*/ 195 h 930"/>
                <a:gd name="T36" fmla="*/ 124 w 1860"/>
                <a:gd name="T37" fmla="*/ 234 h 930"/>
                <a:gd name="T38" fmla="*/ 82 w 1860"/>
                <a:gd name="T39" fmla="*/ 275 h 930"/>
                <a:gd name="T40" fmla="*/ 49 w 1860"/>
                <a:gd name="T41" fmla="*/ 316 h 930"/>
                <a:gd name="T42" fmla="*/ 25 w 1860"/>
                <a:gd name="T43" fmla="*/ 360 h 930"/>
                <a:gd name="T44" fmla="*/ 8 w 1860"/>
                <a:gd name="T45" fmla="*/ 406 h 930"/>
                <a:gd name="T46" fmla="*/ 0 w 1860"/>
                <a:gd name="T47" fmla="*/ 453 h 930"/>
                <a:gd name="T48" fmla="*/ 3 w 1860"/>
                <a:gd name="T49" fmla="*/ 501 h 930"/>
                <a:gd name="T50" fmla="*/ 15 w 1860"/>
                <a:gd name="T51" fmla="*/ 547 h 930"/>
                <a:gd name="T52" fmla="*/ 35 w 1860"/>
                <a:gd name="T53" fmla="*/ 592 h 930"/>
                <a:gd name="T54" fmla="*/ 65 w 1860"/>
                <a:gd name="T55" fmla="*/ 636 h 930"/>
                <a:gd name="T56" fmla="*/ 102 w 1860"/>
                <a:gd name="T57" fmla="*/ 677 h 930"/>
                <a:gd name="T58" fmla="*/ 147 w 1860"/>
                <a:gd name="T59" fmla="*/ 716 h 930"/>
                <a:gd name="T60" fmla="*/ 198 w 1860"/>
                <a:gd name="T61" fmla="*/ 752 h 930"/>
                <a:gd name="T62" fmla="*/ 257 w 1860"/>
                <a:gd name="T63" fmla="*/ 786 h 930"/>
                <a:gd name="T64" fmla="*/ 373 w 1860"/>
                <a:gd name="T65" fmla="*/ 837 h 930"/>
                <a:gd name="T66" fmla="*/ 527 w 1860"/>
                <a:gd name="T67" fmla="*/ 884 h 930"/>
                <a:gd name="T68" fmla="*/ 697 w 1860"/>
                <a:gd name="T69" fmla="*/ 915 h 930"/>
                <a:gd name="T70" fmla="*/ 882 w 1860"/>
                <a:gd name="T71" fmla="*/ 930 h 930"/>
                <a:gd name="T72" fmla="*/ 1072 w 1860"/>
                <a:gd name="T73" fmla="*/ 925 h 930"/>
                <a:gd name="T74" fmla="*/ 1251 w 1860"/>
                <a:gd name="T75" fmla="*/ 902 h 930"/>
                <a:gd name="T76" fmla="*/ 1412 w 1860"/>
                <a:gd name="T77" fmla="*/ 863 h 930"/>
                <a:gd name="T78" fmla="*/ 1556 w 1860"/>
                <a:gd name="T79" fmla="*/ 809 h 930"/>
                <a:gd name="T80" fmla="*/ 1633 w 1860"/>
                <a:gd name="T81" fmla="*/ 769 h 930"/>
                <a:gd name="T82" fmla="*/ 1689 w 1860"/>
                <a:gd name="T83" fmla="*/ 735 h 930"/>
                <a:gd name="T84" fmla="*/ 1737 w 1860"/>
                <a:gd name="T85" fmla="*/ 696 h 930"/>
                <a:gd name="T86" fmla="*/ 1778 w 1860"/>
                <a:gd name="T87" fmla="*/ 657 h 930"/>
                <a:gd name="T88" fmla="*/ 1812 w 1860"/>
                <a:gd name="T89" fmla="*/ 614 h 930"/>
                <a:gd name="T90" fmla="*/ 1836 w 1860"/>
                <a:gd name="T91" fmla="*/ 571 h 930"/>
                <a:gd name="T92" fmla="*/ 1852 w 1860"/>
                <a:gd name="T93" fmla="*/ 524 h 930"/>
                <a:gd name="T94" fmla="*/ 1860 w 1860"/>
                <a:gd name="T95" fmla="*/ 478 h 93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860"/>
                <a:gd name="T145" fmla="*/ 0 h 930"/>
                <a:gd name="T146" fmla="*/ 1860 w 1860"/>
                <a:gd name="T147" fmla="*/ 930 h 93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860" h="930">
                  <a:moveTo>
                    <a:pt x="1860" y="465"/>
                  </a:moveTo>
                  <a:lnTo>
                    <a:pt x="1860" y="453"/>
                  </a:lnTo>
                  <a:lnTo>
                    <a:pt x="1858" y="442"/>
                  </a:lnTo>
                  <a:lnTo>
                    <a:pt x="1858" y="429"/>
                  </a:lnTo>
                  <a:lnTo>
                    <a:pt x="1855" y="417"/>
                  </a:lnTo>
                  <a:lnTo>
                    <a:pt x="1852" y="406"/>
                  </a:lnTo>
                  <a:lnTo>
                    <a:pt x="1849" y="394"/>
                  </a:lnTo>
                  <a:lnTo>
                    <a:pt x="1846" y="383"/>
                  </a:lnTo>
                  <a:lnTo>
                    <a:pt x="1841" y="372"/>
                  </a:lnTo>
                  <a:lnTo>
                    <a:pt x="1836" y="360"/>
                  </a:lnTo>
                  <a:lnTo>
                    <a:pt x="1830" y="349"/>
                  </a:lnTo>
                  <a:lnTo>
                    <a:pt x="1826" y="338"/>
                  </a:lnTo>
                  <a:lnTo>
                    <a:pt x="1818" y="327"/>
                  </a:lnTo>
                  <a:lnTo>
                    <a:pt x="1812" y="316"/>
                  </a:lnTo>
                  <a:lnTo>
                    <a:pt x="1804" y="306"/>
                  </a:lnTo>
                  <a:lnTo>
                    <a:pt x="1796" y="295"/>
                  </a:lnTo>
                  <a:lnTo>
                    <a:pt x="1787" y="284"/>
                  </a:lnTo>
                  <a:lnTo>
                    <a:pt x="1778" y="275"/>
                  </a:lnTo>
                  <a:lnTo>
                    <a:pt x="1768" y="264"/>
                  </a:lnTo>
                  <a:lnTo>
                    <a:pt x="1759" y="253"/>
                  </a:lnTo>
                  <a:lnTo>
                    <a:pt x="1748" y="244"/>
                  </a:lnTo>
                  <a:lnTo>
                    <a:pt x="1737" y="234"/>
                  </a:lnTo>
                  <a:lnTo>
                    <a:pt x="1725" y="223"/>
                  </a:lnTo>
                  <a:lnTo>
                    <a:pt x="1714" y="214"/>
                  </a:lnTo>
                  <a:lnTo>
                    <a:pt x="1702" y="205"/>
                  </a:lnTo>
                  <a:lnTo>
                    <a:pt x="1689" y="195"/>
                  </a:lnTo>
                  <a:lnTo>
                    <a:pt x="1675" y="188"/>
                  </a:lnTo>
                  <a:lnTo>
                    <a:pt x="1661" y="178"/>
                  </a:lnTo>
                  <a:lnTo>
                    <a:pt x="1647" y="169"/>
                  </a:lnTo>
                  <a:lnTo>
                    <a:pt x="1633" y="161"/>
                  </a:lnTo>
                  <a:lnTo>
                    <a:pt x="1618" y="152"/>
                  </a:lnTo>
                  <a:lnTo>
                    <a:pt x="1604" y="144"/>
                  </a:lnTo>
                  <a:lnTo>
                    <a:pt x="1588" y="137"/>
                  </a:lnTo>
                  <a:lnTo>
                    <a:pt x="1556" y="121"/>
                  </a:lnTo>
                  <a:lnTo>
                    <a:pt x="1522" y="107"/>
                  </a:lnTo>
                  <a:lnTo>
                    <a:pt x="1486" y="93"/>
                  </a:lnTo>
                  <a:lnTo>
                    <a:pt x="1451" y="79"/>
                  </a:lnTo>
                  <a:lnTo>
                    <a:pt x="1412" y="67"/>
                  </a:lnTo>
                  <a:lnTo>
                    <a:pt x="1373" y="56"/>
                  </a:lnTo>
                  <a:lnTo>
                    <a:pt x="1333" y="47"/>
                  </a:lnTo>
                  <a:lnTo>
                    <a:pt x="1292" y="37"/>
                  </a:lnTo>
                  <a:lnTo>
                    <a:pt x="1251" y="28"/>
                  </a:lnTo>
                  <a:lnTo>
                    <a:pt x="1207" y="22"/>
                  </a:lnTo>
                  <a:lnTo>
                    <a:pt x="1162" y="14"/>
                  </a:lnTo>
                  <a:lnTo>
                    <a:pt x="1117" y="9"/>
                  </a:lnTo>
                  <a:lnTo>
                    <a:pt x="1072" y="5"/>
                  </a:lnTo>
                  <a:lnTo>
                    <a:pt x="1026" y="3"/>
                  </a:lnTo>
                  <a:lnTo>
                    <a:pt x="978" y="0"/>
                  </a:lnTo>
                  <a:lnTo>
                    <a:pt x="930" y="0"/>
                  </a:lnTo>
                  <a:lnTo>
                    <a:pt x="882" y="0"/>
                  </a:lnTo>
                  <a:lnTo>
                    <a:pt x="835" y="3"/>
                  </a:lnTo>
                  <a:lnTo>
                    <a:pt x="789" y="5"/>
                  </a:lnTo>
                  <a:lnTo>
                    <a:pt x="742" y="9"/>
                  </a:lnTo>
                  <a:lnTo>
                    <a:pt x="697" y="14"/>
                  </a:lnTo>
                  <a:lnTo>
                    <a:pt x="654" y="22"/>
                  </a:lnTo>
                  <a:lnTo>
                    <a:pt x="610" y="28"/>
                  </a:lnTo>
                  <a:lnTo>
                    <a:pt x="569" y="37"/>
                  </a:lnTo>
                  <a:lnTo>
                    <a:pt x="527" y="47"/>
                  </a:lnTo>
                  <a:lnTo>
                    <a:pt x="486" y="56"/>
                  </a:lnTo>
                  <a:lnTo>
                    <a:pt x="448" y="67"/>
                  </a:lnTo>
                  <a:lnTo>
                    <a:pt x="410" y="79"/>
                  </a:lnTo>
                  <a:lnTo>
                    <a:pt x="373" y="93"/>
                  </a:lnTo>
                  <a:lnTo>
                    <a:pt x="339" y="107"/>
                  </a:lnTo>
                  <a:lnTo>
                    <a:pt x="305" y="121"/>
                  </a:lnTo>
                  <a:lnTo>
                    <a:pt x="273" y="137"/>
                  </a:lnTo>
                  <a:lnTo>
                    <a:pt x="257" y="144"/>
                  </a:lnTo>
                  <a:lnTo>
                    <a:pt x="242" y="152"/>
                  </a:lnTo>
                  <a:lnTo>
                    <a:pt x="228" y="161"/>
                  </a:lnTo>
                  <a:lnTo>
                    <a:pt x="212" y="169"/>
                  </a:lnTo>
                  <a:lnTo>
                    <a:pt x="198" y="178"/>
                  </a:lnTo>
                  <a:lnTo>
                    <a:pt x="184" y="188"/>
                  </a:lnTo>
                  <a:lnTo>
                    <a:pt x="172" y="195"/>
                  </a:lnTo>
                  <a:lnTo>
                    <a:pt x="159" y="205"/>
                  </a:lnTo>
                  <a:lnTo>
                    <a:pt x="147" y="214"/>
                  </a:lnTo>
                  <a:lnTo>
                    <a:pt x="135" y="223"/>
                  </a:lnTo>
                  <a:lnTo>
                    <a:pt x="124" y="234"/>
                  </a:lnTo>
                  <a:lnTo>
                    <a:pt x="113" y="244"/>
                  </a:lnTo>
                  <a:lnTo>
                    <a:pt x="102" y="253"/>
                  </a:lnTo>
                  <a:lnTo>
                    <a:pt x="91" y="264"/>
                  </a:lnTo>
                  <a:lnTo>
                    <a:pt x="82" y="275"/>
                  </a:lnTo>
                  <a:lnTo>
                    <a:pt x="73" y="284"/>
                  </a:lnTo>
                  <a:lnTo>
                    <a:pt x="65" y="295"/>
                  </a:lnTo>
                  <a:lnTo>
                    <a:pt x="57" y="306"/>
                  </a:lnTo>
                  <a:lnTo>
                    <a:pt x="49" y="316"/>
                  </a:lnTo>
                  <a:lnTo>
                    <a:pt x="42" y="327"/>
                  </a:lnTo>
                  <a:lnTo>
                    <a:pt x="35" y="338"/>
                  </a:lnTo>
                  <a:lnTo>
                    <a:pt x="29" y="349"/>
                  </a:lnTo>
                  <a:lnTo>
                    <a:pt x="25" y="360"/>
                  </a:lnTo>
                  <a:lnTo>
                    <a:pt x="18" y="372"/>
                  </a:lnTo>
                  <a:lnTo>
                    <a:pt x="15" y="383"/>
                  </a:lnTo>
                  <a:lnTo>
                    <a:pt x="11" y="394"/>
                  </a:lnTo>
                  <a:lnTo>
                    <a:pt x="8" y="406"/>
                  </a:lnTo>
                  <a:lnTo>
                    <a:pt x="4" y="417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3"/>
                  </a:lnTo>
                  <a:lnTo>
                    <a:pt x="0" y="465"/>
                  </a:lnTo>
                  <a:lnTo>
                    <a:pt x="0" y="478"/>
                  </a:lnTo>
                  <a:lnTo>
                    <a:pt x="1" y="488"/>
                  </a:lnTo>
                  <a:lnTo>
                    <a:pt x="3" y="501"/>
                  </a:lnTo>
                  <a:lnTo>
                    <a:pt x="4" y="513"/>
                  </a:lnTo>
                  <a:lnTo>
                    <a:pt x="8" y="524"/>
                  </a:lnTo>
                  <a:lnTo>
                    <a:pt x="11" y="536"/>
                  </a:lnTo>
                  <a:lnTo>
                    <a:pt x="15" y="547"/>
                  </a:lnTo>
                  <a:lnTo>
                    <a:pt x="18" y="558"/>
                  </a:lnTo>
                  <a:lnTo>
                    <a:pt x="25" y="571"/>
                  </a:lnTo>
                  <a:lnTo>
                    <a:pt x="29" y="581"/>
                  </a:lnTo>
                  <a:lnTo>
                    <a:pt x="35" y="592"/>
                  </a:lnTo>
                  <a:lnTo>
                    <a:pt x="42" y="603"/>
                  </a:lnTo>
                  <a:lnTo>
                    <a:pt x="49" y="614"/>
                  </a:lnTo>
                  <a:lnTo>
                    <a:pt x="57" y="625"/>
                  </a:lnTo>
                  <a:lnTo>
                    <a:pt x="65" y="636"/>
                  </a:lnTo>
                  <a:lnTo>
                    <a:pt x="73" y="646"/>
                  </a:lnTo>
                  <a:lnTo>
                    <a:pt x="82" y="657"/>
                  </a:lnTo>
                  <a:lnTo>
                    <a:pt x="91" y="667"/>
                  </a:lnTo>
                  <a:lnTo>
                    <a:pt x="102" y="677"/>
                  </a:lnTo>
                  <a:lnTo>
                    <a:pt x="113" y="687"/>
                  </a:lnTo>
                  <a:lnTo>
                    <a:pt x="124" y="696"/>
                  </a:lnTo>
                  <a:lnTo>
                    <a:pt x="135" y="707"/>
                  </a:lnTo>
                  <a:lnTo>
                    <a:pt x="147" y="716"/>
                  </a:lnTo>
                  <a:lnTo>
                    <a:pt x="159" y="726"/>
                  </a:lnTo>
                  <a:lnTo>
                    <a:pt x="172" y="735"/>
                  </a:lnTo>
                  <a:lnTo>
                    <a:pt x="184" y="744"/>
                  </a:lnTo>
                  <a:lnTo>
                    <a:pt x="198" y="752"/>
                  </a:lnTo>
                  <a:lnTo>
                    <a:pt x="212" y="761"/>
                  </a:lnTo>
                  <a:lnTo>
                    <a:pt x="228" y="769"/>
                  </a:lnTo>
                  <a:lnTo>
                    <a:pt x="242" y="778"/>
                  </a:lnTo>
                  <a:lnTo>
                    <a:pt x="257" y="786"/>
                  </a:lnTo>
                  <a:lnTo>
                    <a:pt x="273" y="794"/>
                  </a:lnTo>
                  <a:lnTo>
                    <a:pt x="305" y="809"/>
                  </a:lnTo>
                  <a:lnTo>
                    <a:pt x="339" y="825"/>
                  </a:lnTo>
                  <a:lnTo>
                    <a:pt x="373" y="837"/>
                  </a:lnTo>
                  <a:lnTo>
                    <a:pt x="410" y="851"/>
                  </a:lnTo>
                  <a:lnTo>
                    <a:pt x="448" y="863"/>
                  </a:lnTo>
                  <a:lnTo>
                    <a:pt x="486" y="874"/>
                  </a:lnTo>
                  <a:lnTo>
                    <a:pt x="527" y="884"/>
                  </a:lnTo>
                  <a:lnTo>
                    <a:pt x="569" y="893"/>
                  </a:lnTo>
                  <a:lnTo>
                    <a:pt x="610" y="902"/>
                  </a:lnTo>
                  <a:lnTo>
                    <a:pt x="654" y="908"/>
                  </a:lnTo>
                  <a:lnTo>
                    <a:pt x="697" y="915"/>
                  </a:lnTo>
                  <a:lnTo>
                    <a:pt x="742" y="921"/>
                  </a:lnTo>
                  <a:lnTo>
                    <a:pt x="789" y="924"/>
                  </a:lnTo>
                  <a:lnTo>
                    <a:pt x="835" y="927"/>
                  </a:lnTo>
                  <a:lnTo>
                    <a:pt x="882" y="930"/>
                  </a:lnTo>
                  <a:lnTo>
                    <a:pt x="930" y="930"/>
                  </a:lnTo>
                  <a:lnTo>
                    <a:pt x="978" y="930"/>
                  </a:lnTo>
                  <a:lnTo>
                    <a:pt x="1026" y="927"/>
                  </a:lnTo>
                  <a:lnTo>
                    <a:pt x="1072" y="925"/>
                  </a:lnTo>
                  <a:lnTo>
                    <a:pt x="1117" y="921"/>
                  </a:lnTo>
                  <a:lnTo>
                    <a:pt x="1162" y="916"/>
                  </a:lnTo>
                  <a:lnTo>
                    <a:pt x="1207" y="910"/>
                  </a:lnTo>
                  <a:lnTo>
                    <a:pt x="1251" y="902"/>
                  </a:lnTo>
                  <a:lnTo>
                    <a:pt x="1292" y="893"/>
                  </a:lnTo>
                  <a:lnTo>
                    <a:pt x="1333" y="884"/>
                  </a:lnTo>
                  <a:lnTo>
                    <a:pt x="1373" y="874"/>
                  </a:lnTo>
                  <a:lnTo>
                    <a:pt x="1412" y="863"/>
                  </a:lnTo>
                  <a:lnTo>
                    <a:pt x="1451" y="851"/>
                  </a:lnTo>
                  <a:lnTo>
                    <a:pt x="1486" y="837"/>
                  </a:lnTo>
                  <a:lnTo>
                    <a:pt x="1522" y="825"/>
                  </a:lnTo>
                  <a:lnTo>
                    <a:pt x="1556" y="809"/>
                  </a:lnTo>
                  <a:lnTo>
                    <a:pt x="1588" y="794"/>
                  </a:lnTo>
                  <a:lnTo>
                    <a:pt x="1604" y="786"/>
                  </a:lnTo>
                  <a:lnTo>
                    <a:pt x="1618" y="778"/>
                  </a:lnTo>
                  <a:lnTo>
                    <a:pt x="1633" y="769"/>
                  </a:lnTo>
                  <a:lnTo>
                    <a:pt x="1647" y="761"/>
                  </a:lnTo>
                  <a:lnTo>
                    <a:pt x="1661" y="752"/>
                  </a:lnTo>
                  <a:lnTo>
                    <a:pt x="1675" y="744"/>
                  </a:lnTo>
                  <a:lnTo>
                    <a:pt x="1689" y="735"/>
                  </a:lnTo>
                  <a:lnTo>
                    <a:pt x="1702" y="726"/>
                  </a:lnTo>
                  <a:lnTo>
                    <a:pt x="1714" y="716"/>
                  </a:lnTo>
                  <a:lnTo>
                    <a:pt x="1725" y="707"/>
                  </a:lnTo>
                  <a:lnTo>
                    <a:pt x="1737" y="696"/>
                  </a:lnTo>
                  <a:lnTo>
                    <a:pt x="1748" y="687"/>
                  </a:lnTo>
                  <a:lnTo>
                    <a:pt x="1759" y="677"/>
                  </a:lnTo>
                  <a:lnTo>
                    <a:pt x="1768" y="667"/>
                  </a:lnTo>
                  <a:lnTo>
                    <a:pt x="1778" y="657"/>
                  </a:lnTo>
                  <a:lnTo>
                    <a:pt x="1787" y="646"/>
                  </a:lnTo>
                  <a:lnTo>
                    <a:pt x="1796" y="636"/>
                  </a:lnTo>
                  <a:lnTo>
                    <a:pt x="1804" y="625"/>
                  </a:lnTo>
                  <a:lnTo>
                    <a:pt x="1812" y="614"/>
                  </a:lnTo>
                  <a:lnTo>
                    <a:pt x="1818" y="603"/>
                  </a:lnTo>
                  <a:lnTo>
                    <a:pt x="1824" y="592"/>
                  </a:lnTo>
                  <a:lnTo>
                    <a:pt x="1830" y="581"/>
                  </a:lnTo>
                  <a:lnTo>
                    <a:pt x="1836" y="571"/>
                  </a:lnTo>
                  <a:lnTo>
                    <a:pt x="1841" y="558"/>
                  </a:lnTo>
                  <a:lnTo>
                    <a:pt x="1846" y="547"/>
                  </a:lnTo>
                  <a:lnTo>
                    <a:pt x="1849" y="536"/>
                  </a:lnTo>
                  <a:lnTo>
                    <a:pt x="1852" y="524"/>
                  </a:lnTo>
                  <a:lnTo>
                    <a:pt x="1855" y="513"/>
                  </a:lnTo>
                  <a:lnTo>
                    <a:pt x="1857" y="501"/>
                  </a:lnTo>
                  <a:lnTo>
                    <a:pt x="1858" y="488"/>
                  </a:lnTo>
                  <a:lnTo>
                    <a:pt x="1860" y="478"/>
                  </a:lnTo>
                  <a:lnTo>
                    <a:pt x="1860" y="465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59994D82-CCE9-1B95-8B6C-5F4A69916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1994"/>
              <a:ext cx="1860" cy="930"/>
            </a:xfrm>
            <a:custGeom>
              <a:avLst/>
              <a:gdLst>
                <a:gd name="T0" fmla="*/ 1858 w 1860"/>
                <a:gd name="T1" fmla="*/ 429 h 930"/>
                <a:gd name="T2" fmla="*/ 1846 w 1860"/>
                <a:gd name="T3" fmla="*/ 383 h 930"/>
                <a:gd name="T4" fmla="*/ 1826 w 1860"/>
                <a:gd name="T5" fmla="*/ 338 h 930"/>
                <a:gd name="T6" fmla="*/ 1796 w 1860"/>
                <a:gd name="T7" fmla="*/ 295 h 930"/>
                <a:gd name="T8" fmla="*/ 1759 w 1860"/>
                <a:gd name="T9" fmla="*/ 253 h 930"/>
                <a:gd name="T10" fmla="*/ 1714 w 1860"/>
                <a:gd name="T11" fmla="*/ 214 h 930"/>
                <a:gd name="T12" fmla="*/ 1661 w 1860"/>
                <a:gd name="T13" fmla="*/ 178 h 930"/>
                <a:gd name="T14" fmla="*/ 1604 w 1860"/>
                <a:gd name="T15" fmla="*/ 144 h 930"/>
                <a:gd name="T16" fmla="*/ 1486 w 1860"/>
                <a:gd name="T17" fmla="*/ 93 h 930"/>
                <a:gd name="T18" fmla="*/ 1333 w 1860"/>
                <a:gd name="T19" fmla="*/ 47 h 930"/>
                <a:gd name="T20" fmla="*/ 1162 w 1860"/>
                <a:gd name="T21" fmla="*/ 14 h 930"/>
                <a:gd name="T22" fmla="*/ 978 w 1860"/>
                <a:gd name="T23" fmla="*/ 0 h 930"/>
                <a:gd name="T24" fmla="*/ 789 w 1860"/>
                <a:gd name="T25" fmla="*/ 5 h 930"/>
                <a:gd name="T26" fmla="*/ 610 w 1860"/>
                <a:gd name="T27" fmla="*/ 28 h 930"/>
                <a:gd name="T28" fmla="*/ 448 w 1860"/>
                <a:gd name="T29" fmla="*/ 67 h 930"/>
                <a:gd name="T30" fmla="*/ 305 w 1860"/>
                <a:gd name="T31" fmla="*/ 121 h 930"/>
                <a:gd name="T32" fmla="*/ 228 w 1860"/>
                <a:gd name="T33" fmla="*/ 161 h 930"/>
                <a:gd name="T34" fmla="*/ 172 w 1860"/>
                <a:gd name="T35" fmla="*/ 195 h 930"/>
                <a:gd name="T36" fmla="*/ 124 w 1860"/>
                <a:gd name="T37" fmla="*/ 234 h 930"/>
                <a:gd name="T38" fmla="*/ 82 w 1860"/>
                <a:gd name="T39" fmla="*/ 275 h 930"/>
                <a:gd name="T40" fmla="*/ 49 w 1860"/>
                <a:gd name="T41" fmla="*/ 316 h 930"/>
                <a:gd name="T42" fmla="*/ 25 w 1860"/>
                <a:gd name="T43" fmla="*/ 360 h 930"/>
                <a:gd name="T44" fmla="*/ 8 w 1860"/>
                <a:gd name="T45" fmla="*/ 406 h 930"/>
                <a:gd name="T46" fmla="*/ 0 w 1860"/>
                <a:gd name="T47" fmla="*/ 453 h 930"/>
                <a:gd name="T48" fmla="*/ 3 w 1860"/>
                <a:gd name="T49" fmla="*/ 501 h 930"/>
                <a:gd name="T50" fmla="*/ 15 w 1860"/>
                <a:gd name="T51" fmla="*/ 547 h 930"/>
                <a:gd name="T52" fmla="*/ 35 w 1860"/>
                <a:gd name="T53" fmla="*/ 592 h 930"/>
                <a:gd name="T54" fmla="*/ 65 w 1860"/>
                <a:gd name="T55" fmla="*/ 636 h 930"/>
                <a:gd name="T56" fmla="*/ 102 w 1860"/>
                <a:gd name="T57" fmla="*/ 677 h 930"/>
                <a:gd name="T58" fmla="*/ 147 w 1860"/>
                <a:gd name="T59" fmla="*/ 716 h 930"/>
                <a:gd name="T60" fmla="*/ 198 w 1860"/>
                <a:gd name="T61" fmla="*/ 752 h 930"/>
                <a:gd name="T62" fmla="*/ 257 w 1860"/>
                <a:gd name="T63" fmla="*/ 786 h 930"/>
                <a:gd name="T64" fmla="*/ 373 w 1860"/>
                <a:gd name="T65" fmla="*/ 837 h 930"/>
                <a:gd name="T66" fmla="*/ 527 w 1860"/>
                <a:gd name="T67" fmla="*/ 884 h 930"/>
                <a:gd name="T68" fmla="*/ 697 w 1860"/>
                <a:gd name="T69" fmla="*/ 915 h 930"/>
                <a:gd name="T70" fmla="*/ 882 w 1860"/>
                <a:gd name="T71" fmla="*/ 930 h 930"/>
                <a:gd name="T72" fmla="*/ 1072 w 1860"/>
                <a:gd name="T73" fmla="*/ 925 h 930"/>
                <a:gd name="T74" fmla="*/ 1251 w 1860"/>
                <a:gd name="T75" fmla="*/ 902 h 930"/>
                <a:gd name="T76" fmla="*/ 1412 w 1860"/>
                <a:gd name="T77" fmla="*/ 863 h 930"/>
                <a:gd name="T78" fmla="*/ 1556 w 1860"/>
                <a:gd name="T79" fmla="*/ 809 h 930"/>
                <a:gd name="T80" fmla="*/ 1633 w 1860"/>
                <a:gd name="T81" fmla="*/ 769 h 930"/>
                <a:gd name="T82" fmla="*/ 1689 w 1860"/>
                <a:gd name="T83" fmla="*/ 735 h 930"/>
                <a:gd name="T84" fmla="*/ 1737 w 1860"/>
                <a:gd name="T85" fmla="*/ 696 h 930"/>
                <a:gd name="T86" fmla="*/ 1778 w 1860"/>
                <a:gd name="T87" fmla="*/ 657 h 930"/>
                <a:gd name="T88" fmla="*/ 1812 w 1860"/>
                <a:gd name="T89" fmla="*/ 614 h 930"/>
                <a:gd name="T90" fmla="*/ 1836 w 1860"/>
                <a:gd name="T91" fmla="*/ 571 h 930"/>
                <a:gd name="T92" fmla="*/ 1852 w 1860"/>
                <a:gd name="T93" fmla="*/ 524 h 930"/>
                <a:gd name="T94" fmla="*/ 1860 w 1860"/>
                <a:gd name="T95" fmla="*/ 478 h 93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860"/>
                <a:gd name="T145" fmla="*/ 0 h 930"/>
                <a:gd name="T146" fmla="*/ 1860 w 1860"/>
                <a:gd name="T147" fmla="*/ 930 h 93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860" h="930">
                  <a:moveTo>
                    <a:pt x="1860" y="465"/>
                  </a:moveTo>
                  <a:lnTo>
                    <a:pt x="1860" y="453"/>
                  </a:lnTo>
                  <a:lnTo>
                    <a:pt x="1858" y="442"/>
                  </a:lnTo>
                  <a:lnTo>
                    <a:pt x="1858" y="429"/>
                  </a:lnTo>
                  <a:lnTo>
                    <a:pt x="1855" y="417"/>
                  </a:lnTo>
                  <a:lnTo>
                    <a:pt x="1852" y="406"/>
                  </a:lnTo>
                  <a:lnTo>
                    <a:pt x="1849" y="394"/>
                  </a:lnTo>
                  <a:lnTo>
                    <a:pt x="1846" y="383"/>
                  </a:lnTo>
                  <a:lnTo>
                    <a:pt x="1841" y="372"/>
                  </a:lnTo>
                  <a:lnTo>
                    <a:pt x="1836" y="360"/>
                  </a:lnTo>
                  <a:lnTo>
                    <a:pt x="1830" y="349"/>
                  </a:lnTo>
                  <a:lnTo>
                    <a:pt x="1826" y="338"/>
                  </a:lnTo>
                  <a:lnTo>
                    <a:pt x="1818" y="327"/>
                  </a:lnTo>
                  <a:lnTo>
                    <a:pt x="1812" y="316"/>
                  </a:lnTo>
                  <a:lnTo>
                    <a:pt x="1804" y="306"/>
                  </a:lnTo>
                  <a:lnTo>
                    <a:pt x="1796" y="295"/>
                  </a:lnTo>
                  <a:lnTo>
                    <a:pt x="1787" y="284"/>
                  </a:lnTo>
                  <a:lnTo>
                    <a:pt x="1778" y="275"/>
                  </a:lnTo>
                  <a:lnTo>
                    <a:pt x="1768" y="264"/>
                  </a:lnTo>
                  <a:lnTo>
                    <a:pt x="1759" y="253"/>
                  </a:lnTo>
                  <a:lnTo>
                    <a:pt x="1748" y="244"/>
                  </a:lnTo>
                  <a:lnTo>
                    <a:pt x="1737" y="234"/>
                  </a:lnTo>
                  <a:lnTo>
                    <a:pt x="1725" y="223"/>
                  </a:lnTo>
                  <a:lnTo>
                    <a:pt x="1714" y="214"/>
                  </a:lnTo>
                  <a:lnTo>
                    <a:pt x="1702" y="205"/>
                  </a:lnTo>
                  <a:lnTo>
                    <a:pt x="1689" y="195"/>
                  </a:lnTo>
                  <a:lnTo>
                    <a:pt x="1675" y="188"/>
                  </a:lnTo>
                  <a:lnTo>
                    <a:pt x="1661" y="178"/>
                  </a:lnTo>
                  <a:lnTo>
                    <a:pt x="1647" y="169"/>
                  </a:lnTo>
                  <a:lnTo>
                    <a:pt x="1633" y="161"/>
                  </a:lnTo>
                  <a:lnTo>
                    <a:pt x="1618" y="152"/>
                  </a:lnTo>
                  <a:lnTo>
                    <a:pt x="1604" y="144"/>
                  </a:lnTo>
                  <a:lnTo>
                    <a:pt x="1588" y="137"/>
                  </a:lnTo>
                  <a:lnTo>
                    <a:pt x="1556" y="121"/>
                  </a:lnTo>
                  <a:lnTo>
                    <a:pt x="1522" y="107"/>
                  </a:lnTo>
                  <a:lnTo>
                    <a:pt x="1486" y="93"/>
                  </a:lnTo>
                  <a:lnTo>
                    <a:pt x="1451" y="79"/>
                  </a:lnTo>
                  <a:lnTo>
                    <a:pt x="1412" y="67"/>
                  </a:lnTo>
                  <a:lnTo>
                    <a:pt x="1373" y="56"/>
                  </a:lnTo>
                  <a:lnTo>
                    <a:pt x="1333" y="47"/>
                  </a:lnTo>
                  <a:lnTo>
                    <a:pt x="1292" y="37"/>
                  </a:lnTo>
                  <a:lnTo>
                    <a:pt x="1251" y="28"/>
                  </a:lnTo>
                  <a:lnTo>
                    <a:pt x="1207" y="22"/>
                  </a:lnTo>
                  <a:lnTo>
                    <a:pt x="1162" y="14"/>
                  </a:lnTo>
                  <a:lnTo>
                    <a:pt x="1117" y="9"/>
                  </a:lnTo>
                  <a:lnTo>
                    <a:pt x="1072" y="5"/>
                  </a:lnTo>
                  <a:lnTo>
                    <a:pt x="1026" y="3"/>
                  </a:lnTo>
                  <a:lnTo>
                    <a:pt x="978" y="0"/>
                  </a:lnTo>
                  <a:lnTo>
                    <a:pt x="930" y="0"/>
                  </a:lnTo>
                  <a:lnTo>
                    <a:pt x="882" y="0"/>
                  </a:lnTo>
                  <a:lnTo>
                    <a:pt x="835" y="3"/>
                  </a:lnTo>
                  <a:lnTo>
                    <a:pt x="789" y="5"/>
                  </a:lnTo>
                  <a:lnTo>
                    <a:pt x="742" y="9"/>
                  </a:lnTo>
                  <a:lnTo>
                    <a:pt x="697" y="14"/>
                  </a:lnTo>
                  <a:lnTo>
                    <a:pt x="654" y="22"/>
                  </a:lnTo>
                  <a:lnTo>
                    <a:pt x="610" y="28"/>
                  </a:lnTo>
                  <a:lnTo>
                    <a:pt x="569" y="37"/>
                  </a:lnTo>
                  <a:lnTo>
                    <a:pt x="527" y="47"/>
                  </a:lnTo>
                  <a:lnTo>
                    <a:pt x="486" y="56"/>
                  </a:lnTo>
                  <a:lnTo>
                    <a:pt x="448" y="67"/>
                  </a:lnTo>
                  <a:lnTo>
                    <a:pt x="410" y="79"/>
                  </a:lnTo>
                  <a:lnTo>
                    <a:pt x="373" y="93"/>
                  </a:lnTo>
                  <a:lnTo>
                    <a:pt x="339" y="107"/>
                  </a:lnTo>
                  <a:lnTo>
                    <a:pt x="305" y="121"/>
                  </a:lnTo>
                  <a:lnTo>
                    <a:pt x="273" y="137"/>
                  </a:lnTo>
                  <a:lnTo>
                    <a:pt x="257" y="144"/>
                  </a:lnTo>
                  <a:lnTo>
                    <a:pt x="242" y="152"/>
                  </a:lnTo>
                  <a:lnTo>
                    <a:pt x="228" y="161"/>
                  </a:lnTo>
                  <a:lnTo>
                    <a:pt x="212" y="169"/>
                  </a:lnTo>
                  <a:lnTo>
                    <a:pt x="198" y="178"/>
                  </a:lnTo>
                  <a:lnTo>
                    <a:pt x="184" y="188"/>
                  </a:lnTo>
                  <a:lnTo>
                    <a:pt x="172" y="195"/>
                  </a:lnTo>
                  <a:lnTo>
                    <a:pt x="159" y="205"/>
                  </a:lnTo>
                  <a:lnTo>
                    <a:pt x="147" y="214"/>
                  </a:lnTo>
                  <a:lnTo>
                    <a:pt x="135" y="223"/>
                  </a:lnTo>
                  <a:lnTo>
                    <a:pt x="124" y="234"/>
                  </a:lnTo>
                  <a:lnTo>
                    <a:pt x="113" y="244"/>
                  </a:lnTo>
                  <a:lnTo>
                    <a:pt x="102" y="253"/>
                  </a:lnTo>
                  <a:lnTo>
                    <a:pt x="91" y="264"/>
                  </a:lnTo>
                  <a:lnTo>
                    <a:pt x="82" y="275"/>
                  </a:lnTo>
                  <a:lnTo>
                    <a:pt x="73" y="284"/>
                  </a:lnTo>
                  <a:lnTo>
                    <a:pt x="65" y="295"/>
                  </a:lnTo>
                  <a:lnTo>
                    <a:pt x="57" y="306"/>
                  </a:lnTo>
                  <a:lnTo>
                    <a:pt x="49" y="316"/>
                  </a:lnTo>
                  <a:lnTo>
                    <a:pt x="42" y="327"/>
                  </a:lnTo>
                  <a:lnTo>
                    <a:pt x="35" y="338"/>
                  </a:lnTo>
                  <a:lnTo>
                    <a:pt x="29" y="349"/>
                  </a:lnTo>
                  <a:lnTo>
                    <a:pt x="25" y="360"/>
                  </a:lnTo>
                  <a:lnTo>
                    <a:pt x="18" y="372"/>
                  </a:lnTo>
                  <a:lnTo>
                    <a:pt x="15" y="383"/>
                  </a:lnTo>
                  <a:lnTo>
                    <a:pt x="11" y="394"/>
                  </a:lnTo>
                  <a:lnTo>
                    <a:pt x="8" y="406"/>
                  </a:lnTo>
                  <a:lnTo>
                    <a:pt x="4" y="417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3"/>
                  </a:lnTo>
                  <a:lnTo>
                    <a:pt x="0" y="465"/>
                  </a:lnTo>
                  <a:lnTo>
                    <a:pt x="0" y="478"/>
                  </a:lnTo>
                  <a:lnTo>
                    <a:pt x="1" y="488"/>
                  </a:lnTo>
                  <a:lnTo>
                    <a:pt x="3" y="501"/>
                  </a:lnTo>
                  <a:lnTo>
                    <a:pt x="4" y="513"/>
                  </a:lnTo>
                  <a:lnTo>
                    <a:pt x="8" y="524"/>
                  </a:lnTo>
                  <a:lnTo>
                    <a:pt x="11" y="536"/>
                  </a:lnTo>
                  <a:lnTo>
                    <a:pt x="15" y="547"/>
                  </a:lnTo>
                  <a:lnTo>
                    <a:pt x="18" y="558"/>
                  </a:lnTo>
                  <a:lnTo>
                    <a:pt x="25" y="571"/>
                  </a:lnTo>
                  <a:lnTo>
                    <a:pt x="29" y="581"/>
                  </a:lnTo>
                  <a:lnTo>
                    <a:pt x="35" y="592"/>
                  </a:lnTo>
                  <a:lnTo>
                    <a:pt x="42" y="603"/>
                  </a:lnTo>
                  <a:lnTo>
                    <a:pt x="49" y="614"/>
                  </a:lnTo>
                  <a:lnTo>
                    <a:pt x="57" y="625"/>
                  </a:lnTo>
                  <a:lnTo>
                    <a:pt x="65" y="636"/>
                  </a:lnTo>
                  <a:lnTo>
                    <a:pt x="73" y="646"/>
                  </a:lnTo>
                  <a:lnTo>
                    <a:pt x="82" y="657"/>
                  </a:lnTo>
                  <a:lnTo>
                    <a:pt x="91" y="667"/>
                  </a:lnTo>
                  <a:lnTo>
                    <a:pt x="102" y="677"/>
                  </a:lnTo>
                  <a:lnTo>
                    <a:pt x="113" y="687"/>
                  </a:lnTo>
                  <a:lnTo>
                    <a:pt x="124" y="696"/>
                  </a:lnTo>
                  <a:lnTo>
                    <a:pt x="135" y="707"/>
                  </a:lnTo>
                  <a:lnTo>
                    <a:pt x="147" y="716"/>
                  </a:lnTo>
                  <a:lnTo>
                    <a:pt x="159" y="726"/>
                  </a:lnTo>
                  <a:lnTo>
                    <a:pt x="172" y="735"/>
                  </a:lnTo>
                  <a:lnTo>
                    <a:pt x="184" y="744"/>
                  </a:lnTo>
                  <a:lnTo>
                    <a:pt x="198" y="752"/>
                  </a:lnTo>
                  <a:lnTo>
                    <a:pt x="212" y="761"/>
                  </a:lnTo>
                  <a:lnTo>
                    <a:pt x="228" y="769"/>
                  </a:lnTo>
                  <a:lnTo>
                    <a:pt x="242" y="778"/>
                  </a:lnTo>
                  <a:lnTo>
                    <a:pt x="257" y="786"/>
                  </a:lnTo>
                  <a:lnTo>
                    <a:pt x="273" y="794"/>
                  </a:lnTo>
                  <a:lnTo>
                    <a:pt x="305" y="809"/>
                  </a:lnTo>
                  <a:lnTo>
                    <a:pt x="339" y="825"/>
                  </a:lnTo>
                  <a:lnTo>
                    <a:pt x="373" y="837"/>
                  </a:lnTo>
                  <a:lnTo>
                    <a:pt x="410" y="851"/>
                  </a:lnTo>
                  <a:lnTo>
                    <a:pt x="448" y="863"/>
                  </a:lnTo>
                  <a:lnTo>
                    <a:pt x="486" y="874"/>
                  </a:lnTo>
                  <a:lnTo>
                    <a:pt x="527" y="884"/>
                  </a:lnTo>
                  <a:lnTo>
                    <a:pt x="569" y="893"/>
                  </a:lnTo>
                  <a:lnTo>
                    <a:pt x="610" y="902"/>
                  </a:lnTo>
                  <a:lnTo>
                    <a:pt x="654" y="908"/>
                  </a:lnTo>
                  <a:lnTo>
                    <a:pt x="697" y="915"/>
                  </a:lnTo>
                  <a:lnTo>
                    <a:pt x="742" y="921"/>
                  </a:lnTo>
                  <a:lnTo>
                    <a:pt x="789" y="924"/>
                  </a:lnTo>
                  <a:lnTo>
                    <a:pt x="835" y="927"/>
                  </a:lnTo>
                  <a:lnTo>
                    <a:pt x="882" y="930"/>
                  </a:lnTo>
                  <a:lnTo>
                    <a:pt x="930" y="930"/>
                  </a:lnTo>
                  <a:lnTo>
                    <a:pt x="978" y="930"/>
                  </a:lnTo>
                  <a:lnTo>
                    <a:pt x="1026" y="927"/>
                  </a:lnTo>
                  <a:lnTo>
                    <a:pt x="1072" y="925"/>
                  </a:lnTo>
                  <a:lnTo>
                    <a:pt x="1117" y="921"/>
                  </a:lnTo>
                  <a:lnTo>
                    <a:pt x="1162" y="916"/>
                  </a:lnTo>
                  <a:lnTo>
                    <a:pt x="1207" y="910"/>
                  </a:lnTo>
                  <a:lnTo>
                    <a:pt x="1251" y="902"/>
                  </a:lnTo>
                  <a:lnTo>
                    <a:pt x="1292" y="893"/>
                  </a:lnTo>
                  <a:lnTo>
                    <a:pt x="1333" y="884"/>
                  </a:lnTo>
                  <a:lnTo>
                    <a:pt x="1373" y="874"/>
                  </a:lnTo>
                  <a:lnTo>
                    <a:pt x="1412" y="863"/>
                  </a:lnTo>
                  <a:lnTo>
                    <a:pt x="1451" y="851"/>
                  </a:lnTo>
                  <a:lnTo>
                    <a:pt x="1486" y="837"/>
                  </a:lnTo>
                  <a:lnTo>
                    <a:pt x="1522" y="825"/>
                  </a:lnTo>
                  <a:lnTo>
                    <a:pt x="1556" y="809"/>
                  </a:lnTo>
                  <a:lnTo>
                    <a:pt x="1588" y="794"/>
                  </a:lnTo>
                  <a:lnTo>
                    <a:pt x="1604" y="786"/>
                  </a:lnTo>
                  <a:lnTo>
                    <a:pt x="1618" y="778"/>
                  </a:lnTo>
                  <a:lnTo>
                    <a:pt x="1633" y="769"/>
                  </a:lnTo>
                  <a:lnTo>
                    <a:pt x="1647" y="761"/>
                  </a:lnTo>
                  <a:lnTo>
                    <a:pt x="1661" y="752"/>
                  </a:lnTo>
                  <a:lnTo>
                    <a:pt x="1675" y="744"/>
                  </a:lnTo>
                  <a:lnTo>
                    <a:pt x="1689" y="735"/>
                  </a:lnTo>
                  <a:lnTo>
                    <a:pt x="1702" y="726"/>
                  </a:lnTo>
                  <a:lnTo>
                    <a:pt x="1714" y="716"/>
                  </a:lnTo>
                  <a:lnTo>
                    <a:pt x="1725" y="707"/>
                  </a:lnTo>
                  <a:lnTo>
                    <a:pt x="1737" y="696"/>
                  </a:lnTo>
                  <a:lnTo>
                    <a:pt x="1748" y="687"/>
                  </a:lnTo>
                  <a:lnTo>
                    <a:pt x="1759" y="677"/>
                  </a:lnTo>
                  <a:lnTo>
                    <a:pt x="1768" y="667"/>
                  </a:lnTo>
                  <a:lnTo>
                    <a:pt x="1778" y="657"/>
                  </a:lnTo>
                  <a:lnTo>
                    <a:pt x="1787" y="646"/>
                  </a:lnTo>
                  <a:lnTo>
                    <a:pt x="1796" y="636"/>
                  </a:lnTo>
                  <a:lnTo>
                    <a:pt x="1804" y="625"/>
                  </a:lnTo>
                  <a:lnTo>
                    <a:pt x="1812" y="614"/>
                  </a:lnTo>
                  <a:lnTo>
                    <a:pt x="1818" y="603"/>
                  </a:lnTo>
                  <a:lnTo>
                    <a:pt x="1824" y="592"/>
                  </a:lnTo>
                  <a:lnTo>
                    <a:pt x="1830" y="581"/>
                  </a:lnTo>
                  <a:lnTo>
                    <a:pt x="1836" y="571"/>
                  </a:lnTo>
                  <a:lnTo>
                    <a:pt x="1841" y="558"/>
                  </a:lnTo>
                  <a:lnTo>
                    <a:pt x="1846" y="547"/>
                  </a:lnTo>
                  <a:lnTo>
                    <a:pt x="1849" y="536"/>
                  </a:lnTo>
                  <a:lnTo>
                    <a:pt x="1852" y="524"/>
                  </a:lnTo>
                  <a:lnTo>
                    <a:pt x="1855" y="513"/>
                  </a:lnTo>
                  <a:lnTo>
                    <a:pt x="1857" y="501"/>
                  </a:lnTo>
                  <a:lnTo>
                    <a:pt x="1858" y="488"/>
                  </a:lnTo>
                  <a:lnTo>
                    <a:pt x="1860" y="478"/>
                  </a:lnTo>
                  <a:lnTo>
                    <a:pt x="1860" y="46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5DC725F7-8D37-5E3C-8E5B-730C004DC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3482"/>
              <a:ext cx="186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DA41C766-9A61-A285-2133-E20D3CB5D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4412"/>
              <a:ext cx="186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11E51689-6FAF-4C86-5B3C-B84F8F4BEA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4" y="3482"/>
              <a:ext cx="372" cy="9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E43C2635-C7DA-0DB0-4FC5-72013157D9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64" y="3482"/>
              <a:ext cx="372" cy="9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F29C4E1D-1571-A0D7-4E0B-0DD2D84328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0" y="8318"/>
              <a:ext cx="186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8F3EA959-22ED-1163-25A5-40DB63F51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0" y="9433"/>
              <a:ext cx="186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44D4BAE0-0419-36C2-66DE-497851FF78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92" y="8318"/>
              <a:ext cx="558" cy="5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A9C48D22-44D6-99A8-7406-2E91C4C0B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2" y="8876"/>
              <a:ext cx="558" cy="5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A0A8EE23-5164-03F2-4CDD-438F39B50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8318"/>
              <a:ext cx="558" cy="558"/>
            </a:xfrm>
            <a:custGeom>
              <a:avLst/>
              <a:gdLst>
                <a:gd name="T0" fmla="*/ 0 w 558"/>
                <a:gd name="T1" fmla="*/ 0 h 558"/>
                <a:gd name="T2" fmla="*/ 29 w 558"/>
                <a:gd name="T3" fmla="*/ 0 h 558"/>
                <a:gd name="T4" fmla="*/ 57 w 558"/>
                <a:gd name="T5" fmla="*/ 3 h 558"/>
                <a:gd name="T6" fmla="*/ 85 w 558"/>
                <a:gd name="T7" fmla="*/ 6 h 558"/>
                <a:gd name="T8" fmla="*/ 113 w 558"/>
                <a:gd name="T9" fmla="*/ 10 h 558"/>
                <a:gd name="T10" fmla="*/ 139 w 558"/>
                <a:gd name="T11" fmla="*/ 17 h 558"/>
                <a:gd name="T12" fmla="*/ 166 w 558"/>
                <a:gd name="T13" fmla="*/ 24 h 558"/>
                <a:gd name="T14" fmla="*/ 192 w 558"/>
                <a:gd name="T15" fmla="*/ 34 h 558"/>
                <a:gd name="T16" fmla="*/ 217 w 558"/>
                <a:gd name="T17" fmla="*/ 43 h 558"/>
                <a:gd name="T18" fmla="*/ 241 w 558"/>
                <a:gd name="T19" fmla="*/ 55 h 558"/>
                <a:gd name="T20" fmla="*/ 266 w 558"/>
                <a:gd name="T21" fmla="*/ 66 h 558"/>
                <a:gd name="T22" fmla="*/ 290 w 558"/>
                <a:gd name="T23" fmla="*/ 80 h 558"/>
                <a:gd name="T24" fmla="*/ 313 w 558"/>
                <a:gd name="T25" fmla="*/ 96 h 558"/>
                <a:gd name="T26" fmla="*/ 334 w 558"/>
                <a:gd name="T27" fmla="*/ 111 h 558"/>
                <a:gd name="T28" fmla="*/ 355 w 558"/>
                <a:gd name="T29" fmla="*/ 127 h 558"/>
                <a:gd name="T30" fmla="*/ 375 w 558"/>
                <a:gd name="T31" fmla="*/ 145 h 558"/>
                <a:gd name="T32" fmla="*/ 395 w 558"/>
                <a:gd name="T33" fmla="*/ 162 h 558"/>
                <a:gd name="T34" fmla="*/ 414 w 558"/>
                <a:gd name="T35" fmla="*/ 182 h 558"/>
                <a:gd name="T36" fmla="*/ 431 w 558"/>
                <a:gd name="T37" fmla="*/ 203 h 558"/>
                <a:gd name="T38" fmla="*/ 448 w 558"/>
                <a:gd name="T39" fmla="*/ 224 h 558"/>
                <a:gd name="T40" fmla="*/ 463 w 558"/>
                <a:gd name="T41" fmla="*/ 246 h 558"/>
                <a:gd name="T42" fmla="*/ 477 w 558"/>
                <a:gd name="T43" fmla="*/ 268 h 558"/>
                <a:gd name="T44" fmla="*/ 491 w 558"/>
                <a:gd name="T45" fmla="*/ 291 h 558"/>
                <a:gd name="T46" fmla="*/ 503 w 558"/>
                <a:gd name="T47" fmla="*/ 316 h 558"/>
                <a:gd name="T48" fmla="*/ 514 w 558"/>
                <a:gd name="T49" fmla="*/ 341 h 558"/>
                <a:gd name="T50" fmla="*/ 524 w 558"/>
                <a:gd name="T51" fmla="*/ 365 h 558"/>
                <a:gd name="T52" fmla="*/ 533 w 558"/>
                <a:gd name="T53" fmla="*/ 392 h 558"/>
                <a:gd name="T54" fmla="*/ 541 w 558"/>
                <a:gd name="T55" fmla="*/ 418 h 558"/>
                <a:gd name="T56" fmla="*/ 547 w 558"/>
                <a:gd name="T57" fmla="*/ 444 h 558"/>
                <a:gd name="T58" fmla="*/ 551 w 558"/>
                <a:gd name="T59" fmla="*/ 472 h 558"/>
                <a:gd name="T60" fmla="*/ 555 w 558"/>
                <a:gd name="T61" fmla="*/ 500 h 558"/>
                <a:gd name="T62" fmla="*/ 558 w 558"/>
                <a:gd name="T63" fmla="*/ 530 h 558"/>
                <a:gd name="T64" fmla="*/ 558 w 558"/>
                <a:gd name="T65" fmla="*/ 558 h 5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58"/>
                <a:gd name="T100" fmla="*/ 0 h 558"/>
                <a:gd name="T101" fmla="*/ 558 w 558"/>
                <a:gd name="T102" fmla="*/ 558 h 5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58" h="558">
                  <a:moveTo>
                    <a:pt x="0" y="0"/>
                  </a:moveTo>
                  <a:lnTo>
                    <a:pt x="29" y="0"/>
                  </a:lnTo>
                  <a:lnTo>
                    <a:pt x="57" y="3"/>
                  </a:lnTo>
                  <a:lnTo>
                    <a:pt x="85" y="6"/>
                  </a:lnTo>
                  <a:lnTo>
                    <a:pt x="113" y="10"/>
                  </a:lnTo>
                  <a:lnTo>
                    <a:pt x="139" y="17"/>
                  </a:lnTo>
                  <a:lnTo>
                    <a:pt x="166" y="24"/>
                  </a:lnTo>
                  <a:lnTo>
                    <a:pt x="192" y="34"/>
                  </a:lnTo>
                  <a:lnTo>
                    <a:pt x="217" y="43"/>
                  </a:lnTo>
                  <a:lnTo>
                    <a:pt x="241" y="55"/>
                  </a:lnTo>
                  <a:lnTo>
                    <a:pt x="266" y="66"/>
                  </a:lnTo>
                  <a:lnTo>
                    <a:pt x="290" y="80"/>
                  </a:lnTo>
                  <a:lnTo>
                    <a:pt x="313" y="96"/>
                  </a:lnTo>
                  <a:lnTo>
                    <a:pt x="334" y="111"/>
                  </a:lnTo>
                  <a:lnTo>
                    <a:pt x="355" y="127"/>
                  </a:lnTo>
                  <a:lnTo>
                    <a:pt x="375" y="145"/>
                  </a:lnTo>
                  <a:lnTo>
                    <a:pt x="395" y="162"/>
                  </a:lnTo>
                  <a:lnTo>
                    <a:pt x="414" y="182"/>
                  </a:lnTo>
                  <a:lnTo>
                    <a:pt x="431" y="203"/>
                  </a:lnTo>
                  <a:lnTo>
                    <a:pt x="448" y="224"/>
                  </a:lnTo>
                  <a:lnTo>
                    <a:pt x="463" y="246"/>
                  </a:lnTo>
                  <a:lnTo>
                    <a:pt x="477" y="268"/>
                  </a:lnTo>
                  <a:lnTo>
                    <a:pt x="491" y="291"/>
                  </a:lnTo>
                  <a:lnTo>
                    <a:pt x="503" y="316"/>
                  </a:lnTo>
                  <a:lnTo>
                    <a:pt x="514" y="341"/>
                  </a:lnTo>
                  <a:lnTo>
                    <a:pt x="524" y="365"/>
                  </a:lnTo>
                  <a:lnTo>
                    <a:pt x="533" y="392"/>
                  </a:lnTo>
                  <a:lnTo>
                    <a:pt x="541" y="418"/>
                  </a:lnTo>
                  <a:lnTo>
                    <a:pt x="547" y="444"/>
                  </a:lnTo>
                  <a:lnTo>
                    <a:pt x="551" y="472"/>
                  </a:lnTo>
                  <a:lnTo>
                    <a:pt x="555" y="500"/>
                  </a:lnTo>
                  <a:lnTo>
                    <a:pt x="558" y="530"/>
                  </a:lnTo>
                  <a:lnTo>
                    <a:pt x="558" y="55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F9BF2593-26CB-98E4-915E-724BEACCB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8876"/>
              <a:ext cx="558" cy="557"/>
            </a:xfrm>
            <a:custGeom>
              <a:avLst/>
              <a:gdLst>
                <a:gd name="T0" fmla="*/ 0 w 558"/>
                <a:gd name="T1" fmla="*/ 557 h 557"/>
                <a:gd name="T2" fmla="*/ 29 w 558"/>
                <a:gd name="T3" fmla="*/ 557 h 557"/>
                <a:gd name="T4" fmla="*/ 57 w 558"/>
                <a:gd name="T5" fmla="*/ 554 h 557"/>
                <a:gd name="T6" fmla="*/ 85 w 558"/>
                <a:gd name="T7" fmla="*/ 551 h 557"/>
                <a:gd name="T8" fmla="*/ 113 w 558"/>
                <a:gd name="T9" fmla="*/ 547 h 557"/>
                <a:gd name="T10" fmla="*/ 139 w 558"/>
                <a:gd name="T11" fmla="*/ 540 h 557"/>
                <a:gd name="T12" fmla="*/ 166 w 558"/>
                <a:gd name="T13" fmla="*/ 533 h 557"/>
                <a:gd name="T14" fmla="*/ 192 w 558"/>
                <a:gd name="T15" fmla="*/ 523 h 557"/>
                <a:gd name="T16" fmla="*/ 217 w 558"/>
                <a:gd name="T17" fmla="*/ 514 h 557"/>
                <a:gd name="T18" fmla="*/ 241 w 558"/>
                <a:gd name="T19" fmla="*/ 503 h 557"/>
                <a:gd name="T20" fmla="*/ 266 w 558"/>
                <a:gd name="T21" fmla="*/ 491 h 557"/>
                <a:gd name="T22" fmla="*/ 290 w 558"/>
                <a:gd name="T23" fmla="*/ 477 h 557"/>
                <a:gd name="T24" fmla="*/ 313 w 558"/>
                <a:gd name="T25" fmla="*/ 463 h 557"/>
                <a:gd name="T26" fmla="*/ 334 w 558"/>
                <a:gd name="T27" fmla="*/ 447 h 557"/>
                <a:gd name="T28" fmla="*/ 355 w 558"/>
                <a:gd name="T29" fmla="*/ 430 h 557"/>
                <a:gd name="T30" fmla="*/ 375 w 558"/>
                <a:gd name="T31" fmla="*/ 413 h 557"/>
                <a:gd name="T32" fmla="*/ 395 w 558"/>
                <a:gd name="T33" fmla="*/ 395 h 557"/>
                <a:gd name="T34" fmla="*/ 414 w 558"/>
                <a:gd name="T35" fmla="*/ 375 h 557"/>
                <a:gd name="T36" fmla="*/ 431 w 558"/>
                <a:gd name="T37" fmla="*/ 354 h 557"/>
                <a:gd name="T38" fmla="*/ 448 w 558"/>
                <a:gd name="T39" fmla="*/ 333 h 557"/>
                <a:gd name="T40" fmla="*/ 463 w 558"/>
                <a:gd name="T41" fmla="*/ 311 h 557"/>
                <a:gd name="T42" fmla="*/ 477 w 558"/>
                <a:gd name="T43" fmla="*/ 289 h 557"/>
                <a:gd name="T44" fmla="*/ 491 w 558"/>
                <a:gd name="T45" fmla="*/ 266 h 557"/>
                <a:gd name="T46" fmla="*/ 503 w 558"/>
                <a:gd name="T47" fmla="*/ 241 h 557"/>
                <a:gd name="T48" fmla="*/ 514 w 558"/>
                <a:gd name="T49" fmla="*/ 217 h 557"/>
                <a:gd name="T50" fmla="*/ 524 w 558"/>
                <a:gd name="T51" fmla="*/ 192 h 557"/>
                <a:gd name="T52" fmla="*/ 533 w 558"/>
                <a:gd name="T53" fmla="*/ 165 h 557"/>
                <a:gd name="T54" fmla="*/ 541 w 558"/>
                <a:gd name="T55" fmla="*/ 139 h 557"/>
                <a:gd name="T56" fmla="*/ 547 w 558"/>
                <a:gd name="T57" fmla="*/ 113 h 557"/>
                <a:gd name="T58" fmla="*/ 551 w 558"/>
                <a:gd name="T59" fmla="*/ 85 h 557"/>
                <a:gd name="T60" fmla="*/ 555 w 558"/>
                <a:gd name="T61" fmla="*/ 57 h 557"/>
                <a:gd name="T62" fmla="*/ 558 w 558"/>
                <a:gd name="T63" fmla="*/ 29 h 557"/>
                <a:gd name="T64" fmla="*/ 558 w 558"/>
                <a:gd name="T65" fmla="*/ 0 h 55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58"/>
                <a:gd name="T100" fmla="*/ 0 h 557"/>
                <a:gd name="T101" fmla="*/ 558 w 558"/>
                <a:gd name="T102" fmla="*/ 557 h 55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58" h="557">
                  <a:moveTo>
                    <a:pt x="0" y="557"/>
                  </a:moveTo>
                  <a:lnTo>
                    <a:pt x="29" y="557"/>
                  </a:lnTo>
                  <a:lnTo>
                    <a:pt x="57" y="554"/>
                  </a:lnTo>
                  <a:lnTo>
                    <a:pt x="85" y="551"/>
                  </a:lnTo>
                  <a:lnTo>
                    <a:pt x="113" y="547"/>
                  </a:lnTo>
                  <a:lnTo>
                    <a:pt x="139" y="540"/>
                  </a:lnTo>
                  <a:lnTo>
                    <a:pt x="166" y="533"/>
                  </a:lnTo>
                  <a:lnTo>
                    <a:pt x="192" y="523"/>
                  </a:lnTo>
                  <a:lnTo>
                    <a:pt x="217" y="514"/>
                  </a:lnTo>
                  <a:lnTo>
                    <a:pt x="241" y="503"/>
                  </a:lnTo>
                  <a:lnTo>
                    <a:pt x="266" y="491"/>
                  </a:lnTo>
                  <a:lnTo>
                    <a:pt x="290" y="477"/>
                  </a:lnTo>
                  <a:lnTo>
                    <a:pt x="313" y="463"/>
                  </a:lnTo>
                  <a:lnTo>
                    <a:pt x="334" y="447"/>
                  </a:lnTo>
                  <a:lnTo>
                    <a:pt x="355" y="430"/>
                  </a:lnTo>
                  <a:lnTo>
                    <a:pt x="375" y="413"/>
                  </a:lnTo>
                  <a:lnTo>
                    <a:pt x="395" y="395"/>
                  </a:lnTo>
                  <a:lnTo>
                    <a:pt x="414" y="375"/>
                  </a:lnTo>
                  <a:lnTo>
                    <a:pt x="431" y="354"/>
                  </a:lnTo>
                  <a:lnTo>
                    <a:pt x="448" y="333"/>
                  </a:lnTo>
                  <a:lnTo>
                    <a:pt x="463" y="311"/>
                  </a:lnTo>
                  <a:lnTo>
                    <a:pt x="477" y="289"/>
                  </a:lnTo>
                  <a:lnTo>
                    <a:pt x="491" y="266"/>
                  </a:lnTo>
                  <a:lnTo>
                    <a:pt x="503" y="241"/>
                  </a:lnTo>
                  <a:lnTo>
                    <a:pt x="514" y="217"/>
                  </a:lnTo>
                  <a:lnTo>
                    <a:pt x="524" y="192"/>
                  </a:lnTo>
                  <a:lnTo>
                    <a:pt x="533" y="165"/>
                  </a:lnTo>
                  <a:lnTo>
                    <a:pt x="541" y="139"/>
                  </a:lnTo>
                  <a:lnTo>
                    <a:pt x="547" y="113"/>
                  </a:lnTo>
                  <a:lnTo>
                    <a:pt x="551" y="85"/>
                  </a:lnTo>
                  <a:lnTo>
                    <a:pt x="555" y="57"/>
                  </a:lnTo>
                  <a:lnTo>
                    <a:pt x="558" y="29"/>
                  </a:lnTo>
                  <a:lnTo>
                    <a:pt x="558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987597AA-09E3-5F04-6CC4-99940DA42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4970"/>
              <a:ext cx="1" cy="9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9F43A4D7-EE25-E06A-430A-3F1B5BBBA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4" y="4970"/>
              <a:ext cx="1" cy="9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B41B4C3A-67E2-A9A2-6269-698E1669B3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4970"/>
              <a:ext cx="186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A9000A91-58DD-3096-879C-4D9500D60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5900"/>
              <a:ext cx="186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3347AF6F-C992-EF9F-617C-5DAEEFF90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" y="2357"/>
              <a:ext cx="49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Oval</a:t>
              </a:r>
              <a:endParaRPr lang="en-US" altLang="en-US" dirty="0"/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2FEB01DA-0FEE-A25E-DEB3-CC027B1BF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" y="3705"/>
              <a:ext cx="148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Parallelogram</a:t>
              </a:r>
              <a:endParaRPr lang="en-US" altLang="en-US" dirty="0"/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FC529C61-93DC-3080-799B-82BFAB519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" y="5193"/>
              <a:ext cx="10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Rectangle</a:t>
              </a:r>
              <a:endParaRPr lang="en-US" altLang="en-US" dirty="0"/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14840D5F-F101-D5DD-3AB7-DDC2173BC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" y="6774"/>
              <a:ext cx="96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Diamond</a:t>
              </a:r>
              <a:endParaRPr lang="en-US" altLang="en-US" dirty="0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A4580ED9-7EC0-C002-2044-24043F2D1F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92" y="6272"/>
              <a:ext cx="1116" cy="7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B70D7517-1873-D05D-C860-5C5CD0AB4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" y="6272"/>
              <a:ext cx="1116" cy="7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43A544A5-27BD-01BC-449A-5EE4261619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8" y="7016"/>
              <a:ext cx="1116" cy="7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EEA57BA7-82F7-79A7-758F-91BB633F06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2" y="7016"/>
              <a:ext cx="1116" cy="7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87E48295-4F1E-6A7C-E5E9-615502905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" y="8587"/>
              <a:ext cx="69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Hybrid</a:t>
              </a:r>
              <a:endParaRPr lang="en-US" altLang="en-US" dirty="0"/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65E43DDD-02A7-025A-1625-1EF2445E6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" y="1375"/>
              <a:ext cx="65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b="1" dirty="0">
                  <a:latin typeface="Arial" panose="020B0604020202020204" pitchFamily="34" charset="0"/>
                </a:rPr>
                <a:t>Name</a:t>
              </a:r>
              <a:endParaRPr lang="en-US" altLang="en-US" dirty="0"/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BA64BB8A-EAE2-1290-9365-85A422B18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375"/>
              <a:ext cx="87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b="1" dirty="0">
                  <a:latin typeface="Arial" panose="020B0604020202020204" pitchFamily="34" charset="0"/>
                </a:rPr>
                <a:t>Symbol</a:t>
              </a:r>
              <a:endParaRPr lang="en-US" altLang="en-US" dirty="0"/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0CAAFC8E-0E7C-B9F4-AC85-BDE705349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4" y="1375"/>
              <a:ext cx="19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b="1" dirty="0">
                  <a:latin typeface="Arial" panose="020B0604020202020204" pitchFamily="34" charset="0"/>
                </a:rPr>
                <a:t>Use in Flowchart</a:t>
              </a:r>
              <a:endParaRPr lang="en-US" altLang="en-US" dirty="0"/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6838DE50-D460-273A-3B0B-0854EABE1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7" y="2264"/>
              <a:ext cx="480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Denotes the beginning or end of the program</a:t>
              </a:r>
              <a:endParaRPr lang="en-US" altLang="en-US" dirty="0"/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id="{5D11119A-F999-44DF-5B4F-8DFDBAF2F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8" y="3705"/>
              <a:ext cx="289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Denotes an input operation</a:t>
              </a:r>
              <a:endParaRPr lang="en-US" altLang="en-US" dirty="0"/>
            </a:p>
          </p:txBody>
        </p:sp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06FE2ED3-8427-7859-7DB0-B1A17D5D4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" y="8634"/>
              <a:ext cx="304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Denotes an output operation</a:t>
              </a:r>
              <a:endParaRPr lang="en-US" altLang="en-US" dirty="0"/>
            </a:p>
          </p:txBody>
        </p:sp>
        <p:sp>
          <p:nvSpPr>
            <p:cNvPr id="39" name="Rectangle 36">
              <a:extLst>
                <a:ext uri="{FF2B5EF4-FFF2-40B4-BE49-F238E27FC236}">
                  <a16:creationId xmlns:a16="http://schemas.microsoft.com/office/drawing/2014/main" id="{7CEAFF13-5172-4E78-960C-C9C27AE7D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0" y="6662"/>
              <a:ext cx="222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Denotes a decision </a:t>
              </a:r>
              <a:endParaRPr lang="en-US" altLang="en-US" dirty="0"/>
            </a:p>
          </p:txBody>
        </p: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DD3013B9-87DE-673D-13F5-25B675F1B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8" y="6663"/>
              <a:ext cx="80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solidFill>
                    <a:srgbClr val="FFFF00"/>
                  </a:solidFill>
                  <a:latin typeface="Arial" panose="020B0604020202020204" pitchFamily="34" charset="0"/>
                </a:rPr>
                <a:t>(</a:t>
              </a:r>
              <a:endParaRPr lang="en-US" altLang="en-US" dirty="0"/>
            </a:p>
          </p:txBody>
        </p:sp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id="{C4D78F43-C36F-2D73-46E3-8F0B285F8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0" y="6663"/>
              <a:ext cx="10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or branch</a:t>
              </a:r>
              <a:endParaRPr lang="en-US" altLang="en-US" dirty="0"/>
            </a:p>
          </p:txBody>
        </p:sp>
        <p:sp>
          <p:nvSpPr>
            <p:cNvPr id="42" name="Rectangle 39">
              <a:extLst>
                <a:ext uri="{FF2B5EF4-FFF2-40B4-BE49-F238E27FC236}">
                  <a16:creationId xmlns:a16="http://schemas.microsoft.com/office/drawing/2014/main" id="{2BA9D4D4-E6E3-0E47-0D2D-8C316549D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8" y="6663"/>
              <a:ext cx="80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solidFill>
                    <a:srgbClr val="FFFF00"/>
                  </a:solidFill>
                  <a:latin typeface="Arial" panose="020B0604020202020204" pitchFamily="34" charset="0"/>
                </a:rPr>
                <a:t>) </a:t>
              </a:r>
              <a:endParaRPr lang="en-US" altLang="en-US" dirty="0"/>
            </a:p>
          </p:txBody>
        </p:sp>
        <p:sp>
          <p:nvSpPr>
            <p:cNvPr id="43" name="Rectangle 40">
              <a:extLst>
                <a:ext uri="{FF2B5EF4-FFF2-40B4-BE49-F238E27FC236}">
                  <a16:creationId xmlns:a16="http://schemas.microsoft.com/office/drawing/2014/main" id="{3D1D6159-EDD3-C7CA-4A78-1DF08E570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0" y="6663"/>
              <a:ext cx="120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to be made</a:t>
              </a:r>
              <a:endParaRPr lang="en-US" altLang="en-US" dirty="0"/>
            </a:p>
          </p:txBody>
        </p:sp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id="{3EF1B756-F9E6-8798-998F-CC121E256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0" y="6663"/>
              <a:ext cx="67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. </a:t>
              </a:r>
              <a:endParaRPr lang="en-US" altLang="en-US"/>
            </a:p>
          </p:txBody>
        </p:sp>
        <p:sp>
          <p:nvSpPr>
            <p:cNvPr id="45" name="Rectangle 42">
              <a:extLst>
                <a:ext uri="{FF2B5EF4-FFF2-40B4-BE49-F238E27FC236}">
                  <a16:creationId xmlns:a16="http://schemas.microsoft.com/office/drawing/2014/main" id="{57E86F55-850F-322A-CCE7-3FFC8CF91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0" y="6960"/>
              <a:ext cx="46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The program should continue along one of </a:t>
              </a:r>
              <a:endParaRPr lang="en-US" altLang="en-US" dirty="0"/>
            </a:p>
          </p:txBody>
        </p:sp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002E07E5-4DA3-C86B-5D2E-89A2581F8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0" y="7258"/>
              <a:ext cx="111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two routes</a:t>
              </a:r>
              <a:endParaRPr lang="en-US" altLang="en-US" dirty="0"/>
            </a:p>
          </p:txBody>
        </p: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815E62E5-9B70-99C1-B974-D38DC8CA1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2" y="7258"/>
              <a:ext cx="67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solidFill>
                    <a:srgbClr val="000000"/>
                  </a:solidFill>
                  <a:latin typeface="Arial" panose="020B0604020202020204" pitchFamily="34" charset="0"/>
                </a:rPr>
                <a:t>.</a:t>
              </a:r>
              <a:endParaRPr lang="en-US" altLang="en-US" dirty="0"/>
            </a:p>
          </p:txBody>
        </p:sp>
        <p:sp>
          <p:nvSpPr>
            <p:cNvPr id="51" name="Rectangle 48">
              <a:extLst>
                <a:ext uri="{FF2B5EF4-FFF2-40B4-BE49-F238E27FC236}">
                  <a16:creationId xmlns:a16="http://schemas.microsoft.com/office/drawing/2014/main" id="{B3473473-CF56-CA51-C4D1-E668555A9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8" y="7258"/>
              <a:ext cx="67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solidFill>
                    <a:srgbClr val="000000"/>
                  </a:solidFill>
                  <a:latin typeface="Arial" panose="020B0604020202020204" pitchFamily="34" charset="0"/>
                </a:rPr>
                <a:t>. </a:t>
              </a:r>
              <a:endParaRPr lang="en-US" altLang="en-US" dirty="0"/>
            </a:p>
          </p:txBody>
        </p:sp>
        <p:sp>
          <p:nvSpPr>
            <p:cNvPr id="53" name="Rectangle 50">
              <a:extLst>
                <a:ext uri="{FF2B5EF4-FFF2-40B4-BE49-F238E27FC236}">
                  <a16:creationId xmlns:a16="http://schemas.microsoft.com/office/drawing/2014/main" id="{D9BBBB5D-A379-C6BE-BBAF-361A2C8D1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6" y="7258"/>
              <a:ext cx="67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solidFill>
                    <a:srgbClr val="FFFF00"/>
                  </a:solidFill>
                  <a:latin typeface="Arial" panose="020B0604020202020204" pitchFamily="34" charset="0"/>
                </a:rPr>
                <a:t>/</a:t>
              </a:r>
              <a:endParaRPr lang="en-US" altLang="en-US" dirty="0"/>
            </a:p>
          </p:txBody>
        </p:sp>
        <p:sp>
          <p:nvSpPr>
            <p:cNvPr id="55" name="Rectangle 52">
              <a:extLst>
                <a:ext uri="{FF2B5EF4-FFF2-40B4-BE49-F238E27FC236}">
                  <a16:creationId xmlns:a16="http://schemas.microsoft.com/office/drawing/2014/main" id="{FF5D67B0-5C80-7F8B-3370-9EB4C1DFA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0" y="7258"/>
              <a:ext cx="67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solidFill>
                    <a:srgbClr val="FFFF00"/>
                  </a:solidFill>
                  <a:latin typeface="Arial" panose="020B0604020202020204" pitchFamily="34" charset="0"/>
                </a:rPr>
                <a:t>/</a:t>
              </a:r>
              <a:endParaRPr lang="en-US" altLang="en-US"/>
            </a:p>
          </p:txBody>
        </p:sp>
        <p:sp>
          <p:nvSpPr>
            <p:cNvPr id="58" name="Rectangle 55">
              <a:extLst>
                <a:ext uri="{FF2B5EF4-FFF2-40B4-BE49-F238E27FC236}">
                  <a16:creationId xmlns:a16="http://schemas.microsoft.com/office/drawing/2014/main" id="{F7018E23-5748-71D8-46F1-212F49C64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0" y="5091"/>
              <a:ext cx="383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Denotes a process to be carried out</a:t>
              </a:r>
              <a:endParaRPr lang="en-US" altLang="en-US" dirty="0"/>
            </a:p>
          </p:txBody>
        </p:sp>
        <p:sp>
          <p:nvSpPr>
            <p:cNvPr id="59" name="Rectangle 56">
              <a:extLst>
                <a:ext uri="{FF2B5EF4-FFF2-40B4-BE49-F238E27FC236}">
                  <a16:creationId xmlns:a16="http://schemas.microsoft.com/office/drawing/2014/main" id="{86105237-0922-BF35-7606-F7DC85109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0" y="5389"/>
              <a:ext cx="48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e</a:t>
              </a:r>
              <a:endParaRPr lang="en-US" altLang="en-US" dirty="0"/>
            </a:p>
          </p:txBody>
        </p:sp>
        <p:sp>
          <p:nvSpPr>
            <p:cNvPr id="60" name="Rectangle 57">
              <a:extLst>
                <a:ext uri="{FF2B5EF4-FFF2-40B4-BE49-F238E27FC236}">
                  <a16:creationId xmlns:a16="http://schemas.microsoft.com/office/drawing/2014/main" id="{B7BEAACF-97FD-C945-A9DC-0376B6268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" y="5389"/>
              <a:ext cx="67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solidFill>
                    <a:srgbClr val="FFFF00"/>
                  </a:solidFill>
                  <a:latin typeface="Arial" panose="020B0604020202020204" pitchFamily="34" charset="0"/>
                </a:rPr>
                <a:t>.</a:t>
              </a:r>
              <a:endParaRPr lang="en-US" altLang="en-US" dirty="0"/>
            </a:p>
          </p:txBody>
        </p:sp>
        <p:sp>
          <p:nvSpPr>
            <p:cNvPr id="61" name="Rectangle 58">
              <a:extLst>
                <a:ext uri="{FF2B5EF4-FFF2-40B4-BE49-F238E27FC236}">
                  <a16:creationId xmlns:a16="http://schemas.microsoft.com/office/drawing/2014/main" id="{0750CD29-0348-7C69-9A7A-15B3ABB71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" y="5389"/>
              <a:ext cx="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g</a:t>
              </a:r>
              <a:endParaRPr lang="en-US" altLang="en-US" dirty="0"/>
            </a:p>
          </p:txBody>
        </p:sp>
        <p:sp>
          <p:nvSpPr>
            <p:cNvPr id="62" name="Rectangle 59">
              <a:extLst>
                <a:ext uri="{FF2B5EF4-FFF2-40B4-BE49-F238E27FC236}">
                  <a16:creationId xmlns:a16="http://schemas.microsoft.com/office/drawing/2014/main" id="{1249744F-2B5F-B528-4403-79842D8B0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4" y="5389"/>
              <a:ext cx="67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. </a:t>
              </a:r>
              <a:endParaRPr lang="en-US" altLang="en-US"/>
            </a:p>
          </p:txBody>
        </p:sp>
        <p:sp>
          <p:nvSpPr>
            <p:cNvPr id="63" name="Rectangle 60">
              <a:extLst>
                <a:ext uri="{FF2B5EF4-FFF2-40B4-BE49-F238E27FC236}">
                  <a16:creationId xmlns:a16="http://schemas.microsoft.com/office/drawing/2014/main" id="{E8454B93-4C64-9947-C525-86CF09865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2" y="5389"/>
              <a:ext cx="84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addition</a:t>
              </a:r>
              <a:endParaRPr lang="en-US" altLang="en-US" dirty="0"/>
            </a:p>
          </p:txBody>
        </p:sp>
        <p:sp>
          <p:nvSpPr>
            <p:cNvPr id="64" name="Rectangle 61">
              <a:extLst>
                <a:ext uri="{FF2B5EF4-FFF2-40B4-BE49-F238E27FC236}">
                  <a16:creationId xmlns:a16="http://schemas.microsoft.com/office/drawing/2014/main" id="{1A64C76E-3FBB-8B2C-C1FD-DF925FD00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" y="5389"/>
              <a:ext cx="67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, </a:t>
              </a:r>
              <a:endParaRPr lang="en-US" altLang="en-US"/>
            </a:p>
          </p:txBody>
        </p:sp>
        <p:sp>
          <p:nvSpPr>
            <p:cNvPr id="65" name="Rectangle 62">
              <a:extLst>
                <a:ext uri="{FF2B5EF4-FFF2-40B4-BE49-F238E27FC236}">
                  <a16:creationId xmlns:a16="http://schemas.microsoft.com/office/drawing/2014/main" id="{0F191F69-3DE5-2C76-ECE3-686E7293F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" y="5389"/>
              <a:ext cx="118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subtraction</a:t>
              </a:r>
              <a:endParaRPr lang="en-US" altLang="en-US" dirty="0"/>
            </a:p>
          </p:txBody>
        </p:sp>
        <p:sp>
          <p:nvSpPr>
            <p:cNvPr id="66" name="Rectangle 63">
              <a:extLst>
                <a:ext uri="{FF2B5EF4-FFF2-40B4-BE49-F238E27FC236}">
                  <a16:creationId xmlns:a16="http://schemas.microsoft.com/office/drawing/2014/main" id="{575F4D15-0ADF-31BD-5935-079AEF1D0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2" y="5389"/>
              <a:ext cx="67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, </a:t>
              </a:r>
              <a:endParaRPr lang="en-US" altLang="en-US"/>
            </a:p>
          </p:txBody>
        </p:sp>
        <p:sp>
          <p:nvSpPr>
            <p:cNvPr id="67" name="Rectangle 64">
              <a:extLst>
                <a:ext uri="{FF2B5EF4-FFF2-40B4-BE49-F238E27FC236}">
                  <a16:creationId xmlns:a16="http://schemas.microsoft.com/office/drawing/2014/main" id="{B930CA04-9B46-6914-4BB8-14470884D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0" y="5389"/>
              <a:ext cx="11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division </a:t>
              </a:r>
              <a:r>
                <a:rPr lang="en-US" altLang="en-US" sz="1200" dirty="0" err="1">
                  <a:latin typeface="Arial" panose="020B0604020202020204" pitchFamily="34" charset="0"/>
                </a:rPr>
                <a:t>etc</a:t>
              </a:r>
              <a:endParaRPr lang="en-US" altLang="en-US" dirty="0"/>
            </a:p>
          </p:txBody>
        </p:sp>
        <p:sp>
          <p:nvSpPr>
            <p:cNvPr id="68" name="Rectangle 65">
              <a:extLst>
                <a:ext uri="{FF2B5EF4-FFF2-40B4-BE49-F238E27FC236}">
                  <a16:creationId xmlns:a16="http://schemas.microsoft.com/office/drawing/2014/main" id="{579F47A0-63F1-DFB2-14F0-2085F235E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6" y="5389"/>
              <a:ext cx="67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.</a:t>
              </a:r>
              <a:endParaRPr lang="en-US" altLang="en-US"/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27877438-7F23-4B26-2ABB-0D5F3E8E3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8" y="10177"/>
              <a:ext cx="223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014D4F6E-CFFB-6404-FEFD-A3EB531EF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10111"/>
              <a:ext cx="200" cy="133"/>
            </a:xfrm>
            <a:custGeom>
              <a:avLst/>
              <a:gdLst>
                <a:gd name="T0" fmla="*/ 0 w 200"/>
                <a:gd name="T1" fmla="*/ 0 h 133"/>
                <a:gd name="T2" fmla="*/ 200 w 200"/>
                <a:gd name="T3" fmla="*/ 66 h 133"/>
                <a:gd name="T4" fmla="*/ 0 w 200"/>
                <a:gd name="T5" fmla="*/ 133 h 133"/>
                <a:gd name="T6" fmla="*/ 0 w 200"/>
                <a:gd name="T7" fmla="*/ 0 h 1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"/>
                <a:gd name="T13" fmla="*/ 0 h 133"/>
                <a:gd name="T14" fmla="*/ 200 w 200"/>
                <a:gd name="T15" fmla="*/ 133 h 1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" h="133">
                  <a:moveTo>
                    <a:pt x="0" y="0"/>
                  </a:moveTo>
                  <a:lnTo>
                    <a:pt x="200" y="66"/>
                  </a:lnTo>
                  <a:lnTo>
                    <a:pt x="0" y="1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Rectangle 68">
              <a:extLst>
                <a:ext uri="{FF2B5EF4-FFF2-40B4-BE49-F238E27FC236}">
                  <a16:creationId xmlns:a16="http://schemas.microsoft.com/office/drawing/2014/main" id="{509F0DC3-97EF-1F61-65DA-CEC495538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10029"/>
              <a:ext cx="95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Flow line</a:t>
              </a:r>
              <a:endParaRPr lang="en-US" altLang="en-US" dirty="0"/>
            </a:p>
          </p:txBody>
        </p:sp>
        <p:sp>
          <p:nvSpPr>
            <p:cNvPr id="72" name="Rectangle 69">
              <a:extLst>
                <a:ext uri="{FF2B5EF4-FFF2-40B4-BE49-F238E27FC236}">
                  <a16:creationId xmlns:a16="http://schemas.microsoft.com/office/drawing/2014/main" id="{7A7FC4C1-5BF4-6DAA-80FC-2CC8294B2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9936"/>
              <a:ext cx="523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Denotes the direction of logic flow in the program</a:t>
              </a:r>
              <a:endParaRPr lang="en-US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6196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883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500" y="1203850"/>
            <a:ext cx="10295209" cy="5249578"/>
          </a:xfrm>
        </p:spPr>
        <p:txBody>
          <a:bodyPr>
            <a:noAutofit/>
          </a:bodyPr>
          <a:lstStyle/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Write an algorithm and draw a flowchart that will read the two sides of a rectangle and calculate its area. </a:t>
            </a:r>
          </a:p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Pseudocode </a:t>
            </a:r>
          </a:p>
          <a:p>
            <a:pPr lvl="1"/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Input the Length (L) and Breath (B) of a rectangle</a:t>
            </a:r>
          </a:p>
          <a:p>
            <a:pPr lvl="1"/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Calculate the area (A) by multiplying L with B</a:t>
            </a:r>
          </a:p>
          <a:p>
            <a:pPr lvl="1"/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Print A</a:t>
            </a:r>
          </a:p>
        </p:txBody>
      </p:sp>
    </p:spTree>
    <p:extLst>
      <p:ext uri="{BB962C8B-B14F-4D97-AF65-F5344CB8AC3E}">
        <p14:creationId xmlns:p14="http://schemas.microsoft.com/office/powerpoint/2010/main" val="814484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883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Example 2……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500" y="1203850"/>
            <a:ext cx="10295209" cy="5249578"/>
          </a:xfrm>
        </p:spPr>
        <p:txBody>
          <a:bodyPr>
            <a:noAutofit/>
          </a:bodyPr>
          <a:lstStyle/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Algorithm </a:t>
            </a:r>
          </a:p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Step 1: 	Input L,B</a:t>
            </a:r>
          </a:p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Step 2: 	A = L  x  B </a:t>
            </a:r>
          </a:p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Step 3: 	Print A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9B7E63AD-1775-154D-A2FE-CC1CDE8B5582}"/>
              </a:ext>
            </a:extLst>
          </p:cNvPr>
          <p:cNvGrpSpPr>
            <a:grpSpLocks/>
          </p:cNvGrpSpPr>
          <p:nvPr/>
        </p:nvGrpSpPr>
        <p:grpSpPr bwMode="auto">
          <a:xfrm>
            <a:off x="7781925" y="1834515"/>
            <a:ext cx="3124200" cy="4191000"/>
            <a:chOff x="2448" y="5328"/>
            <a:chExt cx="3168" cy="5779"/>
          </a:xfrm>
          <a:solidFill>
            <a:srgbClr val="00B0F0"/>
          </a:solidFill>
        </p:grpSpPr>
        <p:sp>
          <p:nvSpPr>
            <p:cNvPr id="5" name="AutoShape 6">
              <a:extLst>
                <a:ext uri="{FF2B5EF4-FFF2-40B4-BE49-F238E27FC236}">
                  <a16:creationId xmlns:a16="http://schemas.microsoft.com/office/drawing/2014/main" id="{4A50E2FF-7FE7-934D-C06B-4287485AD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" y="5328"/>
              <a:ext cx="1441" cy="576"/>
            </a:xfrm>
            <a:prstGeom prst="flowChartTerminator">
              <a:avLst/>
            </a:prstGeom>
            <a:solidFill>
              <a:srgbClr val="00B0F0"/>
            </a:solidFill>
            <a:ln w="9525">
              <a:solidFill>
                <a:schemeClr val="tx2">
                  <a:lumMod val="10000"/>
                  <a:lumOff val="90000"/>
                </a:schemeClr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400" b="1" dirty="0"/>
                <a:t>START</a:t>
              </a:r>
              <a:endParaRPr lang="en-US" sz="1400" dirty="0"/>
            </a:p>
          </p:txBody>
        </p:sp>
        <p:sp>
          <p:nvSpPr>
            <p:cNvPr id="6" name="Line 7">
              <a:extLst>
                <a:ext uri="{FF2B5EF4-FFF2-40B4-BE49-F238E27FC236}">
                  <a16:creationId xmlns:a16="http://schemas.microsoft.com/office/drawing/2014/main" id="{AC6EE2A5-64C9-3955-1ECB-D813C8901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8" y="5904"/>
              <a:ext cx="0" cy="431"/>
            </a:xfrm>
            <a:prstGeom prst="line">
              <a:avLst/>
            </a:prstGeom>
            <a:grpFill/>
            <a:ln w="9525">
              <a:solidFill>
                <a:schemeClr val="tx2">
                  <a:lumMod val="9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AutoShape 8">
              <a:extLst>
                <a:ext uri="{FF2B5EF4-FFF2-40B4-BE49-F238E27FC236}">
                  <a16:creationId xmlns:a16="http://schemas.microsoft.com/office/drawing/2014/main" id="{BA0B67CC-636C-2404-60C2-F5CB0B99B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6355"/>
              <a:ext cx="3168" cy="865"/>
            </a:xfrm>
            <a:prstGeom prst="flowChartInputOutput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400" b="1" dirty="0"/>
                <a:t>Input</a:t>
              </a:r>
            </a:p>
            <a:p>
              <a:pPr algn="ctr">
                <a:defRPr/>
              </a:pPr>
              <a:r>
                <a:rPr lang="en-US" sz="1400" b="1" dirty="0"/>
                <a:t>L,B</a:t>
              </a:r>
            </a:p>
          </p:txBody>
        </p:sp>
        <p:sp>
          <p:nvSpPr>
            <p:cNvPr id="8" name="AutoShape 9">
              <a:extLst>
                <a:ext uri="{FF2B5EF4-FFF2-40B4-BE49-F238E27FC236}">
                  <a16:creationId xmlns:a16="http://schemas.microsoft.com/office/drawing/2014/main" id="{4DD08CFD-0E49-CF1B-E692-72E68D8D2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7802"/>
              <a:ext cx="2141" cy="576"/>
            </a:xfrm>
            <a:prstGeom prst="flowChartProcess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400" b="1" dirty="0"/>
                <a:t>A </a:t>
              </a:r>
              <a:r>
                <a:rPr lang="en-US" dirty="0">
                  <a:sym typeface="Symbol" pitchFamily="18" charset="2"/>
                </a:rPr>
                <a:t></a:t>
              </a:r>
              <a:r>
                <a:rPr lang="en-US" sz="1400" b="1" dirty="0"/>
                <a:t> L x B</a:t>
              </a: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5BCEE3FD-30C5-6415-65A1-333FA1384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7219"/>
              <a:ext cx="0" cy="576"/>
            </a:xfrm>
            <a:prstGeom prst="line">
              <a:avLst/>
            </a:prstGeom>
            <a:grpFill/>
            <a:ln w="9525">
              <a:solidFill>
                <a:schemeClr val="tx2">
                  <a:lumMod val="9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AutoShape 11">
              <a:extLst>
                <a:ext uri="{FF2B5EF4-FFF2-40B4-BE49-F238E27FC236}">
                  <a16:creationId xmlns:a16="http://schemas.microsoft.com/office/drawing/2014/main" id="{5AB1C00B-54C7-5069-64A9-289D44482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8946"/>
              <a:ext cx="2448" cy="1009"/>
            </a:xfrm>
            <a:prstGeom prst="flowChartDisplay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400" b="1" dirty="0"/>
                <a:t>Print</a:t>
              </a:r>
            </a:p>
            <a:p>
              <a:pPr algn="ctr">
                <a:defRPr/>
              </a:pPr>
              <a:r>
                <a:rPr lang="en-US" sz="1400" b="1" dirty="0"/>
                <a:t>A</a:t>
              </a:r>
              <a:endParaRPr lang="en-US" sz="1400" dirty="0"/>
            </a:p>
          </p:txBody>
        </p:sp>
        <p:sp>
          <p:nvSpPr>
            <p:cNvPr id="11" name="AutoShape 12">
              <a:extLst>
                <a:ext uri="{FF2B5EF4-FFF2-40B4-BE49-F238E27FC236}">
                  <a16:creationId xmlns:a16="http://schemas.microsoft.com/office/drawing/2014/main" id="{5DBBEB45-79E7-0445-B386-FDC3A0E8E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10512"/>
              <a:ext cx="1439" cy="595"/>
            </a:xfrm>
            <a:prstGeom prst="flowChartTerminator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400" b="1" dirty="0"/>
                <a:t>STOP</a:t>
              </a:r>
              <a:endParaRPr lang="en-US" sz="1400" dirty="0"/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009D0487-F76A-7975-1E13-1A1BBEEB7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8371"/>
              <a:ext cx="0" cy="576"/>
            </a:xfrm>
            <a:prstGeom prst="line">
              <a:avLst/>
            </a:prstGeom>
            <a:grpFill/>
            <a:ln w="9525">
              <a:solidFill>
                <a:schemeClr val="tx2">
                  <a:lumMod val="9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4AF8836C-B74F-F7EF-38CE-7A9BA16B5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9956"/>
              <a:ext cx="0" cy="576"/>
            </a:xfrm>
            <a:prstGeom prst="line">
              <a:avLst/>
            </a:prstGeom>
            <a:grpFill/>
            <a:ln w="9525">
              <a:solidFill>
                <a:schemeClr val="tx2">
                  <a:lumMod val="9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9208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883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dirty="0">
                <a:solidFill>
                  <a:srgbClr val="000000"/>
                </a:solidFill>
                <a:latin typeface="Trebuchet MS" panose="020B0603020202020204" pitchFamily="34" charset="0"/>
              </a:rPr>
              <a:t>Example 3</a:t>
            </a:r>
            <a:endParaRPr lang="en-GB" sz="4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500" y="1203850"/>
            <a:ext cx="10295209" cy="5249578"/>
          </a:xfrm>
        </p:spPr>
        <p:txBody>
          <a:bodyPr>
            <a:noAutofit/>
          </a:bodyPr>
          <a:lstStyle/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Write an algorithm and draw a flowchart that will calculate the roots of a quadratic equation </a:t>
            </a:r>
          </a:p>
          <a:p>
            <a:pPr marL="0" indent="0">
              <a:buNone/>
            </a:pPr>
            <a:endParaRPr lang="en-GB" sz="3600" b="0" i="0" u="none" strike="noStrike" baseline="0" dirty="0">
              <a:solidFill>
                <a:srgbClr val="222222"/>
              </a:solidFill>
              <a:latin typeface="Trebuchet MS" panose="020B0603020202020204" pitchFamily="34" charset="0"/>
            </a:endParaRPr>
          </a:p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 Hint: d = sqrt (                  ), and the roots are:  x1 = (–b + d)/2a   and x2 = (–b – d)/2a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4903FE2-415B-9D47-0598-F7224DC0C4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957275"/>
              </p:ext>
            </p:extLst>
          </p:nvPr>
        </p:nvGraphicFramePr>
        <p:xfrm>
          <a:off x="4617721" y="3481388"/>
          <a:ext cx="3011804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845" imgH="465137" progId="Equation.DSMT4">
                  <p:embed/>
                </p:oleObj>
              </mc:Choice>
              <mc:Fallback>
                <p:oleObj name="Equation" r:id="rId2" imgW="2209845" imgH="46513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17721" y="3481388"/>
                        <a:ext cx="3011804" cy="46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E2DE869-E536-DADD-64AB-3F108F2C19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432451"/>
              </p:ext>
            </p:extLst>
          </p:nvPr>
        </p:nvGraphicFramePr>
        <p:xfrm>
          <a:off x="5600700" y="4349750"/>
          <a:ext cx="218313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4340" imgH="500058" progId="Equation.DSMT4">
                  <p:embed/>
                </p:oleObj>
              </mc:Choice>
              <mc:Fallback>
                <p:oleObj name="Equation" r:id="rId4" imgW="1344340" imgH="50005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00700" y="4349750"/>
                        <a:ext cx="2183130" cy="500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4441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883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dirty="0">
                <a:solidFill>
                  <a:srgbClr val="000000"/>
                </a:solidFill>
                <a:latin typeface="Trebuchet MS" panose="020B0603020202020204" pitchFamily="34" charset="0"/>
              </a:rPr>
              <a:t>Example 3….</a:t>
            </a:r>
            <a:endParaRPr lang="en-GB" sz="4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500" y="1203850"/>
            <a:ext cx="10295209" cy="5249578"/>
          </a:xfrm>
        </p:spPr>
        <p:txBody>
          <a:bodyPr>
            <a:noAutofit/>
          </a:bodyPr>
          <a:lstStyle/>
          <a:p>
            <a:r>
              <a:rPr lang="en-GB" sz="3600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Pseudocode: </a:t>
            </a:r>
          </a:p>
          <a:p>
            <a:pPr lvl="1"/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Input the coefficients (a, b, c) of the quadratic equation</a:t>
            </a:r>
          </a:p>
          <a:p>
            <a:pPr lvl="1"/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Calculate d</a:t>
            </a:r>
          </a:p>
          <a:p>
            <a:pPr lvl="1"/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Calculate  x1</a:t>
            </a:r>
          </a:p>
          <a:p>
            <a:pPr lvl="1"/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Calculate x2</a:t>
            </a:r>
          </a:p>
          <a:p>
            <a:pPr lvl="1"/>
            <a:r>
              <a:rPr lang="en-GB" sz="3200" b="0" i="1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Print x1 and x2</a:t>
            </a:r>
          </a:p>
        </p:txBody>
      </p:sp>
    </p:spTree>
    <p:extLst>
      <p:ext uri="{BB962C8B-B14F-4D97-AF65-F5344CB8AC3E}">
        <p14:creationId xmlns:p14="http://schemas.microsoft.com/office/powerpoint/2010/main" val="1396911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E98-7BF8-1F37-B6F1-61C65FD8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883" y="190502"/>
            <a:ext cx="10018713" cy="695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800" dirty="0">
                <a:solidFill>
                  <a:srgbClr val="000000"/>
                </a:solidFill>
                <a:latin typeface="Trebuchet MS" panose="020B0603020202020204" pitchFamily="34" charset="0"/>
              </a:rPr>
              <a:t>Example 3….</a:t>
            </a:r>
            <a:endParaRPr lang="en-GB" sz="48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15C4-D2C5-4F6A-4D01-D1C37ECD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500" y="1203850"/>
            <a:ext cx="10295209" cy="5249578"/>
          </a:xfrm>
        </p:spPr>
        <p:txBody>
          <a:bodyPr>
            <a:noAutofit/>
          </a:bodyPr>
          <a:lstStyle/>
          <a:p>
            <a:r>
              <a:rPr lang="en-GB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Algorithm: </a:t>
            </a:r>
          </a:p>
          <a:p>
            <a:r>
              <a:rPr lang="en-GB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Step 1: 	Input a, b, c</a:t>
            </a:r>
          </a:p>
          <a:p>
            <a:r>
              <a:rPr lang="en-GB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Step 2: 	d = sqrt (                       )</a:t>
            </a:r>
          </a:p>
          <a:p>
            <a:r>
              <a:rPr lang="en-GB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Step 3: 	x1 = (–b + d) / (2 x a)</a:t>
            </a:r>
          </a:p>
          <a:p>
            <a:r>
              <a:rPr lang="en-GB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Step 4: 	x2 = (–b – d) / (2 x a)</a:t>
            </a:r>
          </a:p>
          <a:p>
            <a:r>
              <a:rPr lang="en-GB" b="0" i="0" u="none" strike="noStrike" baseline="0" dirty="0">
                <a:solidFill>
                  <a:srgbClr val="222222"/>
                </a:solidFill>
                <a:latin typeface="Trebuchet MS" panose="020B0603020202020204" pitchFamily="34" charset="0"/>
              </a:rPr>
              <a:t>Step 5: 	Print x1, x2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4026CD4-D6D8-AB57-82F6-911B13127C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041379"/>
              </p:ext>
            </p:extLst>
          </p:nvPr>
        </p:nvGraphicFramePr>
        <p:xfrm>
          <a:off x="4554855" y="3429000"/>
          <a:ext cx="198310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3412" imgH="343092" progId="Equation.DSMT4">
                  <p:embed/>
                </p:oleObj>
              </mc:Choice>
              <mc:Fallback>
                <p:oleObj name="Equation" r:id="rId2" imgW="1763412" imgH="34309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54855" y="3429000"/>
                        <a:ext cx="1983105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F4C16D50-2641-CFCD-955D-8EF9550631BC}"/>
              </a:ext>
            </a:extLst>
          </p:cNvPr>
          <p:cNvGrpSpPr>
            <a:grpSpLocks/>
          </p:cNvGrpSpPr>
          <p:nvPr/>
        </p:nvGrpSpPr>
        <p:grpSpPr bwMode="auto">
          <a:xfrm>
            <a:off x="8046720" y="1472565"/>
            <a:ext cx="2743200" cy="5026025"/>
            <a:chOff x="2467" y="7593"/>
            <a:chExt cx="3168" cy="6589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16D2F809-6402-E37E-AF1D-33C3022A5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7" y="7593"/>
              <a:ext cx="1439" cy="576"/>
            </a:xfrm>
            <a:prstGeom prst="flowChartTerminator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400" b="1" dirty="0"/>
                <a:t>START</a:t>
              </a:r>
              <a:endParaRPr lang="en-US" sz="1400" dirty="0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349C5437-FB79-31EC-10EE-B8F871609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1" y="8193"/>
              <a:ext cx="0" cy="359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5B82C10F-AF02-967F-A72B-131C1F917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8592"/>
              <a:ext cx="3168" cy="685"/>
            </a:xfrm>
            <a:prstGeom prst="flowChartInputOutput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400" b="1" dirty="0"/>
                <a:t>Input</a:t>
              </a:r>
            </a:p>
            <a:p>
              <a:pPr algn="ctr">
                <a:defRPr/>
              </a:pPr>
              <a:r>
                <a:rPr lang="en-US" sz="1400" b="1" dirty="0"/>
                <a:t>a, b, c</a:t>
              </a:r>
              <a:endParaRPr lang="en-US" sz="1400" dirty="0"/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0477C095-8184-0C88-10C2-19D48D3FA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9591"/>
              <a:ext cx="2937" cy="601"/>
            </a:xfrm>
            <a:prstGeom prst="flowChartProcess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400" b="1" dirty="0"/>
                <a:t>d </a:t>
              </a:r>
              <a:r>
                <a:rPr lang="en-US" dirty="0">
                  <a:sym typeface="Symbol" pitchFamily="18" charset="2"/>
                </a:rPr>
                <a:t></a:t>
              </a:r>
              <a:r>
                <a:rPr lang="en-US" dirty="0"/>
                <a:t> </a:t>
              </a:r>
              <a:r>
                <a:rPr lang="en-US" sz="1400" b="1" dirty="0" err="1"/>
                <a:t>sqrt</a:t>
              </a:r>
              <a:r>
                <a:rPr lang="en-US" sz="1400" b="1" dirty="0"/>
                <a:t>(</a:t>
              </a:r>
              <a:r>
                <a:rPr lang="en-US" sz="1400" b="1" i="1" dirty="0"/>
                <a:t>b x b</a:t>
              </a:r>
              <a:r>
                <a:rPr lang="en-US" sz="1400" b="1" dirty="0"/>
                <a:t> – 4 x </a:t>
              </a:r>
              <a:r>
                <a:rPr lang="en-US" sz="1400" b="1" i="1" dirty="0"/>
                <a:t>a </a:t>
              </a:r>
              <a:r>
                <a:rPr lang="en-US" sz="1400" b="1" dirty="0"/>
                <a:t>x</a:t>
              </a:r>
              <a:r>
                <a:rPr lang="en-US" sz="1400" b="1" i="1" dirty="0"/>
                <a:t> c</a:t>
              </a:r>
              <a:r>
                <a:rPr lang="en-US" sz="1400" b="1" dirty="0"/>
                <a:t>)</a:t>
              </a:r>
              <a:endParaRPr lang="en-US" sz="1400" b="1" dirty="0">
                <a:latin typeface="TimesNewRomanPSMT" charset="0"/>
              </a:endParaRPr>
            </a:p>
            <a:p>
              <a:pPr>
                <a:defRPr/>
              </a:pPr>
              <a:endParaRPr lang="en-US" sz="1400" dirty="0"/>
            </a:p>
          </p:txBody>
        </p:sp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59ECCA4D-A7FD-C6A5-08BC-3017C9CE0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12388"/>
              <a:ext cx="2448" cy="837"/>
            </a:xfrm>
            <a:prstGeom prst="flowChartDisplay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400" b="1" dirty="0"/>
                <a:t>Print</a:t>
              </a:r>
            </a:p>
            <a:p>
              <a:pPr algn="ctr">
                <a:defRPr/>
              </a:pPr>
              <a:r>
                <a:rPr lang="en-US" sz="1400" b="1" i="1" dirty="0"/>
                <a:t>x</a:t>
              </a:r>
              <a:r>
                <a:rPr lang="en-US" sz="1400" b="1" baseline="-25000" dirty="0"/>
                <a:t>1</a:t>
              </a:r>
              <a:r>
                <a:rPr lang="en-US" sz="1400" b="1" dirty="0"/>
                <a:t> ,</a:t>
              </a:r>
              <a:r>
                <a:rPr lang="en-US" sz="1400" b="1" i="1" dirty="0"/>
                <a:t>x</a:t>
              </a:r>
              <a:r>
                <a:rPr lang="en-US" sz="1400" b="1" baseline="-25000" dirty="0"/>
                <a:t>2</a:t>
              </a:r>
              <a:r>
                <a:rPr lang="en-US" sz="1400" b="1" dirty="0"/>
                <a:t> </a:t>
              </a:r>
              <a:endParaRPr lang="en-US" sz="1400" dirty="0"/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9B497FB5-7997-2243-E8E4-93CD77255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9" y="13587"/>
              <a:ext cx="1439" cy="595"/>
            </a:xfrm>
            <a:prstGeom prst="flowChartTerminator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400" b="1" dirty="0"/>
                <a:t>STOP</a:t>
              </a:r>
              <a:endParaRPr lang="en-US" sz="1400" dirty="0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6BC15AF3-0CAB-286F-9ECD-AC9FDC84F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1" y="9291"/>
              <a:ext cx="0" cy="359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AutoShape 12">
              <a:extLst>
                <a:ext uri="{FF2B5EF4-FFF2-40B4-BE49-F238E27FC236}">
                  <a16:creationId xmlns:a16="http://schemas.microsoft.com/office/drawing/2014/main" id="{2D9379D8-062C-AFF8-A3B5-DA5130C59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10490"/>
              <a:ext cx="2937" cy="622"/>
            </a:xfrm>
            <a:prstGeom prst="flowChartProcess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400" b="1" i="1" dirty="0"/>
                <a:t>x</a:t>
              </a:r>
              <a:r>
                <a:rPr lang="en-US" sz="1400" b="1" baseline="-25000" dirty="0"/>
                <a:t>1</a:t>
              </a:r>
              <a:r>
                <a:rPr lang="en-US" sz="1400" b="1" dirty="0"/>
                <a:t> </a:t>
              </a:r>
              <a:r>
                <a:rPr lang="en-US" dirty="0">
                  <a:sym typeface="Symbol" pitchFamily="18" charset="2"/>
                </a:rPr>
                <a:t></a:t>
              </a:r>
              <a:r>
                <a:rPr lang="en-US" sz="1400" b="1" dirty="0"/>
                <a:t>(–</a:t>
              </a:r>
              <a:r>
                <a:rPr lang="en-US" sz="1400" b="1" i="1" dirty="0"/>
                <a:t>b</a:t>
              </a:r>
              <a:r>
                <a:rPr lang="en-US" sz="1400" b="1" dirty="0"/>
                <a:t> + </a:t>
              </a:r>
              <a:r>
                <a:rPr lang="en-US" sz="1400" b="1" i="1" dirty="0"/>
                <a:t>d</a:t>
              </a:r>
              <a:r>
                <a:rPr lang="en-US" sz="1400" b="1" dirty="0"/>
                <a:t>) / (2 x </a:t>
              </a:r>
              <a:r>
                <a:rPr lang="en-US" sz="1400" b="1" i="1" dirty="0"/>
                <a:t>a</a:t>
              </a:r>
              <a:r>
                <a:rPr lang="en-US" sz="1400" b="1" dirty="0"/>
                <a:t>)</a:t>
              </a:r>
              <a:endParaRPr lang="en-US" sz="1400" b="1" dirty="0">
                <a:latin typeface="TimesNewRomanPSMT" charset="0"/>
              </a:endParaRPr>
            </a:p>
            <a:p>
              <a:pPr>
                <a:defRPr/>
              </a:pPr>
              <a:endParaRPr lang="en-US" sz="1400" dirty="0">
                <a:solidFill>
                  <a:schemeClr val="bg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5EB8DF89-AE7A-710E-9369-425A232AE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0131"/>
              <a:ext cx="0" cy="359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AutoShape 14">
              <a:extLst>
                <a:ext uri="{FF2B5EF4-FFF2-40B4-BE49-F238E27FC236}">
                  <a16:creationId xmlns:a16="http://schemas.microsoft.com/office/drawing/2014/main" id="{5E75B41A-11F9-91D7-89CA-742E24B7A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11464"/>
              <a:ext cx="2937" cy="624"/>
            </a:xfrm>
            <a:prstGeom prst="flowChartProcess">
              <a:avLst/>
            </a:prstGeom>
            <a:solidFill>
              <a:srgbClr val="00B0F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lang="en-US" sz="1400" b="1" i="1" dirty="0"/>
                <a:t>X</a:t>
              </a:r>
              <a:r>
                <a:rPr lang="en-US" sz="1400" b="1" baseline="-25000" dirty="0"/>
                <a:t>2</a:t>
              </a:r>
              <a:r>
                <a:rPr lang="en-US" sz="1400" b="1" dirty="0"/>
                <a:t> </a:t>
              </a:r>
              <a:r>
                <a:rPr lang="en-US" dirty="0">
                  <a:sym typeface="Symbol" pitchFamily="18" charset="2"/>
                </a:rPr>
                <a:t></a:t>
              </a:r>
              <a:r>
                <a:rPr lang="en-US" sz="1400" b="1" dirty="0"/>
                <a:t> (–</a:t>
              </a:r>
              <a:r>
                <a:rPr lang="en-US" sz="1400" b="1" i="1" dirty="0"/>
                <a:t>b</a:t>
              </a:r>
              <a:r>
                <a:rPr lang="en-US" sz="1400" b="1" dirty="0"/>
                <a:t> – </a:t>
              </a:r>
              <a:r>
                <a:rPr lang="en-US" sz="1400" b="1" i="1" dirty="0"/>
                <a:t>d</a:t>
              </a:r>
              <a:r>
                <a:rPr lang="en-US" sz="1400" b="1" dirty="0"/>
                <a:t>) / (2 x </a:t>
              </a:r>
              <a:r>
                <a:rPr lang="en-US" sz="1400" b="1" i="1" dirty="0"/>
                <a:t>a</a:t>
              </a:r>
              <a:r>
                <a:rPr lang="en-US" sz="1400" b="1" dirty="0"/>
                <a:t>)</a:t>
              </a:r>
              <a:endParaRPr lang="en-US" sz="1400" b="1" dirty="0">
                <a:latin typeface="TimesNewRomanPSMT" charset="0"/>
              </a:endParaRPr>
            </a:p>
            <a:p>
              <a:pPr>
                <a:defRPr/>
              </a:pPr>
              <a:endParaRPr lang="en-US" sz="1400" dirty="0">
                <a:solidFill>
                  <a:schemeClr val="bg2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B83C4E08-2979-CA85-97CD-31C309A66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3" y="11099"/>
              <a:ext cx="0" cy="359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A15DD948-DE33-CF34-51B8-FF255505C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12088"/>
              <a:ext cx="0" cy="259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C00B9919-0576-8C34-EE4D-E2312802C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3" y="13228"/>
              <a:ext cx="0" cy="359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5797488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10118</TotalTime>
  <Words>1073</Words>
  <Application>Microsoft Office PowerPoint</Application>
  <PresentationFormat>Widescreen</PresentationFormat>
  <Paragraphs>160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Corbel</vt:lpstr>
      <vt:lpstr>Symbol</vt:lpstr>
      <vt:lpstr>TimesNewRomanPSMT</vt:lpstr>
      <vt:lpstr>Trebuchet MS</vt:lpstr>
      <vt:lpstr>Parallax</vt:lpstr>
      <vt:lpstr>Equation</vt:lpstr>
      <vt:lpstr>CMP 201: Programming </vt:lpstr>
      <vt:lpstr>Computer Programming</vt:lpstr>
      <vt:lpstr>How to write a Program?</vt:lpstr>
      <vt:lpstr>Problem-Solving Phase</vt:lpstr>
      <vt:lpstr>Implementation Phase</vt:lpstr>
      <vt:lpstr>Steps in Program Development</vt:lpstr>
      <vt:lpstr>Steps in Program Development</vt:lpstr>
      <vt:lpstr>Algorithms  &amp; Flowcharts</vt:lpstr>
      <vt:lpstr>Pseudocode &amp; Algorithm</vt:lpstr>
      <vt:lpstr>Pseudocode &amp; Algorithm</vt:lpstr>
      <vt:lpstr>Pseudocode &amp; Algorithm</vt:lpstr>
      <vt:lpstr>Flowchart</vt:lpstr>
      <vt:lpstr>Flowchart Symbols</vt:lpstr>
      <vt:lpstr>Example 2</vt:lpstr>
      <vt:lpstr>Example 2……</vt:lpstr>
      <vt:lpstr>Example 3</vt:lpstr>
      <vt:lpstr>Example 3….</vt:lpstr>
      <vt:lpstr>Example 3….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 801: Management and Entrepreneurship</dc:title>
  <dc:creator>Ahmad Idris Tambuwal</dc:creator>
  <cp:lastModifiedBy>Ahmad Idris Tambuwal</cp:lastModifiedBy>
  <cp:revision>47</cp:revision>
  <dcterms:created xsi:type="dcterms:W3CDTF">2023-04-03T11:05:13Z</dcterms:created>
  <dcterms:modified xsi:type="dcterms:W3CDTF">2024-06-01T09:44:49Z</dcterms:modified>
</cp:coreProperties>
</file>