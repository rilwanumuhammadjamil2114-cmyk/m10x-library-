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87" r:id="rId4"/>
    <p:sldId id="288" r:id="rId5"/>
    <p:sldId id="259"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3216" autoAdjust="0"/>
  </p:normalViewPr>
  <p:slideViewPr>
    <p:cSldViewPr snapToGrid="0">
      <p:cViewPr varScale="1">
        <p:scale>
          <a:sx n="72" d="100"/>
          <a:sy n="72" d="100"/>
        </p:scale>
        <p:origin x="660"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7EE9-5D66-F14F-3B34-225822B8E1EB}"/>
              </a:ext>
            </a:extLst>
          </p:cNvPr>
          <p:cNvSpPr>
            <a:spLocks noGrp="1"/>
          </p:cNvSpPr>
          <p:nvPr>
            <p:ph type="ctrTitle"/>
          </p:nvPr>
        </p:nvSpPr>
        <p:spPr>
          <a:xfrm>
            <a:off x="1257300" y="1805940"/>
            <a:ext cx="10647045" cy="1703071"/>
          </a:xfrm>
        </p:spPr>
        <p:txBody>
          <a:bodyPr>
            <a:normAutofit fontScale="90000"/>
          </a:bodyPr>
          <a:lstStyle/>
          <a:p>
            <a:pPr algn="ctr"/>
            <a:r>
              <a:rPr lang="en-GB" sz="5400" b="1" dirty="0"/>
              <a:t>CMP 201: Computer Programming I</a:t>
            </a:r>
            <a:br>
              <a:rPr lang="en-GB" sz="5400" b="1" dirty="0"/>
            </a:br>
            <a:r>
              <a:rPr lang="en-GB" sz="5400" b="1" dirty="0">
                <a:solidFill>
                  <a:schemeClr val="accent4"/>
                </a:solidFill>
              </a:rPr>
              <a:t>Control Structures</a:t>
            </a:r>
          </a:p>
        </p:txBody>
      </p:sp>
    </p:spTree>
    <p:extLst>
      <p:ext uri="{BB962C8B-B14F-4D97-AF65-F5344CB8AC3E}">
        <p14:creationId xmlns:p14="http://schemas.microsoft.com/office/powerpoint/2010/main" val="2470596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7E5F-D50A-0DE8-DC9D-2603075CD8B3}"/>
              </a:ext>
            </a:extLst>
          </p:cNvPr>
          <p:cNvSpPr>
            <a:spLocks noGrp="1"/>
          </p:cNvSpPr>
          <p:nvPr>
            <p:ph type="title"/>
          </p:nvPr>
        </p:nvSpPr>
        <p:spPr>
          <a:xfrm>
            <a:off x="1569831" y="80587"/>
            <a:ext cx="10018713" cy="893020"/>
          </a:xfrm>
        </p:spPr>
        <p:txBody>
          <a:bodyPr/>
          <a:lstStyle/>
          <a:p>
            <a:r>
              <a:rPr lang="en-GB" altLang="en-US" dirty="0"/>
              <a:t>Contents</a:t>
            </a:r>
            <a:endParaRPr lang="en-GB" dirty="0"/>
          </a:p>
        </p:txBody>
      </p:sp>
      <p:sp>
        <p:nvSpPr>
          <p:cNvPr id="3" name="Content Placeholder 2">
            <a:extLst>
              <a:ext uri="{FF2B5EF4-FFF2-40B4-BE49-F238E27FC236}">
                <a16:creationId xmlns:a16="http://schemas.microsoft.com/office/drawing/2014/main" id="{898D9065-6505-41D6-7409-D0396F695FD9}"/>
              </a:ext>
            </a:extLst>
          </p:cNvPr>
          <p:cNvSpPr>
            <a:spLocks noGrp="1"/>
          </p:cNvSpPr>
          <p:nvPr>
            <p:ph idx="1"/>
          </p:nvPr>
        </p:nvSpPr>
        <p:spPr>
          <a:xfrm>
            <a:off x="1377778" y="920978"/>
            <a:ext cx="10738022" cy="5203527"/>
          </a:xfrm>
        </p:spPr>
        <p:txBody>
          <a:bodyPr>
            <a:normAutofit lnSpcReduction="10000"/>
          </a:bodyPr>
          <a:lstStyle/>
          <a:p>
            <a:pPr marR="0" algn="l"/>
            <a:r>
              <a:rPr lang="en-GB" sz="3200" b="0" i="0" u="none" strike="noStrike" baseline="0" dirty="0">
                <a:solidFill>
                  <a:srgbClr val="000000"/>
                </a:solidFill>
                <a:latin typeface="Trebuchet MS" panose="020B0603020202020204" pitchFamily="34" charset="0"/>
              </a:rPr>
              <a:t>Introduction to Control Structures</a:t>
            </a:r>
          </a:p>
          <a:p>
            <a:pPr marR="0" algn="l"/>
            <a:r>
              <a:rPr lang="en-GB" sz="3200" b="0" i="0" u="none" strike="noStrike" baseline="0" dirty="0">
                <a:solidFill>
                  <a:srgbClr val="000000"/>
                </a:solidFill>
                <a:latin typeface="Trebuchet MS" panose="020B0603020202020204" pitchFamily="34" charset="0"/>
              </a:rPr>
              <a:t>Sequence Structure &amp; Example</a:t>
            </a:r>
          </a:p>
          <a:p>
            <a:pPr marR="0" algn="l"/>
            <a:r>
              <a:rPr lang="en-GB" sz="3200" b="0" i="0" u="none" strike="noStrike" baseline="0" dirty="0">
                <a:solidFill>
                  <a:srgbClr val="000000"/>
                </a:solidFill>
                <a:latin typeface="Trebuchet MS" panose="020B0603020202020204" pitchFamily="34" charset="0"/>
              </a:rPr>
              <a:t>Selection Structures</a:t>
            </a:r>
          </a:p>
          <a:p>
            <a:pPr marR="0" algn="l"/>
            <a:r>
              <a:rPr lang="en-GB" sz="3200" b="0" i="0" u="none" strike="noStrike" baseline="0" dirty="0">
                <a:solidFill>
                  <a:srgbClr val="000000"/>
                </a:solidFill>
                <a:latin typeface="Trebuchet MS" panose="020B0603020202020204" pitchFamily="34" charset="0"/>
              </a:rPr>
              <a:t>Single selection statement </a:t>
            </a:r>
          </a:p>
          <a:p>
            <a:pPr marR="0" algn="l"/>
            <a:r>
              <a:rPr lang="en-GB" sz="3200" b="0" i="0" u="none" strike="noStrike" baseline="0" dirty="0">
                <a:solidFill>
                  <a:srgbClr val="000000"/>
                </a:solidFill>
                <a:latin typeface="Trebuchet MS" panose="020B0603020202020204" pitchFamily="34" charset="0"/>
              </a:rPr>
              <a:t>Double selection statement </a:t>
            </a:r>
          </a:p>
          <a:p>
            <a:pPr marR="0" algn="l"/>
            <a:r>
              <a:rPr lang="en-GB" sz="3200" b="0" i="0" u="none" strike="noStrike" baseline="0" dirty="0">
                <a:solidFill>
                  <a:srgbClr val="000000"/>
                </a:solidFill>
                <a:latin typeface="Trebuchet MS" panose="020B0603020202020204" pitchFamily="34" charset="0"/>
              </a:rPr>
              <a:t>Multiple selection statement </a:t>
            </a:r>
          </a:p>
          <a:p>
            <a:pPr marR="0" algn="l"/>
            <a:r>
              <a:rPr lang="en-GB" sz="3200" b="0" i="0" u="none" strike="noStrike" baseline="0" dirty="0">
                <a:solidFill>
                  <a:srgbClr val="000000"/>
                </a:solidFill>
                <a:latin typeface="Trebuchet MS" panose="020B0603020202020204" pitchFamily="34" charset="0"/>
              </a:rPr>
              <a:t>Examples</a:t>
            </a:r>
          </a:p>
          <a:p>
            <a:pPr marR="0" algn="l"/>
            <a:r>
              <a:rPr lang="en-GB" sz="3200" b="0" i="0" u="none" strike="noStrike" baseline="0" dirty="0">
                <a:solidFill>
                  <a:srgbClr val="000000"/>
                </a:solidFill>
                <a:latin typeface="Trebuchet MS" panose="020B0603020202020204" pitchFamily="34" charset="0"/>
              </a:rPr>
              <a:t>Dangling else problem with example</a:t>
            </a:r>
          </a:p>
        </p:txBody>
      </p:sp>
    </p:spTree>
    <p:extLst>
      <p:ext uri="{BB962C8B-B14F-4D97-AF65-F5344CB8AC3E}">
        <p14:creationId xmlns:p14="http://schemas.microsoft.com/office/powerpoint/2010/main" val="2682166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7E5F-D50A-0DE8-DC9D-2603075CD8B3}"/>
              </a:ext>
            </a:extLst>
          </p:cNvPr>
          <p:cNvSpPr>
            <a:spLocks noGrp="1"/>
          </p:cNvSpPr>
          <p:nvPr>
            <p:ph type="title"/>
          </p:nvPr>
        </p:nvSpPr>
        <p:spPr>
          <a:xfrm>
            <a:off x="1569831" y="80587"/>
            <a:ext cx="10018713" cy="893020"/>
          </a:xfrm>
        </p:spPr>
        <p:txBody>
          <a:bodyPr/>
          <a:lstStyle/>
          <a:p>
            <a:r>
              <a:rPr lang="en-GB" altLang="en-US" dirty="0"/>
              <a:t>Control Structures</a:t>
            </a:r>
            <a:endParaRPr lang="en-GB" dirty="0"/>
          </a:p>
        </p:txBody>
      </p:sp>
      <p:sp>
        <p:nvSpPr>
          <p:cNvPr id="3" name="Content Placeholder 2">
            <a:extLst>
              <a:ext uri="{FF2B5EF4-FFF2-40B4-BE49-F238E27FC236}">
                <a16:creationId xmlns:a16="http://schemas.microsoft.com/office/drawing/2014/main" id="{898D9065-6505-41D6-7409-D0396F695FD9}"/>
              </a:ext>
            </a:extLst>
          </p:cNvPr>
          <p:cNvSpPr>
            <a:spLocks noGrp="1"/>
          </p:cNvSpPr>
          <p:nvPr>
            <p:ph idx="1"/>
          </p:nvPr>
        </p:nvSpPr>
        <p:spPr>
          <a:xfrm>
            <a:off x="1377778" y="920978"/>
            <a:ext cx="10738022" cy="5203527"/>
          </a:xfrm>
        </p:spPr>
        <p:txBody>
          <a:bodyPr>
            <a:normAutofit fontScale="85000" lnSpcReduction="10000"/>
          </a:bodyPr>
          <a:lstStyle/>
          <a:p>
            <a:pPr marR="0" algn="l"/>
            <a:r>
              <a:rPr lang="en-US" sz="3200" b="0" i="0" u="none" strike="noStrike" baseline="0" dirty="0">
                <a:solidFill>
                  <a:srgbClr val="000000"/>
                </a:solidFill>
                <a:latin typeface="Trebuchet MS" panose="020B0603020202020204" pitchFamily="34" charset="0"/>
              </a:rPr>
              <a:t>In the most basic sense, a program is a list of instructions. </a:t>
            </a:r>
          </a:p>
          <a:p>
            <a:pPr marR="0" algn="l"/>
            <a:r>
              <a:rPr lang="en-US" sz="3200" b="0" i="0" u="none" strike="noStrike" baseline="0" dirty="0">
                <a:solidFill>
                  <a:srgbClr val="000000"/>
                </a:solidFill>
                <a:latin typeface="Trebuchet MS" panose="020B0603020202020204" pitchFamily="34" charset="0"/>
              </a:rPr>
              <a:t>Control structures are programming blocks that can change the path we take through those instructions. </a:t>
            </a:r>
          </a:p>
          <a:p>
            <a:pPr marR="0" algn="l"/>
            <a:r>
              <a:rPr lang="en-US" sz="3200" b="0" i="0" u="none" strike="noStrike" baseline="0" dirty="0">
                <a:solidFill>
                  <a:srgbClr val="000000"/>
                </a:solidFill>
                <a:latin typeface="Trebuchet MS" panose="020B0603020202020204" pitchFamily="34" charset="0"/>
              </a:rPr>
              <a:t>They can be considered as the building blocks of computer programs. </a:t>
            </a:r>
          </a:p>
          <a:p>
            <a:pPr marR="0" algn="l"/>
            <a:r>
              <a:rPr lang="en-US" sz="3200" b="0" i="0" u="none" strike="noStrike" baseline="0" dirty="0">
                <a:solidFill>
                  <a:srgbClr val="000000"/>
                </a:solidFill>
                <a:latin typeface="Trebuchet MS" panose="020B0603020202020204" pitchFamily="34" charset="0"/>
              </a:rPr>
              <a:t>They are commands that enable a program to “take decisions”, following one path or another. </a:t>
            </a:r>
          </a:p>
          <a:p>
            <a:pPr marR="0" algn="l"/>
            <a:r>
              <a:rPr lang="en-US" sz="3200" b="0" i="0" u="none" strike="noStrike" baseline="0" dirty="0">
                <a:solidFill>
                  <a:srgbClr val="000000"/>
                </a:solidFill>
                <a:latin typeface="Trebuchet MS" panose="020B0603020202020204" pitchFamily="34" charset="0"/>
              </a:rPr>
              <a:t>In Java programming, control structures are essential tools for creating more complex programs. </a:t>
            </a:r>
          </a:p>
          <a:p>
            <a:pPr marR="0" algn="l"/>
            <a:r>
              <a:rPr lang="en-US" sz="3200" b="0" i="0" u="none" strike="noStrike" baseline="0" dirty="0">
                <a:solidFill>
                  <a:srgbClr val="000000"/>
                </a:solidFill>
                <a:latin typeface="Trebuchet MS" panose="020B0603020202020204" pitchFamily="34" charset="0"/>
              </a:rPr>
              <a:t>These structures allow you to control the flow of your program and repeat certain actions until a specific condition is met. </a:t>
            </a:r>
          </a:p>
        </p:txBody>
      </p:sp>
    </p:spTree>
    <p:extLst>
      <p:ext uri="{BB962C8B-B14F-4D97-AF65-F5344CB8AC3E}">
        <p14:creationId xmlns:p14="http://schemas.microsoft.com/office/powerpoint/2010/main" val="4253891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7E5F-D50A-0DE8-DC9D-2603075CD8B3}"/>
              </a:ext>
            </a:extLst>
          </p:cNvPr>
          <p:cNvSpPr>
            <a:spLocks noGrp="1"/>
          </p:cNvSpPr>
          <p:nvPr>
            <p:ph type="title"/>
          </p:nvPr>
        </p:nvSpPr>
        <p:spPr>
          <a:xfrm>
            <a:off x="1569831" y="80587"/>
            <a:ext cx="10018713" cy="502509"/>
          </a:xfrm>
        </p:spPr>
        <p:txBody>
          <a:bodyPr>
            <a:normAutofit fontScale="90000"/>
          </a:bodyPr>
          <a:lstStyle/>
          <a:p>
            <a:r>
              <a:rPr lang="en-GB" altLang="en-US" dirty="0"/>
              <a:t>Control Structures ….</a:t>
            </a:r>
            <a:endParaRPr lang="en-GB" dirty="0"/>
          </a:p>
        </p:txBody>
      </p:sp>
      <p:sp>
        <p:nvSpPr>
          <p:cNvPr id="3" name="Content Placeholder 2">
            <a:extLst>
              <a:ext uri="{FF2B5EF4-FFF2-40B4-BE49-F238E27FC236}">
                <a16:creationId xmlns:a16="http://schemas.microsoft.com/office/drawing/2014/main" id="{898D9065-6505-41D6-7409-D0396F695FD9}"/>
              </a:ext>
            </a:extLst>
          </p:cNvPr>
          <p:cNvSpPr>
            <a:spLocks noGrp="1"/>
          </p:cNvSpPr>
          <p:nvPr>
            <p:ph idx="1"/>
          </p:nvPr>
        </p:nvSpPr>
        <p:spPr>
          <a:xfrm>
            <a:off x="1377778" y="583096"/>
            <a:ext cx="10738022" cy="6366344"/>
          </a:xfrm>
        </p:spPr>
        <p:txBody>
          <a:bodyPr>
            <a:normAutofit fontScale="85000" lnSpcReduction="10000"/>
          </a:bodyPr>
          <a:lstStyle/>
          <a:p>
            <a:pPr marR="0" algn="l"/>
            <a:r>
              <a:rPr lang="en-US" sz="3200" b="0" i="0" u="none" strike="noStrike" baseline="0" dirty="0">
                <a:solidFill>
                  <a:srgbClr val="000000"/>
                </a:solidFill>
                <a:latin typeface="Trebuchet MS" panose="020B0603020202020204" pitchFamily="34" charset="0"/>
              </a:rPr>
              <a:t>Sometimes, </a:t>
            </a:r>
          </a:p>
          <a:p>
            <a:pPr lvl="1"/>
            <a:r>
              <a:rPr lang="en-US" sz="2800" b="0" i="0" u="none" strike="noStrike" baseline="0" dirty="0">
                <a:solidFill>
                  <a:srgbClr val="000000"/>
                </a:solidFill>
                <a:latin typeface="Trebuchet MS" panose="020B0603020202020204" pitchFamily="34" charset="0"/>
              </a:rPr>
              <a:t>we may want to jump from line to another line, </a:t>
            </a:r>
          </a:p>
          <a:p>
            <a:pPr lvl="1"/>
            <a:r>
              <a:rPr lang="en-US" sz="2800" b="0" i="0" u="none" strike="noStrike" baseline="0" dirty="0">
                <a:solidFill>
                  <a:srgbClr val="000000"/>
                </a:solidFill>
                <a:latin typeface="Trebuchet MS" panose="020B0603020202020204" pitchFamily="34" charset="0"/>
              </a:rPr>
              <a:t>we may want to skip a part of the program, </a:t>
            </a:r>
          </a:p>
          <a:p>
            <a:pPr lvl="1"/>
            <a:r>
              <a:rPr lang="en-US" sz="2800" b="0" i="0" u="none" strike="noStrike" baseline="0" dirty="0">
                <a:solidFill>
                  <a:srgbClr val="000000"/>
                </a:solidFill>
                <a:latin typeface="Trebuchet MS" panose="020B0603020202020204" pitchFamily="34" charset="0"/>
              </a:rPr>
              <a:t>or  we may want to execute a part of the program again and again. </a:t>
            </a:r>
          </a:p>
          <a:p>
            <a:pPr marR="0" algn="l"/>
            <a:r>
              <a:rPr lang="en-US" sz="3200" b="0" i="0" u="none" strike="noStrike" baseline="0" dirty="0">
                <a:solidFill>
                  <a:srgbClr val="000000"/>
                </a:solidFill>
                <a:latin typeface="Trebuchet MS" panose="020B0603020202020204" pitchFamily="34" charset="0"/>
              </a:rPr>
              <a:t>To solve this problem, java provides control statements. </a:t>
            </a:r>
          </a:p>
          <a:p>
            <a:pPr marR="0" algn="l"/>
            <a:r>
              <a:rPr lang="en-US" sz="3200" b="0" i="0" u="none" strike="noStrike" baseline="0" dirty="0">
                <a:solidFill>
                  <a:srgbClr val="000000"/>
                </a:solidFill>
                <a:latin typeface="Trebuchet MS" panose="020B0603020202020204" pitchFamily="34" charset="0"/>
              </a:rPr>
              <a:t>In Java, control statements enable the programmer to specify that the next statement to execute is not necessarily the next one in sequence. </a:t>
            </a:r>
          </a:p>
          <a:p>
            <a:pPr marR="0" algn="l"/>
            <a:r>
              <a:rPr lang="en-US" sz="3200" b="0" i="0" u="none" strike="noStrike" baseline="0" dirty="0">
                <a:solidFill>
                  <a:srgbClr val="000000"/>
                </a:solidFill>
                <a:latin typeface="Trebuchet MS" panose="020B0603020202020204" pitchFamily="34" charset="0"/>
              </a:rPr>
              <a:t>There are four types of control structures in Java:</a:t>
            </a:r>
          </a:p>
          <a:p>
            <a:pPr lvl="1"/>
            <a:r>
              <a:rPr lang="en-US" sz="2800" b="0" i="0" u="none" strike="noStrike" baseline="0" dirty="0">
                <a:solidFill>
                  <a:srgbClr val="000000"/>
                </a:solidFill>
                <a:latin typeface="Trebuchet MS" panose="020B0603020202020204" pitchFamily="34" charset="0"/>
              </a:rPr>
              <a:t>S	</a:t>
            </a:r>
            <a:r>
              <a:rPr lang="en-US" sz="2800" b="0" i="0" u="none" strike="noStrike" baseline="0" dirty="0" err="1">
                <a:solidFill>
                  <a:srgbClr val="000000"/>
                </a:solidFill>
                <a:latin typeface="Trebuchet MS" panose="020B0603020202020204" pitchFamily="34" charset="0"/>
              </a:rPr>
              <a:t>equence</a:t>
            </a:r>
            <a:r>
              <a:rPr lang="en-US" sz="2800" b="0" i="0" u="none" strike="noStrike" baseline="0" dirty="0">
                <a:solidFill>
                  <a:srgbClr val="000000"/>
                </a:solidFill>
                <a:latin typeface="Trebuchet MS" panose="020B0603020202020204" pitchFamily="34" charset="0"/>
              </a:rPr>
              <a:t> structure</a:t>
            </a:r>
          </a:p>
          <a:p>
            <a:pPr lvl="1"/>
            <a:r>
              <a:rPr lang="en-US" sz="2800" b="0" i="0" u="none" strike="noStrike" baseline="0" dirty="0">
                <a:solidFill>
                  <a:srgbClr val="000000"/>
                </a:solidFill>
                <a:latin typeface="Trebuchet MS" panose="020B0603020202020204" pitchFamily="34" charset="0"/>
              </a:rPr>
              <a:t>Selection structure</a:t>
            </a:r>
          </a:p>
          <a:p>
            <a:pPr lvl="1"/>
            <a:r>
              <a:rPr lang="en-US" sz="2800" b="0" i="0" u="none" strike="noStrike" baseline="0" dirty="0">
                <a:solidFill>
                  <a:srgbClr val="000000"/>
                </a:solidFill>
                <a:latin typeface="Trebuchet MS" panose="020B0603020202020204" pitchFamily="34" charset="0"/>
              </a:rPr>
              <a:t>Repetition structure</a:t>
            </a:r>
          </a:p>
          <a:p>
            <a:pPr lvl="1"/>
            <a:r>
              <a:rPr lang="en-US" sz="2800" b="0" i="0" u="none" strike="noStrike" baseline="0" dirty="0">
                <a:solidFill>
                  <a:srgbClr val="000000"/>
                </a:solidFill>
                <a:latin typeface="Trebuchet MS" panose="020B0603020202020204" pitchFamily="34" charset="0"/>
              </a:rPr>
              <a:t>Jump Structure</a:t>
            </a:r>
          </a:p>
        </p:txBody>
      </p:sp>
    </p:spTree>
    <p:extLst>
      <p:ext uri="{BB962C8B-B14F-4D97-AF65-F5344CB8AC3E}">
        <p14:creationId xmlns:p14="http://schemas.microsoft.com/office/powerpoint/2010/main" val="1088410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Sequence Structures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800" b="0" i="0" u="none" strike="noStrike" baseline="0" dirty="0">
                <a:solidFill>
                  <a:srgbClr val="222222"/>
                </a:solidFill>
                <a:latin typeface="Trebuchet MS" panose="020B0603020202020204" pitchFamily="34" charset="0"/>
              </a:rPr>
              <a:t>By default, the computer has been designed to execute instructions in sequence. </a:t>
            </a:r>
          </a:p>
          <a:p>
            <a:r>
              <a:rPr lang="en-US" sz="2800" b="0" i="0" u="none" strike="noStrike" baseline="0" dirty="0">
                <a:solidFill>
                  <a:srgbClr val="222222"/>
                </a:solidFill>
                <a:latin typeface="Trebuchet MS" panose="020B0603020202020204" pitchFamily="34" charset="0"/>
              </a:rPr>
              <a:t>So unless directed otherwise, the computer executes Java statements one after the other in the order in which they are written. </a:t>
            </a:r>
          </a:p>
          <a:p>
            <a:r>
              <a:rPr lang="en-US" sz="2800" b="0" i="0" u="none" strike="noStrike" baseline="0" dirty="0">
                <a:solidFill>
                  <a:srgbClr val="222222"/>
                </a:solidFill>
                <a:latin typeface="Trebuchet MS" panose="020B0603020202020204" pitchFamily="34" charset="0"/>
              </a:rPr>
              <a:t>When a program is designed to execute statements line by line, it is said to have a sequence structure.</a:t>
            </a:r>
          </a:p>
          <a:p>
            <a:r>
              <a:rPr lang="en-US" sz="2800" b="0" i="0" u="none" strike="noStrike" baseline="0" dirty="0">
                <a:solidFill>
                  <a:srgbClr val="222222"/>
                </a:solidFill>
                <a:latin typeface="Trebuchet MS" panose="020B0603020202020204" pitchFamily="34" charset="0"/>
              </a:rPr>
              <a:t>Sequential statements are type of control statements in which instructions are executed one after the other in sequence.  </a:t>
            </a:r>
          </a:p>
          <a:p>
            <a:r>
              <a:rPr lang="en-US" sz="2800" b="0" i="0" u="none" strike="noStrike" baseline="0" dirty="0">
                <a:solidFill>
                  <a:srgbClr val="222222"/>
                </a:solidFill>
                <a:latin typeface="Trebuchet MS" panose="020B0603020202020204" pitchFamily="34" charset="0"/>
              </a:rPr>
              <a:t>All the previous Java programs written in this course are based on sequence structure.</a:t>
            </a:r>
          </a:p>
        </p:txBody>
      </p:sp>
    </p:spTree>
    <p:extLst>
      <p:ext uri="{BB962C8B-B14F-4D97-AF65-F5344CB8AC3E}">
        <p14:creationId xmlns:p14="http://schemas.microsoft.com/office/powerpoint/2010/main" val="284521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Selection Structures</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800" b="0" i="0" u="none" strike="noStrike" baseline="0" dirty="0">
                <a:solidFill>
                  <a:srgbClr val="222222"/>
                </a:solidFill>
                <a:latin typeface="Trebuchet MS" panose="020B0603020202020204" pitchFamily="34" charset="0"/>
              </a:rPr>
              <a:t>Java provides selection statements that let you choose actions with alternative courses. </a:t>
            </a:r>
          </a:p>
          <a:p>
            <a:r>
              <a:rPr lang="en-US" sz="2800" b="0" i="0" u="none" strike="noStrike" baseline="0" dirty="0">
                <a:solidFill>
                  <a:srgbClr val="222222"/>
                </a:solidFill>
                <a:latin typeface="Trebuchet MS" panose="020B0603020202020204" pitchFamily="34" charset="0"/>
              </a:rPr>
              <a:t>The program can decide which statements to execute based on a condition. </a:t>
            </a:r>
          </a:p>
          <a:p>
            <a:r>
              <a:rPr lang="en-US" sz="2800" b="0" i="0" u="none" strike="noStrike" baseline="0" dirty="0">
                <a:solidFill>
                  <a:srgbClr val="222222"/>
                </a:solidFill>
                <a:latin typeface="Trebuchet MS" panose="020B0603020202020204" pitchFamily="34" charset="0"/>
              </a:rPr>
              <a:t>Selection statements use conditions that are Boolean expressions.</a:t>
            </a:r>
          </a:p>
          <a:p>
            <a:r>
              <a:rPr lang="en-US" sz="2800" b="0" i="0" u="none" strike="noStrike" baseline="0" dirty="0">
                <a:solidFill>
                  <a:srgbClr val="222222"/>
                </a:solidFill>
                <a:latin typeface="Trebuchet MS" panose="020B0603020202020204" pitchFamily="34" charset="0"/>
              </a:rPr>
              <a:t> A Boolean expression is an expression that evaluates to a Boolean value: true or false.</a:t>
            </a:r>
          </a:p>
          <a:p>
            <a:r>
              <a:rPr lang="en-US" sz="2800" b="0" i="0" u="none" strike="noStrike" baseline="0" dirty="0">
                <a:solidFill>
                  <a:srgbClr val="222222"/>
                </a:solidFill>
                <a:latin typeface="Trebuchet MS" panose="020B0603020202020204" pitchFamily="34" charset="0"/>
              </a:rPr>
              <a:t>In Selection, we select one alternative based on a criterion (condition). </a:t>
            </a:r>
          </a:p>
          <a:p>
            <a:r>
              <a:rPr lang="en-US" sz="2800" b="0" i="0" u="none" strike="noStrike" baseline="0" dirty="0">
                <a:solidFill>
                  <a:srgbClr val="222222"/>
                </a:solidFill>
                <a:latin typeface="Trebuchet MS" panose="020B0603020202020204" pitchFamily="34" charset="0"/>
              </a:rPr>
              <a:t>Assume that we want to find the status of a student given his GPA.</a:t>
            </a:r>
          </a:p>
        </p:txBody>
      </p:sp>
    </p:spTree>
    <p:extLst>
      <p:ext uri="{BB962C8B-B14F-4D97-AF65-F5344CB8AC3E}">
        <p14:creationId xmlns:p14="http://schemas.microsoft.com/office/powerpoint/2010/main" val="680832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Selection Structures …..</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800" b="0" i="0" u="none" strike="noStrike" baseline="0" dirty="0">
                <a:solidFill>
                  <a:srgbClr val="222222"/>
                </a:solidFill>
                <a:latin typeface="Trebuchet MS" panose="020B0603020202020204" pitchFamily="34" charset="0"/>
              </a:rPr>
              <a:t>Java has the following types of selection statements:</a:t>
            </a:r>
          </a:p>
          <a:p>
            <a:r>
              <a:rPr lang="en-US" sz="2800" b="1" i="0" u="none" strike="noStrike" baseline="0" dirty="0">
                <a:solidFill>
                  <a:srgbClr val="222222"/>
                </a:solidFill>
                <a:latin typeface="Trebuchet MS" panose="020B0603020202020204" pitchFamily="34" charset="0"/>
              </a:rPr>
              <a:t>Single selection statement </a:t>
            </a:r>
          </a:p>
          <a:p>
            <a:r>
              <a:rPr lang="en-US" sz="2800" b="0" i="0" u="none" strike="noStrike" baseline="0" dirty="0">
                <a:solidFill>
                  <a:srgbClr val="222222"/>
                </a:solidFill>
                <a:latin typeface="Trebuchet MS" panose="020B0603020202020204" pitchFamily="34" charset="0"/>
              </a:rPr>
              <a:t>The single selection statement either selects or ignores a single action. </a:t>
            </a:r>
          </a:p>
          <a:p>
            <a:r>
              <a:rPr lang="en-US" sz="2800" b="0" i="0" u="none" strike="noStrike" baseline="0" dirty="0">
                <a:solidFill>
                  <a:srgbClr val="222222"/>
                </a:solidFill>
                <a:latin typeface="Trebuchet MS" panose="020B0603020202020204" pitchFamily="34" charset="0"/>
              </a:rPr>
              <a:t>It may either select (perform) an action if a condition is true or skip the action if the condition is false. </a:t>
            </a:r>
          </a:p>
          <a:p>
            <a:r>
              <a:rPr lang="en-US" sz="2800" b="0" i="0" u="none" strike="noStrike" baseline="0" dirty="0">
                <a:solidFill>
                  <a:srgbClr val="222222"/>
                </a:solidFill>
                <a:latin typeface="Trebuchet MS" panose="020B0603020202020204" pitchFamily="34" charset="0"/>
              </a:rPr>
              <a:t>The </a:t>
            </a:r>
            <a:r>
              <a:rPr lang="en-US" sz="2800" b="0" i="0" u="none" strike="noStrike" baseline="0" dirty="0">
                <a:solidFill>
                  <a:schemeClr val="accent4"/>
                </a:solidFill>
                <a:latin typeface="Trebuchet MS" panose="020B0603020202020204" pitchFamily="34" charset="0"/>
              </a:rPr>
              <a:t>if statement </a:t>
            </a:r>
            <a:r>
              <a:rPr lang="en-US" sz="2800" b="0" i="0" u="none" strike="noStrike" baseline="0" dirty="0">
                <a:solidFill>
                  <a:srgbClr val="222222"/>
                </a:solidFill>
                <a:latin typeface="Trebuchet MS" panose="020B0603020202020204" pitchFamily="34" charset="0"/>
              </a:rPr>
              <a:t>is an example of a single selection statement. </a:t>
            </a:r>
          </a:p>
          <a:p>
            <a:r>
              <a:rPr lang="en-US" sz="2800" b="0" i="0" u="none" strike="noStrike" baseline="0" dirty="0">
                <a:solidFill>
                  <a:srgbClr val="222222"/>
                </a:solidFill>
                <a:latin typeface="Trebuchet MS" panose="020B0603020202020204" pitchFamily="34" charset="0"/>
              </a:rPr>
              <a:t>The general structure is:</a:t>
            </a:r>
          </a:p>
          <a:p>
            <a:pPr marL="914400" lvl="2" indent="0">
              <a:buNone/>
            </a:pPr>
            <a:r>
              <a:rPr lang="en-US" sz="2200" b="0" i="0" u="none" strike="noStrike" baseline="0" dirty="0">
                <a:solidFill>
                  <a:srgbClr val="222222"/>
                </a:solidFill>
                <a:latin typeface="Trebuchet MS" panose="020B0603020202020204" pitchFamily="34" charset="0"/>
              </a:rPr>
              <a:t>       </a:t>
            </a:r>
            <a:r>
              <a:rPr lang="en-US" sz="2200" b="0" i="0" u="none" strike="noStrike" baseline="0" dirty="0">
                <a:solidFill>
                  <a:schemeClr val="accent4"/>
                </a:solidFill>
                <a:latin typeface="Trebuchet MS" panose="020B0603020202020204" pitchFamily="34" charset="0"/>
              </a:rPr>
              <a:t>if(condition) {</a:t>
            </a:r>
          </a:p>
          <a:p>
            <a:pPr marL="914400" lvl="2" indent="0">
              <a:buNone/>
            </a:pPr>
            <a:r>
              <a:rPr lang="en-US" sz="2200" b="0" i="0" u="none" strike="noStrike" baseline="0" dirty="0">
                <a:solidFill>
                  <a:schemeClr val="accent4"/>
                </a:solidFill>
                <a:latin typeface="Trebuchet MS" panose="020B0603020202020204" pitchFamily="34" charset="0"/>
              </a:rPr>
              <a:t>          statement;</a:t>
            </a:r>
            <a:endParaRPr lang="en-US" sz="1400" dirty="0">
              <a:solidFill>
                <a:schemeClr val="accent4"/>
              </a:solidFill>
              <a:latin typeface="Trebuchet MS" panose="020B0603020202020204" pitchFamily="34" charset="0"/>
            </a:endParaRPr>
          </a:p>
          <a:p>
            <a:r>
              <a:rPr lang="en-US" sz="2000" b="0" i="0" u="none" strike="noStrike" baseline="0" dirty="0">
                <a:solidFill>
                  <a:schemeClr val="accent4"/>
                </a:solidFill>
                <a:latin typeface="Trebuchet MS" panose="020B0603020202020204" pitchFamily="34" charset="0"/>
              </a:rPr>
              <a:t>                 }</a:t>
            </a:r>
            <a:endParaRPr lang="en-US" sz="2800" b="0" i="0" u="none" strike="noStrike" baseline="0" dirty="0">
              <a:solidFill>
                <a:schemeClr val="accent4"/>
              </a:solidFill>
              <a:latin typeface="Trebuchet MS" panose="020B0603020202020204" pitchFamily="34" charset="0"/>
            </a:endParaRPr>
          </a:p>
        </p:txBody>
      </p:sp>
    </p:spTree>
    <p:extLst>
      <p:ext uri="{BB962C8B-B14F-4D97-AF65-F5344CB8AC3E}">
        <p14:creationId xmlns:p14="http://schemas.microsoft.com/office/powerpoint/2010/main" val="2160042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Single Selection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500" b="0" i="0" u="none" strike="noStrike" baseline="0" dirty="0">
                <a:solidFill>
                  <a:srgbClr val="222222"/>
                </a:solidFill>
                <a:latin typeface="Trebuchet MS" panose="020B0603020202020204" pitchFamily="34" charset="0"/>
              </a:rPr>
              <a:t>The if statement</a:t>
            </a:r>
          </a:p>
          <a:p>
            <a:r>
              <a:rPr lang="en-US" sz="2500" b="0" i="0" u="none" strike="noStrike" baseline="0" dirty="0">
                <a:solidFill>
                  <a:srgbClr val="222222"/>
                </a:solidFill>
                <a:latin typeface="Trebuchet MS" panose="020B0603020202020204" pitchFamily="34" charset="0"/>
              </a:rPr>
              <a:t>Suppose you are asked to write a program that prints “Passed” if a student scores 40 and above. </a:t>
            </a:r>
          </a:p>
          <a:p>
            <a:r>
              <a:rPr lang="en-US" sz="2500" b="0" i="0" u="none" strike="noStrike" baseline="0" dirty="0">
                <a:solidFill>
                  <a:srgbClr val="222222"/>
                </a:solidFill>
                <a:latin typeface="Trebuchet MS" panose="020B0603020202020204" pitchFamily="34" charset="0"/>
              </a:rPr>
              <a:t>The following if statement can be used.</a:t>
            </a:r>
          </a:p>
          <a:p>
            <a:pPr marL="914400" lvl="2" indent="0">
              <a:buNone/>
            </a:pPr>
            <a:r>
              <a:rPr lang="en-US" sz="2200" b="0" i="0" u="none" strike="noStrike" baseline="0" dirty="0">
                <a:solidFill>
                  <a:schemeClr val="accent4"/>
                </a:solidFill>
                <a:latin typeface="Trebuchet MS" panose="020B0603020202020204" pitchFamily="34" charset="0"/>
              </a:rPr>
              <a:t>   if (grade &gt;= 40){</a:t>
            </a:r>
          </a:p>
          <a:p>
            <a:pPr marL="1371600" lvl="3" indent="0">
              <a:buNone/>
            </a:pPr>
            <a:r>
              <a:rPr lang="en-US" sz="2000" b="0" i="0" u="none" strike="noStrike" baseline="0" dirty="0" err="1">
                <a:solidFill>
                  <a:schemeClr val="accent4"/>
                </a:solidFill>
                <a:latin typeface="Trebuchet MS" panose="020B0603020202020204" pitchFamily="34" charset="0"/>
              </a:rPr>
              <a:t>System.out.println</a:t>
            </a:r>
            <a:r>
              <a:rPr lang="en-US" sz="2000" b="0" i="0" u="none" strike="noStrike" baseline="0" dirty="0">
                <a:solidFill>
                  <a:schemeClr val="accent4"/>
                </a:solidFill>
                <a:latin typeface="Trebuchet MS" panose="020B0603020202020204" pitchFamily="34" charset="0"/>
              </a:rPr>
              <a:t>(“Passed”);</a:t>
            </a:r>
          </a:p>
          <a:p>
            <a:pPr marL="914400" lvl="2" indent="0">
              <a:buNone/>
            </a:pPr>
            <a:r>
              <a:rPr lang="en-US" sz="2200" dirty="0">
                <a:solidFill>
                  <a:schemeClr val="accent4"/>
                </a:solidFill>
                <a:latin typeface="Trebuchet MS" panose="020B0603020202020204" pitchFamily="34" charset="0"/>
              </a:rPr>
              <a:t>   }</a:t>
            </a:r>
            <a:r>
              <a:rPr lang="en-US" sz="2200" b="0" i="0" u="none" strike="noStrike" baseline="0" dirty="0">
                <a:solidFill>
                  <a:schemeClr val="accent4"/>
                </a:solidFill>
                <a:latin typeface="Trebuchet MS" panose="020B0603020202020204" pitchFamily="34" charset="0"/>
              </a:rPr>
              <a:t> </a:t>
            </a:r>
          </a:p>
          <a:p>
            <a:r>
              <a:rPr lang="en-US" sz="2500" b="0" i="0" u="none" strike="noStrike" baseline="0" dirty="0">
                <a:solidFill>
                  <a:srgbClr val="222222"/>
                </a:solidFill>
                <a:latin typeface="Trebuchet MS" panose="020B0603020202020204" pitchFamily="34" charset="0"/>
              </a:rPr>
              <a:t>The Java code above determines whether a student has passed. </a:t>
            </a:r>
          </a:p>
          <a:p>
            <a:r>
              <a:rPr lang="en-US" sz="2500" b="0" i="0" u="none" strike="noStrike" baseline="0" dirty="0">
                <a:solidFill>
                  <a:srgbClr val="222222"/>
                </a:solidFill>
                <a:latin typeface="Trebuchet MS" panose="020B0603020202020204" pitchFamily="34" charset="0"/>
              </a:rPr>
              <a:t>Note that because the if-statement is a single selection statement, nothing happens if the students’ grade is less than 40.</a:t>
            </a:r>
          </a:p>
          <a:p>
            <a:r>
              <a:rPr lang="en-US" sz="2500" b="0" i="0" u="none" strike="noStrike" baseline="0" dirty="0">
                <a:solidFill>
                  <a:srgbClr val="222222"/>
                </a:solidFill>
                <a:latin typeface="Trebuchet MS" panose="020B0603020202020204" pitchFamily="34" charset="0"/>
              </a:rPr>
              <a:t> If the condition in bracket is false, the Print statement is ignored and the next statement in the program is performed. </a:t>
            </a:r>
          </a:p>
        </p:txBody>
      </p:sp>
    </p:spTree>
    <p:extLst>
      <p:ext uri="{BB962C8B-B14F-4D97-AF65-F5344CB8AC3E}">
        <p14:creationId xmlns:p14="http://schemas.microsoft.com/office/powerpoint/2010/main" val="3691052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Double Selection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500" b="0" i="0" u="none" strike="noStrike" baseline="0" dirty="0">
                <a:solidFill>
                  <a:srgbClr val="222222"/>
                </a:solidFill>
                <a:latin typeface="Trebuchet MS" panose="020B0603020202020204" pitchFamily="34" charset="0"/>
              </a:rPr>
              <a:t>The double selection statement selects between two different actions. </a:t>
            </a:r>
          </a:p>
          <a:p>
            <a:r>
              <a:rPr lang="en-US" sz="2500" b="0" i="0" u="none" strike="noStrike" baseline="0" dirty="0">
                <a:solidFill>
                  <a:srgbClr val="222222"/>
                </a:solidFill>
                <a:latin typeface="Trebuchet MS" panose="020B0603020202020204" pitchFamily="34" charset="0"/>
              </a:rPr>
              <a:t>It may select (perform) one action if a condition is true and perform a different action if the condition is false. </a:t>
            </a:r>
          </a:p>
          <a:p>
            <a:r>
              <a:rPr lang="en-US" sz="2500" b="0" i="0" u="none" strike="noStrike" baseline="0" dirty="0">
                <a:solidFill>
                  <a:srgbClr val="222222"/>
                </a:solidFill>
                <a:latin typeface="Trebuchet MS" panose="020B0603020202020204" pitchFamily="34" charset="0"/>
              </a:rPr>
              <a:t>The if…else statement is an example of a double selection statement. </a:t>
            </a:r>
          </a:p>
          <a:p>
            <a:r>
              <a:rPr lang="en-US" sz="2500" b="0" i="0" u="none" strike="noStrike" baseline="0" dirty="0">
                <a:solidFill>
                  <a:srgbClr val="222222"/>
                </a:solidFill>
                <a:latin typeface="Trebuchet MS" panose="020B0603020202020204" pitchFamily="34" charset="0"/>
              </a:rPr>
              <a:t>The general structure is:</a:t>
            </a:r>
          </a:p>
          <a:p>
            <a:pPr marL="0" indent="0">
              <a:buNone/>
            </a:pPr>
            <a:r>
              <a:rPr lang="en-US" sz="2500" b="0" i="0" u="none" strike="noStrike" baseline="0" dirty="0">
                <a:solidFill>
                  <a:schemeClr val="accent4"/>
                </a:solidFill>
                <a:latin typeface="Trebuchet MS" panose="020B0603020202020204" pitchFamily="34" charset="0"/>
              </a:rPr>
              <a:t>       if(condition){ </a:t>
            </a:r>
          </a:p>
          <a:p>
            <a:pPr marL="0" indent="0">
              <a:buNone/>
            </a:pPr>
            <a:r>
              <a:rPr lang="en-US" sz="2500" b="0" i="0" u="none" strike="noStrike" baseline="0" dirty="0">
                <a:solidFill>
                  <a:schemeClr val="accent4"/>
                </a:solidFill>
                <a:latin typeface="Trebuchet MS" panose="020B0603020202020204" pitchFamily="34" charset="0"/>
              </a:rPr>
              <a:t>  	      statement1;</a:t>
            </a:r>
          </a:p>
          <a:p>
            <a:pPr marL="0" indent="0">
              <a:buNone/>
            </a:pPr>
            <a:r>
              <a:rPr lang="en-US" sz="2500" b="0" i="0" u="none" strike="noStrike" baseline="0" dirty="0">
                <a:solidFill>
                  <a:schemeClr val="accent4"/>
                </a:solidFill>
                <a:latin typeface="Trebuchet MS" panose="020B0603020202020204" pitchFamily="34" charset="0"/>
              </a:rPr>
              <a:t>       else{</a:t>
            </a:r>
          </a:p>
          <a:p>
            <a:pPr marL="0" indent="0">
              <a:buNone/>
            </a:pPr>
            <a:r>
              <a:rPr lang="en-US" sz="2500" b="0" i="0" u="none" strike="noStrike" baseline="0" dirty="0">
                <a:solidFill>
                  <a:schemeClr val="accent4"/>
                </a:solidFill>
                <a:latin typeface="Trebuchet MS" panose="020B0603020202020204" pitchFamily="34" charset="0"/>
              </a:rPr>
              <a:t>	     statement2; </a:t>
            </a:r>
          </a:p>
          <a:p>
            <a:r>
              <a:rPr lang="en-US" sz="2500" dirty="0">
                <a:solidFill>
                  <a:schemeClr val="accent4"/>
                </a:solidFill>
                <a:latin typeface="Trebuchet MS" panose="020B0603020202020204" pitchFamily="34" charset="0"/>
              </a:rPr>
              <a:t>    }</a:t>
            </a:r>
            <a:endParaRPr lang="en-US" sz="2500" b="0" i="0" u="none" strike="noStrike" baseline="0" dirty="0">
              <a:solidFill>
                <a:schemeClr val="accent4"/>
              </a:solidFill>
              <a:latin typeface="Trebuchet MS" panose="020B0603020202020204" pitchFamily="34" charset="0"/>
            </a:endParaRPr>
          </a:p>
        </p:txBody>
      </p:sp>
    </p:spTree>
    <p:extLst>
      <p:ext uri="{BB962C8B-B14F-4D97-AF65-F5344CB8AC3E}">
        <p14:creationId xmlns:p14="http://schemas.microsoft.com/office/powerpoint/2010/main" val="298506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The if- else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800" b="0" i="0" u="none" strike="noStrike" baseline="0" dirty="0">
                <a:solidFill>
                  <a:srgbClr val="222222"/>
                </a:solidFill>
                <a:latin typeface="Trebuchet MS" panose="020B0603020202020204" pitchFamily="34" charset="0"/>
              </a:rPr>
              <a:t>In the if…else statement, a programmer can specify an action to perform if the condition is true, and a different action to perform if the condition is false. </a:t>
            </a:r>
          </a:p>
          <a:p>
            <a:r>
              <a:rPr lang="en-US" sz="2800" b="0" i="0" u="none" strike="noStrike" baseline="0" dirty="0">
                <a:solidFill>
                  <a:srgbClr val="222222"/>
                </a:solidFill>
                <a:latin typeface="Trebuchet MS" panose="020B0603020202020204" pitchFamily="34" charset="0"/>
              </a:rPr>
              <a:t>The if…else statement can be used to modify the program that prints “Passed” when the grade is equal to or greater than 40 by alternatively printing “Failed” when the grade is less than 40. </a:t>
            </a:r>
          </a:p>
          <a:p>
            <a:pPr marL="0" indent="0">
              <a:buNone/>
            </a:pPr>
            <a:r>
              <a:rPr lang="en-US" sz="2500" b="0" i="0" u="none" strike="noStrike" baseline="0" dirty="0">
                <a:solidFill>
                  <a:schemeClr val="accent4"/>
                </a:solidFill>
                <a:latin typeface="Trebuchet MS" panose="020B0603020202020204" pitchFamily="34" charset="0"/>
              </a:rPr>
              <a:t>     if ( grade &gt;= 40){</a:t>
            </a:r>
          </a:p>
          <a:p>
            <a:pPr marL="0" indent="0">
              <a:buNone/>
            </a:pPr>
            <a:r>
              <a:rPr lang="en-US" sz="2500" dirty="0">
                <a:solidFill>
                  <a:schemeClr val="accent4"/>
                </a:solidFill>
                <a:latin typeface="Trebuchet MS" panose="020B0603020202020204" pitchFamily="34" charset="0"/>
              </a:rPr>
              <a:t>        </a:t>
            </a:r>
            <a:r>
              <a:rPr lang="en-US" sz="2500" b="0" i="0" u="none" strike="noStrike" baseline="0" dirty="0" err="1">
                <a:solidFill>
                  <a:schemeClr val="accent4"/>
                </a:solidFill>
                <a:latin typeface="Trebuchet MS" panose="020B0603020202020204" pitchFamily="34" charset="0"/>
              </a:rPr>
              <a:t>System.out.println</a:t>
            </a:r>
            <a:r>
              <a:rPr lang="en-US" sz="2500" b="0" i="0" u="none" strike="noStrike" baseline="0" dirty="0">
                <a:solidFill>
                  <a:schemeClr val="accent4"/>
                </a:solidFill>
                <a:latin typeface="Trebuchet MS" panose="020B0603020202020204" pitchFamily="34" charset="0"/>
              </a:rPr>
              <a:t>(“Passed”);</a:t>
            </a:r>
          </a:p>
          <a:p>
            <a:pPr marL="0" indent="0">
              <a:buNone/>
            </a:pPr>
            <a:r>
              <a:rPr lang="en-US" sz="2500" dirty="0">
                <a:solidFill>
                  <a:schemeClr val="accent4"/>
                </a:solidFill>
                <a:latin typeface="Trebuchet MS" panose="020B0603020202020204" pitchFamily="34" charset="0"/>
              </a:rPr>
              <a:t>     e</a:t>
            </a:r>
            <a:r>
              <a:rPr lang="en-US" sz="2500" b="0" i="0" u="none" strike="noStrike" baseline="0" dirty="0">
                <a:solidFill>
                  <a:schemeClr val="accent4"/>
                </a:solidFill>
                <a:latin typeface="Trebuchet MS" panose="020B0603020202020204" pitchFamily="34" charset="0"/>
              </a:rPr>
              <a:t>lse{</a:t>
            </a:r>
          </a:p>
          <a:p>
            <a:pPr marL="0" indent="0">
              <a:buNone/>
            </a:pPr>
            <a:r>
              <a:rPr lang="en-US" sz="2500" dirty="0">
                <a:solidFill>
                  <a:schemeClr val="accent4"/>
                </a:solidFill>
                <a:latin typeface="Trebuchet MS" panose="020B0603020202020204" pitchFamily="34" charset="0"/>
              </a:rPr>
              <a:t>        </a:t>
            </a:r>
            <a:r>
              <a:rPr lang="en-US" sz="2500" b="0" i="0" u="none" strike="noStrike" baseline="0" dirty="0" err="1">
                <a:solidFill>
                  <a:schemeClr val="accent4"/>
                </a:solidFill>
                <a:latin typeface="Trebuchet MS" panose="020B0603020202020204" pitchFamily="34" charset="0"/>
              </a:rPr>
              <a:t>System.out.println</a:t>
            </a:r>
            <a:r>
              <a:rPr lang="en-US" sz="2500" b="0" i="0" u="none" strike="noStrike" baseline="0" dirty="0">
                <a:solidFill>
                  <a:schemeClr val="accent4"/>
                </a:solidFill>
                <a:latin typeface="Trebuchet MS" panose="020B0603020202020204" pitchFamily="34" charset="0"/>
              </a:rPr>
              <a:t>(“Failed”);</a:t>
            </a:r>
          </a:p>
          <a:p>
            <a:pPr marL="0" indent="0">
              <a:buNone/>
            </a:pPr>
            <a:r>
              <a:rPr lang="en-US" sz="2500" dirty="0">
                <a:solidFill>
                  <a:schemeClr val="accent4"/>
                </a:solidFill>
                <a:latin typeface="Trebuchet MS" panose="020B0603020202020204" pitchFamily="34" charset="0"/>
              </a:rPr>
              <a:t>     }</a:t>
            </a:r>
            <a:endParaRPr lang="en-US" sz="2500" b="0" i="0" u="none" strike="noStrike" baseline="0" dirty="0">
              <a:solidFill>
                <a:schemeClr val="accent4"/>
              </a:solidFill>
              <a:latin typeface="Trebuchet MS" panose="020B0603020202020204" pitchFamily="34" charset="0"/>
            </a:endParaRPr>
          </a:p>
        </p:txBody>
      </p:sp>
    </p:spTree>
    <p:extLst>
      <p:ext uri="{BB962C8B-B14F-4D97-AF65-F5344CB8AC3E}">
        <p14:creationId xmlns:p14="http://schemas.microsoft.com/office/powerpoint/2010/main" val="3548487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90026" y="45720"/>
            <a:ext cx="10018713" cy="491490"/>
          </a:xfrm>
        </p:spPr>
        <p:txBody>
          <a:bodyPr>
            <a:noAutofit/>
          </a:bodyPr>
          <a:lstStyle/>
          <a:p>
            <a:r>
              <a:rPr lang="en-GB" sz="4000" b="0" i="0" u="none" strike="noStrike" baseline="0" dirty="0">
                <a:solidFill>
                  <a:srgbClr val="222222"/>
                </a:solidFill>
                <a:latin typeface="Trebuchet MS" panose="020B0603020202020204" pitchFamily="34" charset="0"/>
              </a:rPr>
              <a:t>Example</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485775"/>
            <a:ext cx="10267909" cy="6372225"/>
          </a:xfrm>
        </p:spPr>
        <p:txBody>
          <a:bodyPr>
            <a:noAutofit/>
          </a:bodyPr>
          <a:lstStyle/>
          <a:p>
            <a:r>
              <a:rPr lang="en-US" sz="2000" b="0" i="0" u="none" strike="noStrike" baseline="0" dirty="0">
                <a:solidFill>
                  <a:srgbClr val="222222"/>
                </a:solidFill>
                <a:latin typeface="Trebuchet MS" panose="020B0603020202020204" pitchFamily="34" charset="0"/>
              </a:rPr>
              <a:t>Write a simple program that finds the maximum of two numbers given by the user.                               </a:t>
            </a:r>
          </a:p>
          <a:p>
            <a:r>
              <a:rPr lang="en-US" sz="2000" b="1" i="0" u="none" strike="noStrike" baseline="0" dirty="0">
                <a:solidFill>
                  <a:srgbClr val="222222"/>
                </a:solidFill>
                <a:latin typeface="Trebuchet MS" panose="020B0603020202020204" pitchFamily="34" charset="0"/>
              </a:rPr>
              <a:t>Solution</a:t>
            </a:r>
          </a:p>
          <a:p>
            <a:pPr marL="0" indent="0">
              <a:buNone/>
            </a:pPr>
            <a:r>
              <a:rPr lang="en-US" sz="1400" b="0" i="0" u="none" strike="noStrike" baseline="0" dirty="0">
                <a:solidFill>
                  <a:schemeClr val="accent4"/>
                </a:solidFill>
                <a:latin typeface="Trebuchet MS" panose="020B0603020202020204" pitchFamily="34" charset="0"/>
              </a:rPr>
              <a:t>	import </a:t>
            </a:r>
            <a:r>
              <a:rPr lang="en-US" sz="1400" b="0" i="0" u="none" strike="noStrike" baseline="0" dirty="0" err="1">
                <a:solidFill>
                  <a:schemeClr val="accent4"/>
                </a:solidFill>
                <a:latin typeface="Trebuchet MS" panose="020B0603020202020204" pitchFamily="34" charset="0"/>
              </a:rPr>
              <a:t>java.util.Scanner</a:t>
            </a:r>
            <a:r>
              <a:rPr lang="en-US" sz="1400" b="0" i="0" u="none" strike="noStrike" baseline="0" dirty="0">
                <a:solidFill>
                  <a:schemeClr val="accent4"/>
                </a:solidFill>
                <a:latin typeface="Trebuchet MS" panose="020B0603020202020204" pitchFamily="34" charset="0"/>
              </a:rPr>
              <a:t>;</a:t>
            </a:r>
          </a:p>
          <a:p>
            <a:pPr marL="0" indent="0">
              <a:buNone/>
            </a:pPr>
            <a:r>
              <a:rPr lang="en-US" sz="1400" b="0" i="0" u="none" strike="noStrike" baseline="0" dirty="0">
                <a:solidFill>
                  <a:schemeClr val="accent4"/>
                </a:solidFill>
                <a:latin typeface="Trebuchet MS" panose="020B0603020202020204" pitchFamily="34" charset="0"/>
              </a:rPr>
              <a:t>	public class </a:t>
            </a:r>
            <a:r>
              <a:rPr lang="en-US" sz="1400" b="0" i="0" u="none" strike="noStrike" baseline="0" dirty="0" err="1">
                <a:solidFill>
                  <a:schemeClr val="accent4"/>
                </a:solidFill>
                <a:latin typeface="Trebuchet MS" panose="020B0603020202020204" pitchFamily="34" charset="0"/>
              </a:rPr>
              <a:t>Findmax</a:t>
            </a:r>
            <a:r>
              <a:rPr lang="en-US" sz="1400" b="0" i="0" u="none" strike="noStrike" baseline="0" dirty="0">
                <a:solidFill>
                  <a:schemeClr val="accent4"/>
                </a:solidFill>
                <a:latin typeface="Trebuchet MS" panose="020B0603020202020204" pitchFamily="34" charset="0"/>
              </a:rPr>
              <a:t>{</a:t>
            </a:r>
          </a:p>
          <a:p>
            <a:pPr marL="0" indent="0">
              <a:buNone/>
            </a:pPr>
            <a:r>
              <a:rPr lang="en-US" sz="1400" dirty="0">
                <a:solidFill>
                  <a:schemeClr val="accent4"/>
                </a:solidFill>
                <a:latin typeface="Trebuchet MS" panose="020B0603020202020204" pitchFamily="34" charset="0"/>
              </a:rPr>
              <a:t>	  </a:t>
            </a:r>
            <a:r>
              <a:rPr lang="en-US" sz="1400" b="0" i="0" u="none" strike="noStrike" baseline="0" dirty="0">
                <a:solidFill>
                  <a:schemeClr val="accent4"/>
                </a:solidFill>
                <a:latin typeface="Trebuchet MS" panose="020B0603020202020204" pitchFamily="34" charset="0"/>
              </a:rPr>
              <a:t> public static void main (String[] </a:t>
            </a:r>
            <a:r>
              <a:rPr lang="en-US" sz="1400" b="0" i="0" u="none" strike="noStrike" baseline="0" dirty="0" err="1">
                <a:solidFill>
                  <a:schemeClr val="accent4"/>
                </a:solidFill>
                <a:latin typeface="Trebuchet MS" panose="020B0603020202020204" pitchFamily="34" charset="0"/>
              </a:rPr>
              <a:t>args</a:t>
            </a:r>
            <a:r>
              <a:rPr lang="en-US" sz="1400" b="0" i="0" u="none" strike="noStrike" baseline="0" dirty="0">
                <a:solidFill>
                  <a:schemeClr val="accent4"/>
                </a:solidFill>
                <a:latin typeface="Trebuchet MS" panose="020B0603020202020204" pitchFamily="34" charset="0"/>
              </a:rPr>
              <a:t>){</a:t>
            </a:r>
          </a:p>
          <a:p>
            <a:pPr marL="0" indent="0">
              <a:buNone/>
            </a:pPr>
            <a:r>
              <a:rPr lang="en-US" sz="1400" b="0" i="0" u="none" strike="noStrike" baseline="0" dirty="0">
                <a:solidFill>
                  <a:schemeClr val="accent4"/>
                </a:solidFill>
                <a:latin typeface="Trebuchet MS" panose="020B0603020202020204" pitchFamily="34" charset="0"/>
              </a:rPr>
              <a:t>		Scanner input = new Scanner( System.in );</a:t>
            </a:r>
          </a:p>
          <a:p>
            <a:pPr marL="0" indent="0">
              <a:buNone/>
            </a:pPr>
            <a:r>
              <a:rPr lang="en-US" sz="1400" b="0" i="0" u="none" strike="noStrike" baseline="0" dirty="0">
                <a:solidFill>
                  <a:schemeClr val="accent4"/>
                </a:solidFill>
                <a:latin typeface="Trebuchet MS" panose="020B0603020202020204" pitchFamily="34" charset="0"/>
              </a:rPr>
              <a:t>		int numb1, numb2, max;</a:t>
            </a:r>
          </a:p>
          <a:p>
            <a:pPr marL="0" indent="0">
              <a:buNone/>
            </a:pPr>
            <a:r>
              <a:rPr lang="en-US" sz="1400" b="0" i="0" u="none" strike="noStrike" baseline="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a:t>
            </a:r>
            <a:r>
              <a:rPr lang="en-US" sz="1400" b="0" i="0" u="none" strike="noStrike" baseline="0" dirty="0">
                <a:solidFill>
                  <a:schemeClr val="accent4"/>
                </a:solidFill>
                <a:latin typeface="Trebuchet MS" panose="020B0603020202020204" pitchFamily="34" charset="0"/>
              </a:rPr>
              <a:t>("Enter the </a:t>
            </a:r>
            <a:r>
              <a:rPr lang="en-US" sz="1400" b="0" i="0" u="none" strike="noStrike" baseline="0" dirty="0" err="1">
                <a:solidFill>
                  <a:schemeClr val="accent4"/>
                </a:solidFill>
                <a:latin typeface="Trebuchet MS" panose="020B0603020202020204" pitchFamily="34" charset="0"/>
              </a:rPr>
              <a:t>fisrt</a:t>
            </a:r>
            <a:r>
              <a:rPr lang="en-US" sz="1400" b="0" i="0" u="none" strike="noStrike" baseline="0" dirty="0">
                <a:solidFill>
                  <a:schemeClr val="accent4"/>
                </a:solidFill>
                <a:latin typeface="Trebuchet MS" panose="020B0603020202020204" pitchFamily="34" charset="0"/>
              </a:rPr>
              <a:t> number: ");</a:t>
            </a:r>
          </a:p>
          <a:p>
            <a:pPr marL="0" indent="0">
              <a:buNone/>
            </a:pPr>
            <a:r>
              <a:rPr lang="en-US" sz="1400" b="0" i="0" u="none" strike="noStrike" baseline="0" dirty="0">
                <a:solidFill>
                  <a:schemeClr val="accent4"/>
                </a:solidFill>
                <a:latin typeface="Trebuchet MS" panose="020B0603020202020204" pitchFamily="34" charset="0"/>
              </a:rPr>
              <a:t>		numb1 =</a:t>
            </a:r>
            <a:r>
              <a:rPr lang="en-US" sz="1400" b="0" i="0" u="none" strike="noStrike" baseline="0" dirty="0" err="1">
                <a:solidFill>
                  <a:schemeClr val="accent4"/>
                </a:solidFill>
                <a:latin typeface="Trebuchet MS" panose="020B0603020202020204" pitchFamily="34" charset="0"/>
              </a:rPr>
              <a:t>input.nextInt</a:t>
            </a:r>
            <a:r>
              <a:rPr lang="en-US" sz="1400" b="0" i="0" u="none" strike="noStrike" baseline="0" dirty="0">
                <a:solidFill>
                  <a:schemeClr val="accent4"/>
                </a:solidFill>
                <a:latin typeface="Trebuchet MS" panose="020B0603020202020204" pitchFamily="34" charset="0"/>
              </a:rPr>
              <a:t>();</a:t>
            </a:r>
          </a:p>
          <a:p>
            <a:pPr marL="0" indent="0">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a:t>
            </a:r>
            <a:r>
              <a:rPr lang="en-US" sz="1400" b="0" i="0" u="none" strike="noStrike" baseline="0" dirty="0">
                <a:solidFill>
                  <a:schemeClr val="accent4"/>
                </a:solidFill>
                <a:latin typeface="Trebuchet MS" panose="020B0603020202020204" pitchFamily="34" charset="0"/>
              </a:rPr>
              <a:t>("Enter the second number: ");</a:t>
            </a:r>
          </a:p>
          <a:p>
            <a:pPr marL="0" indent="0">
              <a:buNone/>
            </a:pPr>
            <a:r>
              <a:rPr lang="en-US" sz="1400" dirty="0">
                <a:solidFill>
                  <a:schemeClr val="accent4"/>
                </a:solidFill>
                <a:latin typeface="Trebuchet MS" panose="020B0603020202020204" pitchFamily="34" charset="0"/>
              </a:rPr>
              <a:t>		</a:t>
            </a:r>
            <a:r>
              <a:rPr lang="en-US" sz="1400" b="0" i="0" u="none" strike="noStrike" baseline="0" dirty="0">
                <a:solidFill>
                  <a:schemeClr val="accent4"/>
                </a:solidFill>
                <a:latin typeface="Trebuchet MS" panose="020B0603020202020204" pitchFamily="34" charset="0"/>
              </a:rPr>
              <a:t>numb2 =</a:t>
            </a:r>
            <a:r>
              <a:rPr lang="en-US" sz="1400" b="0" i="0" u="none" strike="noStrike" baseline="0" dirty="0" err="1">
                <a:solidFill>
                  <a:schemeClr val="accent4"/>
                </a:solidFill>
                <a:latin typeface="Trebuchet MS" panose="020B0603020202020204" pitchFamily="34" charset="0"/>
              </a:rPr>
              <a:t>input.nextInt</a:t>
            </a:r>
            <a:r>
              <a:rPr lang="en-US" sz="1400" b="0" i="0" u="none" strike="noStrike" baseline="0" dirty="0">
                <a:solidFill>
                  <a:schemeClr val="accent4"/>
                </a:solidFill>
                <a:latin typeface="Trebuchet MS" panose="020B0603020202020204" pitchFamily="34" charset="0"/>
              </a:rPr>
              <a:t>();</a:t>
            </a:r>
          </a:p>
          <a:p>
            <a:pPr marL="0" indent="0">
              <a:buNone/>
            </a:pPr>
            <a:r>
              <a:rPr lang="en-US" sz="1400" b="0" i="0" u="none" strike="noStrike" baseline="0" dirty="0">
                <a:solidFill>
                  <a:schemeClr val="accent4"/>
                </a:solidFill>
                <a:latin typeface="Trebuchet MS" panose="020B0603020202020204" pitchFamily="34" charset="0"/>
              </a:rPr>
              <a:t>		if (numb1 &gt; numb2){</a:t>
            </a:r>
          </a:p>
          <a:p>
            <a:pPr marL="0" indent="0">
              <a:buNone/>
            </a:pPr>
            <a:r>
              <a:rPr lang="en-US" sz="1400" dirty="0">
                <a:solidFill>
                  <a:schemeClr val="accent4"/>
                </a:solidFill>
                <a:latin typeface="Trebuchet MS" panose="020B0603020202020204" pitchFamily="34" charset="0"/>
              </a:rPr>
              <a:t>			</a:t>
            </a:r>
            <a:r>
              <a:rPr lang="en-US" sz="1400" b="0" i="0" u="none" strike="noStrike" baseline="0" dirty="0">
                <a:solidFill>
                  <a:schemeClr val="accent4"/>
                </a:solidFill>
                <a:latin typeface="Trebuchet MS" panose="020B0603020202020204" pitchFamily="34" charset="0"/>
              </a:rPr>
              <a:t>max = numb1;</a:t>
            </a:r>
          </a:p>
          <a:p>
            <a:pPr marL="0" indent="0">
              <a:buNone/>
            </a:pPr>
            <a:r>
              <a:rPr lang="en-US" sz="1400" b="0" i="0" u="none" strike="noStrike" baseline="0" dirty="0">
                <a:solidFill>
                  <a:schemeClr val="accent4"/>
                </a:solidFill>
                <a:latin typeface="Trebuchet MS" panose="020B0603020202020204" pitchFamily="34" charset="0"/>
              </a:rPr>
              <a:t>		else{</a:t>
            </a:r>
          </a:p>
          <a:p>
            <a:pPr marL="0" indent="0">
              <a:buNone/>
            </a:pPr>
            <a:r>
              <a:rPr lang="en-US" sz="1400" dirty="0">
                <a:solidFill>
                  <a:schemeClr val="accent4"/>
                </a:solidFill>
                <a:latin typeface="Trebuchet MS" panose="020B0603020202020204" pitchFamily="34" charset="0"/>
              </a:rPr>
              <a:t>			</a:t>
            </a:r>
            <a:r>
              <a:rPr lang="en-US" sz="1400" b="0" i="0" u="none" strike="noStrike" baseline="0" dirty="0">
                <a:solidFill>
                  <a:schemeClr val="accent4"/>
                </a:solidFill>
                <a:latin typeface="Trebuchet MS" panose="020B0603020202020204" pitchFamily="34" charset="0"/>
              </a:rPr>
              <a:t>max = numb2;  </a:t>
            </a:r>
          </a:p>
          <a:p>
            <a:pPr marL="0" indent="0">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("The Maximum of the two numbers is: "+max); </a:t>
            </a:r>
          </a:p>
          <a:p>
            <a:r>
              <a:rPr lang="en-US" sz="1400" b="0" i="0" u="none" strike="noStrike" baseline="0" dirty="0">
                <a:solidFill>
                  <a:schemeClr val="accent4"/>
                </a:solidFill>
                <a:latin typeface="Trebuchet MS" panose="020B0603020202020204" pitchFamily="34" charset="0"/>
              </a:rPr>
              <a:t>       }</a:t>
            </a:r>
          </a:p>
          <a:p>
            <a:r>
              <a:rPr lang="en-US" sz="1400" b="0" i="0" u="none" strike="noStrike" baseline="0" dirty="0">
                <a:solidFill>
                  <a:schemeClr val="accent4"/>
                </a:solidFill>
                <a:latin typeface="Trebuchet MS" panose="020B0603020202020204" pitchFamily="34" charset="0"/>
              </a:rPr>
              <a:t>  } </a:t>
            </a:r>
          </a:p>
        </p:txBody>
      </p:sp>
    </p:spTree>
    <p:extLst>
      <p:ext uri="{BB962C8B-B14F-4D97-AF65-F5344CB8AC3E}">
        <p14:creationId xmlns:p14="http://schemas.microsoft.com/office/powerpoint/2010/main" val="3956655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325755"/>
          </a:xfrm>
        </p:spPr>
        <p:txBody>
          <a:bodyPr>
            <a:noAutofit/>
          </a:bodyPr>
          <a:lstStyle/>
          <a:p>
            <a:r>
              <a:rPr lang="en-GB" sz="3200" dirty="0">
                <a:solidFill>
                  <a:srgbClr val="222222"/>
                </a:solidFill>
                <a:latin typeface="Trebuchet MS" panose="020B0603020202020204" pitchFamily="34" charset="0"/>
              </a:rPr>
              <a:t>Multiple</a:t>
            </a:r>
            <a:r>
              <a:rPr lang="en-GB" sz="3200" b="0" i="0" u="none" strike="noStrike" baseline="0" dirty="0">
                <a:solidFill>
                  <a:srgbClr val="222222"/>
                </a:solidFill>
                <a:latin typeface="Trebuchet MS" panose="020B0603020202020204" pitchFamily="34" charset="0"/>
              </a:rPr>
              <a:t> Selection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554355"/>
            <a:ext cx="10267909" cy="6303645"/>
          </a:xfrm>
        </p:spPr>
        <p:txBody>
          <a:bodyPr>
            <a:noAutofit/>
          </a:bodyPr>
          <a:lstStyle/>
          <a:p>
            <a:r>
              <a:rPr lang="en-US" b="0" i="0" u="none" strike="noStrike" baseline="0" dirty="0">
                <a:solidFill>
                  <a:srgbClr val="222222"/>
                </a:solidFill>
                <a:latin typeface="Trebuchet MS" panose="020B0603020202020204" pitchFamily="34" charset="0"/>
              </a:rPr>
              <a:t>The multiple selection statement selects among many different actions. </a:t>
            </a:r>
          </a:p>
          <a:p>
            <a:r>
              <a:rPr lang="en-US" b="0" i="0" u="none" strike="noStrike" baseline="0" dirty="0">
                <a:solidFill>
                  <a:srgbClr val="222222"/>
                </a:solidFill>
                <a:latin typeface="Trebuchet MS" panose="020B0603020202020204" pitchFamily="34" charset="0"/>
              </a:rPr>
              <a:t>It may select one of many different actions depending on the value of an expression. </a:t>
            </a:r>
          </a:p>
          <a:p>
            <a:r>
              <a:rPr lang="en-US" b="0" i="0" u="none" strike="noStrike" baseline="0" dirty="0">
                <a:solidFill>
                  <a:srgbClr val="222222"/>
                </a:solidFill>
                <a:latin typeface="Trebuchet MS" panose="020B0603020202020204" pitchFamily="34" charset="0"/>
              </a:rPr>
              <a:t>Examples of multiple selection statements include Nested if…else and Switch statements. </a:t>
            </a:r>
          </a:p>
          <a:p>
            <a:r>
              <a:rPr lang="en-US" b="0" i="0" u="none" strike="noStrike" baseline="0" dirty="0">
                <a:solidFill>
                  <a:srgbClr val="222222"/>
                </a:solidFill>
                <a:latin typeface="Trebuchet MS" panose="020B0603020202020204" pitchFamily="34" charset="0"/>
              </a:rPr>
              <a:t>The general structure for Nested if…else is:</a:t>
            </a:r>
          </a:p>
          <a:p>
            <a:pPr marL="0" indent="0">
              <a:buNone/>
            </a:pPr>
            <a:r>
              <a:rPr lang="en-US" sz="2200" b="0" i="0" u="none" strike="noStrike" baseline="0" dirty="0">
                <a:solidFill>
                  <a:srgbClr val="222222"/>
                </a:solidFill>
                <a:latin typeface="Trebuchet MS" panose="020B0603020202020204" pitchFamily="34" charset="0"/>
              </a:rPr>
              <a:t>			</a:t>
            </a:r>
            <a:r>
              <a:rPr lang="en-US" sz="2200" b="0" i="0" u="none" strike="noStrike" baseline="0" dirty="0">
                <a:solidFill>
                  <a:schemeClr val="accent4"/>
                </a:solidFill>
                <a:latin typeface="Trebuchet MS" panose="020B0603020202020204" pitchFamily="34" charset="0"/>
              </a:rPr>
              <a:t>if(condition1){ </a:t>
            </a:r>
          </a:p>
          <a:p>
            <a:pPr marL="0" indent="0">
              <a:buNone/>
            </a:pPr>
            <a:r>
              <a:rPr lang="en-US" sz="2200" b="0" i="0" u="none" strike="noStrike" baseline="0" dirty="0">
                <a:solidFill>
                  <a:schemeClr val="accent4"/>
                </a:solidFill>
                <a:latin typeface="Trebuchet MS" panose="020B0603020202020204" pitchFamily="34" charset="0"/>
              </a:rPr>
              <a:t>				statement1</a:t>
            </a:r>
          </a:p>
          <a:p>
            <a:pPr marL="0" indent="0">
              <a:buNone/>
            </a:pPr>
            <a:r>
              <a:rPr lang="en-US" sz="2200" b="0" i="0" u="none" strike="noStrike" baseline="0" dirty="0">
                <a:solidFill>
                  <a:schemeClr val="accent4"/>
                </a:solidFill>
                <a:latin typeface="Trebuchet MS" panose="020B0603020202020204" pitchFamily="34" charset="0"/>
              </a:rPr>
              <a:t>			else if(condition2){</a:t>
            </a:r>
          </a:p>
          <a:p>
            <a:pPr marL="0" indent="0">
              <a:buNone/>
            </a:pPr>
            <a:r>
              <a:rPr lang="en-US" sz="2200" dirty="0">
                <a:solidFill>
                  <a:schemeClr val="accent4"/>
                </a:solidFill>
                <a:latin typeface="Trebuchet MS" panose="020B0603020202020204" pitchFamily="34" charset="0"/>
              </a:rPr>
              <a:t>				</a:t>
            </a:r>
            <a:r>
              <a:rPr lang="en-US" sz="2200" b="0" i="0" u="none" strike="noStrike" baseline="0" dirty="0">
                <a:solidFill>
                  <a:schemeClr val="accent4"/>
                </a:solidFill>
                <a:latin typeface="Trebuchet MS" panose="020B0603020202020204" pitchFamily="34" charset="0"/>
              </a:rPr>
              <a:t>statement2</a:t>
            </a:r>
          </a:p>
          <a:p>
            <a:pPr marL="0" indent="0">
              <a:buNone/>
            </a:pPr>
            <a:r>
              <a:rPr lang="en-US" sz="2200" b="0" i="0" u="none" strike="noStrike" baseline="0" dirty="0">
                <a:solidFill>
                  <a:schemeClr val="accent4"/>
                </a:solidFill>
                <a:latin typeface="Trebuchet MS" panose="020B0603020202020204" pitchFamily="34" charset="0"/>
              </a:rPr>
              <a:t>			...</a:t>
            </a:r>
          </a:p>
          <a:p>
            <a:pPr marL="0" indent="0">
              <a:buNone/>
            </a:pPr>
            <a:r>
              <a:rPr lang="en-US" sz="2200" dirty="0">
                <a:solidFill>
                  <a:schemeClr val="accent4"/>
                </a:solidFill>
                <a:latin typeface="Trebuchet MS" panose="020B0603020202020204" pitchFamily="34" charset="0"/>
              </a:rPr>
              <a:t>		 	</a:t>
            </a:r>
            <a:r>
              <a:rPr lang="en-US" sz="2200" b="0" i="0" u="none" strike="noStrike" baseline="0" dirty="0">
                <a:solidFill>
                  <a:schemeClr val="accent4"/>
                </a:solidFill>
                <a:latin typeface="Trebuchet MS" panose="020B0603020202020204" pitchFamily="34" charset="0"/>
              </a:rPr>
              <a:t>else{</a:t>
            </a:r>
          </a:p>
          <a:p>
            <a:r>
              <a:rPr lang="en-US" sz="2200" b="0" i="0" u="none" strike="noStrike" baseline="0" dirty="0">
                <a:solidFill>
                  <a:schemeClr val="accent4"/>
                </a:solidFill>
                <a:latin typeface="Trebuchet MS" panose="020B0603020202020204" pitchFamily="34" charset="0"/>
              </a:rPr>
              <a:t>	         		</a:t>
            </a:r>
            <a:r>
              <a:rPr lang="en-US" sz="2200" b="0" i="0" u="none" strike="noStrike" baseline="0" dirty="0" err="1">
                <a:solidFill>
                  <a:schemeClr val="accent4"/>
                </a:solidFill>
                <a:latin typeface="Trebuchet MS" panose="020B0603020202020204" pitchFamily="34" charset="0"/>
              </a:rPr>
              <a:t>statementN</a:t>
            </a:r>
            <a:endParaRPr lang="en-US" sz="2200" b="0" i="0" u="none" strike="noStrike" baseline="0" dirty="0">
              <a:solidFill>
                <a:schemeClr val="accent4"/>
              </a:solidFill>
              <a:latin typeface="Trebuchet MS" panose="020B0603020202020204" pitchFamily="34" charset="0"/>
            </a:endParaRPr>
          </a:p>
        </p:txBody>
      </p:sp>
    </p:spTree>
    <p:extLst>
      <p:ext uri="{BB962C8B-B14F-4D97-AF65-F5344CB8AC3E}">
        <p14:creationId xmlns:p14="http://schemas.microsoft.com/office/powerpoint/2010/main" val="2249852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325755"/>
          </a:xfrm>
        </p:spPr>
        <p:txBody>
          <a:bodyPr>
            <a:noAutofit/>
          </a:bodyPr>
          <a:lstStyle/>
          <a:p>
            <a:r>
              <a:rPr lang="en-GB" sz="2800" dirty="0">
                <a:solidFill>
                  <a:srgbClr val="222222"/>
                </a:solidFill>
                <a:latin typeface="Trebuchet MS" panose="020B0603020202020204" pitchFamily="34" charset="0"/>
              </a:rPr>
              <a:t>Example</a:t>
            </a:r>
            <a:endParaRPr lang="en-GB" sz="2800" b="0" i="0" u="none" strike="noStrike" baseline="0" dirty="0">
              <a:solidFill>
                <a:srgbClr val="222222"/>
              </a:solidFill>
              <a:latin typeface="Trebuchet MS" panose="020B0603020202020204" pitchFamily="34" charset="0"/>
            </a:endParaRP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554355"/>
            <a:ext cx="10267909" cy="6303645"/>
          </a:xfrm>
        </p:spPr>
        <p:txBody>
          <a:bodyPr>
            <a:noAutofit/>
          </a:bodyPr>
          <a:lstStyle/>
          <a:p>
            <a:r>
              <a:rPr lang="en-US" sz="1800" b="0" i="0" u="none" strike="noStrike" baseline="0" dirty="0">
                <a:solidFill>
                  <a:srgbClr val="222222"/>
                </a:solidFill>
                <a:latin typeface="Trebuchet MS" panose="020B0603020202020204" pitchFamily="34" charset="0"/>
              </a:rPr>
              <a:t>Write a program to read the day of the week in a number [1…7] and display the equivalent name of the day given by the user.                  </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import </a:t>
            </a:r>
            <a:r>
              <a:rPr lang="en-US" sz="1400" b="0" i="0" u="none" strike="noStrike" baseline="0" dirty="0" err="1">
                <a:solidFill>
                  <a:schemeClr val="accent4"/>
                </a:solidFill>
                <a:latin typeface="Trebuchet MS" panose="020B0603020202020204" pitchFamily="34" charset="0"/>
              </a:rPr>
              <a:t>java.util.Scanner</a:t>
            </a:r>
            <a:r>
              <a:rPr lang="en-US" sz="1400" b="0" i="0" u="none" strike="noStrike" baseline="0" dirty="0">
                <a:solidFill>
                  <a:schemeClr val="accent4"/>
                </a:solidFill>
                <a:latin typeface="Trebuchet MS" panose="020B0603020202020204" pitchFamily="34" charset="0"/>
              </a:rPr>
              <a:t>;</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public class </a:t>
            </a:r>
            <a:r>
              <a:rPr lang="en-US" sz="1400" b="0" i="0" u="none" strike="noStrike" baseline="0" dirty="0" err="1">
                <a:solidFill>
                  <a:schemeClr val="accent4"/>
                </a:solidFill>
                <a:latin typeface="Trebuchet MS" panose="020B0603020202020204" pitchFamily="34" charset="0"/>
              </a:rPr>
              <a:t>Dayweek</a:t>
            </a:r>
            <a:r>
              <a:rPr lang="en-US" sz="1400" b="0" i="0" u="none" strike="noStrike" baseline="0" dirty="0">
                <a:solidFill>
                  <a:schemeClr val="accent4"/>
                </a:solidFill>
                <a:latin typeface="Trebuchet MS" panose="020B0603020202020204" pitchFamily="34" charset="0"/>
              </a:rPr>
              <a:t> {</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public static void main(String[] </a:t>
            </a:r>
            <a:r>
              <a:rPr lang="en-US" sz="1400" b="0" i="0" u="none" strike="noStrike" baseline="0" dirty="0" err="1">
                <a:solidFill>
                  <a:schemeClr val="accent4"/>
                </a:solidFill>
                <a:latin typeface="Trebuchet MS" panose="020B0603020202020204" pitchFamily="34" charset="0"/>
              </a:rPr>
              <a:t>args</a:t>
            </a:r>
            <a:r>
              <a:rPr lang="en-US" sz="1400" b="0" i="0" u="none" strike="noStrike" baseline="0" dirty="0">
                <a:solidFill>
                  <a:schemeClr val="accent4"/>
                </a:solidFill>
                <a:latin typeface="Trebuchet MS" panose="020B0603020202020204" pitchFamily="34" charset="0"/>
              </a:rPr>
              <a:t>) {</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Scanner input = new Scanner(System.in);</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int </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a:t>
            </a:r>
            <a:r>
              <a:rPr lang="en-US" sz="1400" b="0" i="0" u="none" strike="noStrike" baseline="0" dirty="0">
                <a:solidFill>
                  <a:schemeClr val="accent4"/>
                </a:solidFill>
                <a:latin typeface="Trebuchet MS" panose="020B0603020202020204" pitchFamily="34" charset="0"/>
              </a:rPr>
              <a:t>("Enter a number [1 .. 7]: ");</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a:t>
            </a:r>
            <a:r>
              <a:rPr lang="en-US" sz="1400" b="0" i="0" u="none" strike="noStrike" baseline="0" dirty="0" err="1">
                <a:solidFill>
                  <a:schemeClr val="accent4"/>
                </a:solidFill>
                <a:latin typeface="Trebuchet MS" panose="020B0603020202020204" pitchFamily="34" charset="0"/>
              </a:rPr>
              <a:t>input.nextInt</a:t>
            </a:r>
            <a:r>
              <a:rPr lang="en-US" sz="1400" b="0" i="0" u="none" strike="noStrike" baseline="0" dirty="0">
                <a:solidFill>
                  <a:schemeClr val="accent4"/>
                </a:solidFill>
                <a:latin typeface="Trebuchet MS" panose="020B0603020202020204" pitchFamily="34" charset="0"/>
              </a:rPr>
              <a:t>();</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a:solidFill>
                  <a:schemeClr val="accent4"/>
                </a:solidFill>
                <a:latin typeface="Trebuchet MS" panose="020B0603020202020204" pitchFamily="34" charset="0"/>
              </a:rPr>
              <a:t>if(</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 == 1)     </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("Saturday");</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else if(</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 == 2)</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("Sunday");</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else if(</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 == 3)</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("Monday"); </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else if(</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 == 4)</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("Tuesday");</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else if(</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 == 5)</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("Wednesday");</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else if(</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 == 6)</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("Thursday"); </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else if(</a:t>
            </a:r>
            <a:r>
              <a:rPr lang="en-US" sz="1400" b="0" i="0" u="none" strike="noStrike" baseline="0" dirty="0" err="1">
                <a:solidFill>
                  <a:schemeClr val="accent4"/>
                </a:solidFill>
                <a:latin typeface="Trebuchet MS" panose="020B0603020202020204" pitchFamily="34" charset="0"/>
              </a:rPr>
              <a:t>dayNumber</a:t>
            </a:r>
            <a:r>
              <a:rPr lang="en-US" sz="1400" b="0" i="0" u="none" strike="noStrike" baseline="0" dirty="0">
                <a:solidFill>
                  <a:schemeClr val="accent4"/>
                </a:solidFill>
                <a:latin typeface="Trebuchet MS" panose="020B0603020202020204" pitchFamily="34" charset="0"/>
              </a:rPr>
              <a:t> == 7)</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("Friday"); </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a:solidFill>
                  <a:schemeClr val="accent4"/>
                </a:solidFill>
                <a:latin typeface="Trebuchet MS" panose="020B0603020202020204" pitchFamily="34" charset="0"/>
              </a:rPr>
              <a:t>else</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err="1">
                <a:solidFill>
                  <a:schemeClr val="accent4"/>
                </a:solidFill>
                <a:latin typeface="Trebuchet MS" panose="020B0603020202020204" pitchFamily="34" charset="0"/>
              </a:rPr>
              <a:t>System.out.println</a:t>
            </a:r>
            <a:r>
              <a:rPr lang="en-US" sz="1400" b="0" i="0" u="none" strike="noStrike" baseline="0" dirty="0">
                <a:solidFill>
                  <a:schemeClr val="accent4"/>
                </a:solidFill>
                <a:latin typeface="Trebuchet MS" panose="020B0603020202020204" pitchFamily="34" charset="0"/>
              </a:rPr>
              <a:t>("Wrong input");</a:t>
            </a:r>
          </a:p>
          <a:p>
            <a:pPr marL="0" indent="0">
              <a:spcBef>
                <a:spcPts val="0"/>
              </a:spcBef>
              <a:spcAft>
                <a:spcPts val="0"/>
              </a:spcAft>
              <a:buNone/>
            </a:pPr>
            <a:r>
              <a:rPr lang="en-US" sz="1400" dirty="0">
                <a:solidFill>
                  <a:schemeClr val="accent4"/>
                </a:solidFill>
                <a:latin typeface="Trebuchet MS" panose="020B0603020202020204" pitchFamily="34" charset="0"/>
              </a:rPr>
              <a:t>		</a:t>
            </a:r>
            <a:r>
              <a:rPr lang="en-US" sz="1400" b="0" i="0" u="none" strike="noStrike" baseline="0" dirty="0">
                <a:solidFill>
                  <a:schemeClr val="accent4"/>
                </a:solidFill>
                <a:latin typeface="Trebuchet MS" panose="020B0603020202020204" pitchFamily="34" charset="0"/>
              </a:rPr>
              <a:t>}</a:t>
            </a:r>
          </a:p>
          <a:p>
            <a:pPr marL="0" indent="0">
              <a:spcBef>
                <a:spcPts val="0"/>
              </a:spcBef>
              <a:spcAft>
                <a:spcPts val="0"/>
              </a:spcAft>
              <a:buNone/>
            </a:pPr>
            <a:r>
              <a:rPr lang="en-US" sz="1400" b="0" i="0" u="none" strike="noStrike" baseline="0" dirty="0">
                <a:solidFill>
                  <a:schemeClr val="accent4"/>
                </a:solidFill>
                <a:latin typeface="Trebuchet MS" panose="020B0603020202020204" pitchFamily="34" charset="0"/>
              </a:rPr>
              <a:t>	}</a:t>
            </a:r>
          </a:p>
          <a:p>
            <a:endParaRPr lang="en-US" sz="2200" b="0" i="0" u="none" strike="noStrike" baseline="0" dirty="0">
              <a:solidFill>
                <a:schemeClr val="accent4"/>
              </a:solidFill>
              <a:latin typeface="Trebuchet MS" panose="020B0603020202020204" pitchFamily="34" charset="0"/>
            </a:endParaRPr>
          </a:p>
        </p:txBody>
      </p:sp>
    </p:spTree>
    <p:extLst>
      <p:ext uri="{BB962C8B-B14F-4D97-AF65-F5344CB8AC3E}">
        <p14:creationId xmlns:p14="http://schemas.microsoft.com/office/powerpoint/2010/main" val="3619179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0"/>
            <a:ext cx="10018713" cy="382905"/>
          </a:xfrm>
        </p:spPr>
        <p:txBody>
          <a:bodyPr>
            <a:noAutofit/>
          </a:bodyPr>
          <a:lstStyle/>
          <a:p>
            <a:r>
              <a:rPr lang="en-GB" sz="3200" b="0" i="0" u="none" strike="noStrike" baseline="0" dirty="0">
                <a:solidFill>
                  <a:srgbClr val="222222"/>
                </a:solidFill>
                <a:latin typeface="Trebuchet MS" panose="020B0603020202020204" pitchFamily="34" charset="0"/>
              </a:rPr>
              <a:t>Dangling else problem</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382905"/>
            <a:ext cx="10267909" cy="6475095"/>
          </a:xfrm>
        </p:spPr>
        <p:txBody>
          <a:bodyPr>
            <a:noAutofit/>
          </a:bodyPr>
          <a:lstStyle/>
          <a:p>
            <a:r>
              <a:rPr lang="en-US" sz="2200" b="0" i="0" u="none" strike="noStrike" baseline="0" dirty="0">
                <a:solidFill>
                  <a:srgbClr val="222222"/>
                </a:solidFill>
                <a:latin typeface="Trebuchet MS" panose="020B0603020202020204" pitchFamily="34" charset="0"/>
              </a:rPr>
              <a:t>The dangling else problem is an ambiguity of language interpretation. </a:t>
            </a:r>
          </a:p>
          <a:p>
            <a:r>
              <a:rPr lang="en-US" sz="2200" b="0" i="0" u="none" strike="noStrike" baseline="0" dirty="0">
                <a:solidFill>
                  <a:srgbClr val="222222"/>
                </a:solidFill>
                <a:latin typeface="Trebuchet MS" panose="020B0603020202020204" pitchFamily="34" charset="0"/>
              </a:rPr>
              <a:t>In programming, we can write conditionally executed code in the following two forms:</a:t>
            </a:r>
          </a:p>
          <a:p>
            <a:pPr lvl="1"/>
            <a:r>
              <a:rPr lang="en-US" sz="1800" b="0" i="0" u="none" strike="noStrike" baseline="0" dirty="0">
                <a:solidFill>
                  <a:srgbClr val="222222"/>
                </a:solidFill>
                <a:latin typeface="Trebuchet MS" panose="020B0603020202020204" pitchFamily="34" charset="0"/>
              </a:rPr>
              <a:t>if-then form</a:t>
            </a:r>
          </a:p>
          <a:p>
            <a:pPr lvl="1"/>
            <a:r>
              <a:rPr lang="en-US" sz="1800" b="0" i="0" u="none" strike="noStrike" baseline="0" dirty="0">
                <a:solidFill>
                  <a:srgbClr val="222222"/>
                </a:solidFill>
                <a:latin typeface="Trebuchet MS" panose="020B0603020202020204" pitchFamily="34" charset="0"/>
              </a:rPr>
              <a:t>if-then-else form</a:t>
            </a:r>
          </a:p>
          <a:p>
            <a:r>
              <a:rPr lang="en-US" sz="2200" b="0" i="0" u="none" strike="noStrike" baseline="0" dirty="0">
                <a:solidFill>
                  <a:srgbClr val="222222"/>
                </a:solidFill>
                <a:latin typeface="Trebuchet MS" panose="020B0603020202020204" pitchFamily="34" charset="0"/>
              </a:rPr>
              <a:t>The problem rarely occurs while we deal with the nested if-else statement. </a:t>
            </a:r>
          </a:p>
          <a:p>
            <a:r>
              <a:rPr lang="en-US" sz="2200" b="0" i="0" u="none" strike="noStrike" baseline="0" dirty="0">
                <a:solidFill>
                  <a:srgbClr val="222222"/>
                </a:solidFill>
                <a:latin typeface="Trebuchet MS" panose="020B0603020202020204" pitchFamily="34" charset="0"/>
              </a:rPr>
              <a:t>It is an ambiguity in which it is not clear which if statement is associated with the else clause. </a:t>
            </a:r>
          </a:p>
          <a:p>
            <a:r>
              <a:rPr lang="en-US" sz="2200" b="0" i="0" u="none" strike="noStrike" baseline="0" dirty="0">
                <a:solidFill>
                  <a:srgbClr val="222222"/>
                </a:solidFill>
                <a:latin typeface="Trebuchet MS" panose="020B0603020202020204" pitchFamily="34" charset="0"/>
              </a:rPr>
              <a:t>For example, if X then if Y then E1 else E2 but it is not unacceptable in programming.</a:t>
            </a:r>
          </a:p>
          <a:p>
            <a:pPr lvl="1"/>
            <a:r>
              <a:rPr lang="en-US" sz="1800" b="0" i="0" u="none" strike="noStrike" baseline="0" dirty="0">
                <a:solidFill>
                  <a:srgbClr val="222222"/>
                </a:solidFill>
                <a:latin typeface="Trebuchet MS" panose="020B0603020202020204" pitchFamily="34" charset="0"/>
              </a:rPr>
              <a:t>From the above statement, it is clear that there are two if statements and a single else statement.</a:t>
            </a:r>
          </a:p>
          <a:p>
            <a:pPr lvl="1"/>
            <a:r>
              <a:rPr lang="en-US" sz="1800" b="0" i="0" u="none" strike="noStrike" baseline="0" dirty="0">
                <a:solidFill>
                  <a:srgbClr val="222222"/>
                </a:solidFill>
                <a:latin typeface="Trebuchet MS" panose="020B0603020202020204" pitchFamily="34" charset="0"/>
              </a:rPr>
              <a:t>But it is not clear which if statement is associated with else statement.</a:t>
            </a:r>
          </a:p>
          <a:p>
            <a:pPr lvl="1"/>
            <a:r>
              <a:rPr lang="en-US" sz="1800" b="0" i="0" u="none" strike="noStrike" baseline="0" dirty="0">
                <a:solidFill>
                  <a:srgbClr val="222222"/>
                </a:solidFill>
                <a:latin typeface="Trebuchet MS" panose="020B0603020202020204" pitchFamily="34" charset="0"/>
              </a:rPr>
              <a:t>This problem is known as the dangling else problem. </a:t>
            </a:r>
          </a:p>
          <a:p>
            <a:r>
              <a:rPr lang="en-US" sz="2200" b="0" i="0" u="none" strike="noStrike" baseline="0" dirty="0">
                <a:solidFill>
                  <a:srgbClr val="222222"/>
                </a:solidFill>
                <a:latin typeface="Trebuchet MS" panose="020B0603020202020204" pitchFamily="34" charset="0"/>
              </a:rPr>
              <a:t>Sometimes, the problem leads to a serious problem that may interpret the wrong result.</a:t>
            </a:r>
          </a:p>
        </p:txBody>
      </p:sp>
    </p:spTree>
    <p:extLst>
      <p:ext uri="{BB962C8B-B14F-4D97-AF65-F5344CB8AC3E}">
        <p14:creationId xmlns:p14="http://schemas.microsoft.com/office/powerpoint/2010/main" val="3776063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0"/>
            <a:ext cx="10018713" cy="382905"/>
          </a:xfrm>
        </p:spPr>
        <p:txBody>
          <a:bodyPr>
            <a:noAutofit/>
          </a:bodyPr>
          <a:lstStyle/>
          <a:p>
            <a:r>
              <a:rPr lang="en-GB" sz="3200" b="0" i="0" u="none" strike="noStrike" baseline="0" dirty="0">
                <a:solidFill>
                  <a:srgbClr val="222222"/>
                </a:solidFill>
                <a:latin typeface="Trebuchet MS" panose="020B0603020202020204" pitchFamily="34" charset="0"/>
              </a:rPr>
              <a:t>Example</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382905"/>
            <a:ext cx="10267909" cy="6475095"/>
          </a:xfrm>
        </p:spPr>
        <p:txBody>
          <a:bodyPr>
            <a:noAutofit/>
          </a:bodyPr>
          <a:lstStyle/>
          <a:p>
            <a:r>
              <a:rPr lang="en-US" b="0" i="0" u="none" strike="noStrike" baseline="0" dirty="0">
                <a:solidFill>
                  <a:srgbClr val="222222"/>
                </a:solidFill>
                <a:latin typeface="Trebuchet MS" panose="020B0603020202020204" pitchFamily="34" charset="0"/>
              </a:rPr>
              <a:t>Remember, Java compiler always associates an else with the immediately preceding if unless told to do otherwise by placement of curly brackets to group statements into Blocks. </a:t>
            </a:r>
          </a:p>
          <a:p>
            <a:r>
              <a:rPr lang="en-US" b="0" i="0" u="none" strike="noStrike" baseline="0" dirty="0">
                <a:solidFill>
                  <a:srgbClr val="222222"/>
                </a:solidFill>
                <a:latin typeface="Trebuchet MS" panose="020B0603020202020204" pitchFamily="34" charset="0"/>
              </a:rPr>
              <a:t>if (x &gt; 5)</a:t>
            </a:r>
          </a:p>
          <a:p>
            <a:r>
              <a:rPr lang="en-US" b="0" i="0" u="none" strike="noStrike" baseline="0" dirty="0">
                <a:solidFill>
                  <a:srgbClr val="222222"/>
                </a:solidFill>
                <a:latin typeface="Trebuchet MS" panose="020B0603020202020204" pitchFamily="34" charset="0"/>
              </a:rPr>
              <a:t>   if (y &gt; 5)</a:t>
            </a:r>
          </a:p>
          <a:p>
            <a:r>
              <a:rPr lang="en-US" b="0" i="0" u="none" strike="noStrike" baseline="0" dirty="0">
                <a:solidFill>
                  <a:srgbClr val="222222"/>
                </a:solidFill>
                <a:latin typeface="Trebuchet MS" panose="020B0603020202020204" pitchFamily="34" charset="0"/>
              </a:rPr>
              <a:t>      </a:t>
            </a:r>
            <a:r>
              <a:rPr lang="en-US" b="0" i="0" u="none" strike="noStrike" baseline="0" dirty="0" err="1">
                <a:solidFill>
                  <a:srgbClr val="222222"/>
                </a:solidFill>
                <a:latin typeface="Trebuchet MS" panose="020B0603020202020204" pitchFamily="34" charset="0"/>
              </a:rPr>
              <a:t>System.out.println</a:t>
            </a:r>
            <a:r>
              <a:rPr lang="en-US" b="0" i="0" u="none" strike="noStrike" baseline="0" dirty="0">
                <a:solidFill>
                  <a:srgbClr val="222222"/>
                </a:solidFill>
                <a:latin typeface="Trebuchet MS" panose="020B0603020202020204" pitchFamily="34" charset="0"/>
              </a:rPr>
              <a:t>(“X and Y are greater than 5”);</a:t>
            </a:r>
          </a:p>
          <a:p>
            <a:r>
              <a:rPr lang="en-US" b="0" i="0" u="none" strike="noStrike" baseline="0" dirty="0">
                <a:solidFill>
                  <a:srgbClr val="222222"/>
                </a:solidFill>
                <a:latin typeface="Trebuchet MS" panose="020B0603020202020204" pitchFamily="34" charset="0"/>
              </a:rPr>
              <a:t>  else</a:t>
            </a:r>
          </a:p>
          <a:p>
            <a:r>
              <a:rPr lang="en-US" b="0" i="0" u="none" strike="noStrike" baseline="0" dirty="0">
                <a:solidFill>
                  <a:srgbClr val="222222"/>
                </a:solidFill>
                <a:latin typeface="Trebuchet MS" panose="020B0603020202020204" pitchFamily="34" charset="0"/>
              </a:rPr>
              <a:t>   </a:t>
            </a:r>
            <a:r>
              <a:rPr lang="en-US" b="0" i="0" u="none" strike="noStrike" baseline="0" dirty="0" err="1">
                <a:solidFill>
                  <a:srgbClr val="222222"/>
                </a:solidFill>
                <a:latin typeface="Trebuchet MS" panose="020B0603020202020204" pitchFamily="34" charset="0"/>
              </a:rPr>
              <a:t>System.out.println</a:t>
            </a:r>
            <a:r>
              <a:rPr lang="en-US" b="0" i="0" u="none" strike="noStrike" baseline="0" dirty="0">
                <a:solidFill>
                  <a:srgbClr val="222222"/>
                </a:solidFill>
                <a:latin typeface="Trebuchet MS" panose="020B0603020202020204" pitchFamily="34" charset="0"/>
              </a:rPr>
              <a:t>(“X is less than or equal to 5”);</a:t>
            </a:r>
          </a:p>
          <a:p>
            <a:r>
              <a:rPr lang="en-US" b="0" i="0" u="none" strike="noStrike" baseline="0" dirty="0">
                <a:solidFill>
                  <a:srgbClr val="222222"/>
                </a:solidFill>
                <a:latin typeface="Trebuchet MS" panose="020B0603020202020204" pitchFamily="34" charset="0"/>
              </a:rPr>
              <a:t>The program segment above will associate the else statement with the second if statement, and </a:t>
            </a:r>
          </a:p>
          <a:p>
            <a:r>
              <a:rPr lang="en-US" b="0" i="0" u="none" strike="noStrike" baseline="0" dirty="0">
                <a:solidFill>
                  <a:srgbClr val="222222"/>
                </a:solidFill>
                <a:latin typeface="Trebuchet MS" panose="020B0603020202020204" pitchFamily="34" charset="0"/>
              </a:rPr>
              <a:t>the program will print “X is less than or equal to 5” even if X &gt; 5 is true as long as y &gt; 5 is true. </a:t>
            </a:r>
          </a:p>
        </p:txBody>
      </p:sp>
    </p:spTree>
    <p:extLst>
      <p:ext uri="{BB962C8B-B14F-4D97-AF65-F5344CB8AC3E}">
        <p14:creationId xmlns:p14="http://schemas.microsoft.com/office/powerpoint/2010/main" val="3483558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0"/>
            <a:ext cx="10018713" cy="382905"/>
          </a:xfrm>
        </p:spPr>
        <p:txBody>
          <a:bodyPr>
            <a:noAutofit/>
          </a:bodyPr>
          <a:lstStyle/>
          <a:p>
            <a:r>
              <a:rPr lang="en-GB" sz="3200" b="0" i="0" u="none" strike="noStrike" baseline="0" dirty="0">
                <a:solidFill>
                  <a:srgbClr val="222222"/>
                </a:solidFill>
                <a:latin typeface="Trebuchet MS" panose="020B0603020202020204" pitchFamily="34" charset="0"/>
              </a:rPr>
              <a:t>A Solution to Dangling Else Problem</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382905"/>
            <a:ext cx="10267909" cy="6475095"/>
          </a:xfrm>
        </p:spPr>
        <p:txBody>
          <a:bodyPr>
            <a:noAutofit/>
          </a:bodyPr>
          <a:lstStyle/>
          <a:p>
            <a:r>
              <a:rPr lang="en-US" sz="2600" b="0" i="0" u="none" strike="noStrike" baseline="0" dirty="0">
                <a:solidFill>
                  <a:srgbClr val="222222"/>
                </a:solidFill>
                <a:latin typeface="Trebuchet MS" panose="020B0603020202020204" pitchFamily="34" charset="0"/>
              </a:rPr>
              <a:t>The following are the two ways to avoid dangling else problem:</a:t>
            </a:r>
          </a:p>
          <a:p>
            <a:pPr lvl="1"/>
            <a:r>
              <a:rPr lang="en-US" sz="2200" b="0" i="0" u="none" strike="noStrike" baseline="0" dirty="0">
                <a:solidFill>
                  <a:srgbClr val="222222"/>
                </a:solidFill>
                <a:latin typeface="Trebuchet MS" panose="020B0603020202020204" pitchFamily="34" charset="0"/>
              </a:rPr>
              <a:t>Try to design non-ambiguous programming.</a:t>
            </a:r>
          </a:p>
          <a:p>
            <a:pPr lvl="1"/>
            <a:r>
              <a:rPr lang="en-US" sz="2200" b="0" i="0" u="none" strike="noStrike" baseline="0" dirty="0">
                <a:solidFill>
                  <a:srgbClr val="222222"/>
                </a:solidFill>
                <a:latin typeface="Trebuchet MS" panose="020B0603020202020204" pitchFamily="34" charset="0"/>
              </a:rPr>
              <a:t>The dangling else problem can be resolved by using the braces and indentation.</a:t>
            </a:r>
          </a:p>
          <a:p>
            <a:r>
              <a:rPr lang="en-US" sz="2600" b="0" i="0" u="none" strike="noStrike" baseline="0" dirty="0">
                <a:solidFill>
                  <a:srgbClr val="222222"/>
                </a:solidFill>
                <a:latin typeface="Trebuchet MS" panose="020B0603020202020204" pitchFamily="34" charset="0"/>
              </a:rPr>
              <a:t>The correct way to write the program is shown below:</a:t>
            </a:r>
          </a:p>
          <a:p>
            <a:r>
              <a:rPr lang="en-US" sz="2600" b="0" i="0" u="none" strike="noStrike" baseline="0" dirty="0">
                <a:solidFill>
                  <a:srgbClr val="222222"/>
                </a:solidFill>
                <a:latin typeface="Trebuchet MS" panose="020B0603020202020204" pitchFamily="34" charset="0"/>
              </a:rPr>
              <a:t>If (x &gt; 5) {</a:t>
            </a:r>
          </a:p>
          <a:p>
            <a:r>
              <a:rPr lang="en-US" sz="2600" b="0" i="0" u="none" strike="noStrike" baseline="0" dirty="0">
                <a:solidFill>
                  <a:srgbClr val="222222"/>
                </a:solidFill>
                <a:latin typeface="Trebuchet MS" panose="020B0603020202020204" pitchFamily="34" charset="0"/>
              </a:rPr>
              <a:t>   If (y &gt; 5)</a:t>
            </a:r>
          </a:p>
          <a:p>
            <a:r>
              <a:rPr lang="en-US" sz="2600" b="0" i="0" u="none" strike="noStrike" baseline="0" dirty="0">
                <a:solidFill>
                  <a:srgbClr val="222222"/>
                </a:solidFill>
                <a:latin typeface="Trebuchet MS" panose="020B0603020202020204" pitchFamily="34" charset="0"/>
              </a:rPr>
              <a:t>      </a:t>
            </a:r>
            <a:r>
              <a:rPr lang="en-US" sz="2600" b="0" i="0" u="none" strike="noStrike" baseline="0" dirty="0" err="1">
                <a:solidFill>
                  <a:srgbClr val="222222"/>
                </a:solidFill>
                <a:latin typeface="Trebuchet MS" panose="020B0603020202020204" pitchFamily="34" charset="0"/>
              </a:rPr>
              <a:t>System.out.println</a:t>
            </a:r>
            <a:r>
              <a:rPr lang="en-US" sz="2600" b="0" i="0" u="none" strike="noStrike" baseline="0" dirty="0">
                <a:solidFill>
                  <a:srgbClr val="222222"/>
                </a:solidFill>
                <a:latin typeface="Trebuchet MS" panose="020B0603020202020204" pitchFamily="34" charset="0"/>
              </a:rPr>
              <a:t>(“X and Y are greater than 5”);</a:t>
            </a:r>
          </a:p>
          <a:p>
            <a:r>
              <a:rPr lang="en-US" sz="2600" b="0" i="0" u="none" strike="noStrike" baseline="0" dirty="0">
                <a:solidFill>
                  <a:srgbClr val="222222"/>
                </a:solidFill>
                <a:latin typeface="Trebuchet MS" panose="020B0603020202020204" pitchFamily="34" charset="0"/>
              </a:rPr>
              <a:t>}</a:t>
            </a:r>
          </a:p>
          <a:p>
            <a:r>
              <a:rPr lang="en-US" sz="2600" b="0" i="0" u="none" strike="noStrike" baseline="0" dirty="0">
                <a:solidFill>
                  <a:srgbClr val="222222"/>
                </a:solidFill>
                <a:latin typeface="Trebuchet MS" panose="020B0603020202020204" pitchFamily="34" charset="0"/>
              </a:rPr>
              <a:t>else{</a:t>
            </a:r>
          </a:p>
          <a:p>
            <a:r>
              <a:rPr lang="en-US" sz="2600" b="0" i="0" u="none" strike="noStrike" baseline="0" dirty="0">
                <a:solidFill>
                  <a:srgbClr val="222222"/>
                </a:solidFill>
                <a:latin typeface="Trebuchet MS" panose="020B0603020202020204" pitchFamily="34" charset="0"/>
              </a:rPr>
              <a:t>      </a:t>
            </a:r>
            <a:r>
              <a:rPr lang="en-US" sz="2600" b="0" i="0" u="none" strike="noStrike" baseline="0" dirty="0" err="1">
                <a:solidFill>
                  <a:srgbClr val="222222"/>
                </a:solidFill>
                <a:latin typeface="Trebuchet MS" panose="020B0603020202020204" pitchFamily="34" charset="0"/>
              </a:rPr>
              <a:t>System.out.println</a:t>
            </a:r>
            <a:r>
              <a:rPr lang="en-US" sz="2600" b="0" i="0" u="none" strike="noStrike" baseline="0" dirty="0">
                <a:solidFill>
                  <a:srgbClr val="222222"/>
                </a:solidFill>
                <a:latin typeface="Trebuchet MS" panose="020B0603020202020204" pitchFamily="34" charset="0"/>
              </a:rPr>
              <a:t>(“X is less than or equal to 5”);</a:t>
            </a:r>
            <a:endParaRPr lang="en-US" sz="2600" dirty="0">
              <a:solidFill>
                <a:srgbClr val="222222"/>
              </a:solidFill>
              <a:latin typeface="Trebuchet MS" panose="020B0603020202020204" pitchFamily="34" charset="0"/>
            </a:endParaRPr>
          </a:p>
          <a:p>
            <a:r>
              <a:rPr lang="en-US" sz="2600" dirty="0">
                <a:solidFill>
                  <a:srgbClr val="222222"/>
                </a:solidFill>
                <a:latin typeface="Trebuchet MS" panose="020B0603020202020204" pitchFamily="34" charset="0"/>
              </a:rPr>
              <a:t>}</a:t>
            </a:r>
            <a:endParaRPr lang="en-US" sz="2600" b="0" i="0" u="none" strike="noStrike" baseline="0" dirty="0">
              <a:solidFill>
                <a:srgbClr val="222222"/>
              </a:solidFill>
              <a:latin typeface="Trebuchet MS" panose="020B0603020202020204" pitchFamily="34" charset="0"/>
            </a:endParaRPr>
          </a:p>
        </p:txBody>
      </p:sp>
    </p:spTree>
    <p:extLst>
      <p:ext uri="{BB962C8B-B14F-4D97-AF65-F5344CB8AC3E}">
        <p14:creationId xmlns:p14="http://schemas.microsoft.com/office/powerpoint/2010/main" val="2234943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Switch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800" b="0" i="0" u="none" strike="noStrike" baseline="0" dirty="0">
                <a:solidFill>
                  <a:srgbClr val="222222"/>
                </a:solidFill>
                <a:latin typeface="Trebuchet MS" panose="020B0603020202020204" pitchFamily="34" charset="0"/>
              </a:rPr>
              <a:t>The switch statement in Java is an example of multiple selection statement. </a:t>
            </a:r>
          </a:p>
          <a:p>
            <a:r>
              <a:rPr lang="en-US" sz="2800" b="0" i="0" u="none" strike="noStrike" baseline="0" dirty="0">
                <a:solidFill>
                  <a:srgbClr val="222222"/>
                </a:solidFill>
                <a:latin typeface="Trebuchet MS" panose="020B0603020202020204" pitchFamily="34" charset="0"/>
              </a:rPr>
              <a:t>In simple words, when selecting among many alternatives another construct to use is the switch statement. </a:t>
            </a:r>
          </a:p>
          <a:p>
            <a:r>
              <a:rPr lang="en-US" sz="2800" b="0" i="0" u="none" strike="noStrike" baseline="0" dirty="0">
                <a:solidFill>
                  <a:srgbClr val="222222"/>
                </a:solidFill>
                <a:latin typeface="Trebuchet MS" panose="020B0603020202020204" pitchFamily="34" charset="0"/>
              </a:rPr>
              <a:t>It is like if-else-if ladder statement. </a:t>
            </a:r>
          </a:p>
          <a:p>
            <a:r>
              <a:rPr lang="en-US" sz="2800" b="0" i="0" u="none" strike="noStrike" baseline="0" dirty="0">
                <a:solidFill>
                  <a:srgbClr val="222222"/>
                </a:solidFill>
                <a:latin typeface="Trebuchet MS" panose="020B0603020202020204" pitchFamily="34" charset="0"/>
              </a:rPr>
              <a:t>The switch statement works with byte, short, int, long etc. </a:t>
            </a:r>
          </a:p>
          <a:p>
            <a:r>
              <a:rPr lang="en-US" sz="2800" b="0" i="0" u="none" strike="noStrike" baseline="0" dirty="0">
                <a:solidFill>
                  <a:srgbClr val="222222"/>
                </a:solidFill>
                <a:latin typeface="Trebuchet MS" panose="020B0603020202020204" pitchFamily="34" charset="0"/>
              </a:rPr>
              <a:t>A switch statement allows a variable to be tested for equality against a list of values. </a:t>
            </a:r>
          </a:p>
          <a:p>
            <a:r>
              <a:rPr lang="en-US" sz="2800" b="0" i="0" u="none" strike="noStrike" baseline="0" dirty="0">
                <a:solidFill>
                  <a:srgbClr val="222222"/>
                </a:solidFill>
                <a:latin typeface="Trebuchet MS" panose="020B0603020202020204" pitchFamily="34" charset="0"/>
              </a:rPr>
              <a:t>Each value is called a case, and the variable being switched on is checked for each case. </a:t>
            </a:r>
          </a:p>
        </p:txBody>
      </p:sp>
    </p:spTree>
    <p:extLst>
      <p:ext uri="{BB962C8B-B14F-4D97-AF65-F5344CB8AC3E}">
        <p14:creationId xmlns:p14="http://schemas.microsoft.com/office/powerpoint/2010/main" val="1466792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Switch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800" b="0" i="0" u="none" strike="noStrike" baseline="0" dirty="0">
                <a:solidFill>
                  <a:srgbClr val="222222"/>
                </a:solidFill>
                <a:latin typeface="Trebuchet MS" panose="020B0603020202020204" pitchFamily="34" charset="0"/>
              </a:rPr>
              <a:t>The general structure is as follows:</a:t>
            </a:r>
          </a:p>
          <a:p>
            <a:endParaRPr lang="en-US" sz="2800" b="0" i="0" u="none" strike="noStrike" baseline="0" dirty="0">
              <a:solidFill>
                <a:srgbClr val="222222"/>
              </a:solidFill>
              <a:latin typeface="Trebuchet MS" panose="020B0603020202020204" pitchFamily="34" charset="0"/>
            </a:endParaRPr>
          </a:p>
          <a:p>
            <a:pPr marL="0" indent="0">
              <a:buNone/>
            </a:pPr>
            <a:r>
              <a:rPr lang="en-US" sz="2800" dirty="0">
                <a:solidFill>
                  <a:srgbClr val="FF0000"/>
                </a:solidFill>
                <a:latin typeface="Trebuchet MS" panose="020B0603020202020204" pitchFamily="34" charset="0"/>
              </a:rPr>
              <a:t>	</a:t>
            </a:r>
            <a:r>
              <a:rPr lang="en-US" sz="2800" b="0" i="0" u="none" strike="noStrike" baseline="0" dirty="0">
                <a:solidFill>
                  <a:srgbClr val="FF0000"/>
                </a:solidFill>
                <a:latin typeface="Trebuchet MS" panose="020B0603020202020204" pitchFamily="34" charset="0"/>
              </a:rPr>
              <a:t>switch(controlling Expression) {</a:t>
            </a:r>
          </a:p>
          <a:p>
            <a:pPr marL="0" indent="0">
              <a:buNone/>
            </a:pPr>
            <a:r>
              <a:rPr lang="en-US" sz="2800" dirty="0">
                <a:solidFill>
                  <a:srgbClr val="FF0000"/>
                </a:solidFill>
                <a:latin typeface="Trebuchet MS" panose="020B0603020202020204" pitchFamily="34" charset="0"/>
              </a:rPr>
              <a:t>		</a:t>
            </a:r>
            <a:r>
              <a:rPr lang="en-US" sz="2800" b="0" i="0" u="none" strike="noStrike" baseline="0" dirty="0">
                <a:solidFill>
                  <a:srgbClr val="FF0000"/>
                </a:solidFill>
                <a:latin typeface="Trebuchet MS" panose="020B0603020202020204" pitchFamily="34" charset="0"/>
              </a:rPr>
              <a:t>case value1 : 	Statements; </a:t>
            </a:r>
          </a:p>
          <a:p>
            <a:pPr marL="0" indent="0">
              <a:buNone/>
            </a:pPr>
            <a:r>
              <a:rPr lang="en-US" sz="2800" b="0" i="0" u="none" strike="noStrike" baseline="0" dirty="0">
                <a:solidFill>
                  <a:srgbClr val="FF0000"/>
                </a:solidFill>
                <a:latin typeface="Trebuchet MS" panose="020B0603020202020204" pitchFamily="34" charset="0"/>
              </a:rPr>
              <a:t>		break;</a:t>
            </a:r>
          </a:p>
          <a:p>
            <a:pPr marL="0" indent="0">
              <a:buNone/>
            </a:pPr>
            <a:r>
              <a:rPr lang="en-US" sz="2800" dirty="0">
                <a:solidFill>
                  <a:srgbClr val="FF0000"/>
                </a:solidFill>
                <a:latin typeface="Trebuchet MS" panose="020B0603020202020204" pitchFamily="34" charset="0"/>
              </a:rPr>
              <a:t>		</a:t>
            </a:r>
            <a:r>
              <a:rPr lang="en-US" sz="2800" b="0" i="0" u="none" strike="noStrike" baseline="0" dirty="0">
                <a:solidFill>
                  <a:srgbClr val="FF0000"/>
                </a:solidFill>
                <a:latin typeface="Trebuchet MS" panose="020B0603020202020204" pitchFamily="34" charset="0"/>
              </a:rPr>
              <a:t>case value2 : 	Statements; </a:t>
            </a:r>
          </a:p>
          <a:p>
            <a:pPr marL="0" indent="0">
              <a:buNone/>
            </a:pPr>
            <a:r>
              <a:rPr lang="en-US" sz="2800" b="0" i="0" u="none" strike="noStrike" baseline="0" dirty="0">
                <a:solidFill>
                  <a:srgbClr val="FF0000"/>
                </a:solidFill>
                <a:latin typeface="Trebuchet MS" panose="020B0603020202020204" pitchFamily="34" charset="0"/>
              </a:rPr>
              <a:t>		break;</a:t>
            </a:r>
          </a:p>
          <a:p>
            <a:pPr marL="0" indent="0">
              <a:buNone/>
            </a:pPr>
            <a:r>
              <a:rPr lang="en-US" sz="2800" b="0" i="0" u="none" strike="noStrike" baseline="0" dirty="0">
                <a:solidFill>
                  <a:srgbClr val="FF0000"/>
                </a:solidFill>
                <a:latin typeface="Trebuchet MS" panose="020B0603020202020204" pitchFamily="34" charset="0"/>
              </a:rPr>
              <a:t>	     ...</a:t>
            </a:r>
          </a:p>
          <a:p>
            <a:pPr marL="0" indent="0">
              <a:buNone/>
            </a:pPr>
            <a:r>
              <a:rPr lang="en-US" sz="2800" dirty="0">
                <a:solidFill>
                  <a:srgbClr val="FF0000"/>
                </a:solidFill>
                <a:latin typeface="Trebuchet MS" panose="020B0603020202020204" pitchFamily="34" charset="0"/>
              </a:rPr>
              <a:t>		</a:t>
            </a:r>
            <a:r>
              <a:rPr lang="en-US" sz="2800" b="0" i="0" u="none" strike="noStrike" baseline="0" dirty="0">
                <a:solidFill>
                  <a:srgbClr val="FF0000"/>
                </a:solidFill>
                <a:latin typeface="Trebuchet MS" panose="020B0603020202020204" pitchFamily="34" charset="0"/>
              </a:rPr>
              <a:t>default : 	Statements; </a:t>
            </a:r>
          </a:p>
          <a:p>
            <a:pPr marL="0" indent="0">
              <a:buNone/>
            </a:pPr>
            <a:r>
              <a:rPr lang="en-US" sz="2800" b="0" i="0" u="none" strike="noStrike" baseline="0" dirty="0">
                <a:solidFill>
                  <a:srgbClr val="FF0000"/>
                </a:solidFill>
                <a:latin typeface="Trebuchet MS" panose="020B0603020202020204" pitchFamily="34" charset="0"/>
              </a:rPr>
              <a:t>	} </a:t>
            </a:r>
          </a:p>
        </p:txBody>
      </p:sp>
    </p:spTree>
    <p:extLst>
      <p:ext uri="{BB962C8B-B14F-4D97-AF65-F5344CB8AC3E}">
        <p14:creationId xmlns:p14="http://schemas.microsoft.com/office/powerpoint/2010/main" val="1595860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Switch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800" b="1" i="0" u="none" strike="noStrike" baseline="0" dirty="0">
                <a:solidFill>
                  <a:srgbClr val="222222"/>
                </a:solidFill>
                <a:latin typeface="Trebuchet MS" panose="020B0603020202020204" pitchFamily="34" charset="0"/>
              </a:rPr>
              <a:t>Note: </a:t>
            </a:r>
            <a:r>
              <a:rPr lang="en-US" sz="2800" b="0" i="0" u="none" strike="noStrike" baseline="0" dirty="0">
                <a:solidFill>
                  <a:srgbClr val="222222"/>
                </a:solidFill>
                <a:latin typeface="Trebuchet MS" panose="020B0603020202020204" pitchFamily="34" charset="0"/>
              </a:rPr>
              <a:t>The following rules are to be considered when using a switch statement:</a:t>
            </a:r>
          </a:p>
          <a:p>
            <a:r>
              <a:rPr lang="en-US" sz="2800" b="0" i="0" u="none" strike="noStrike" baseline="0" dirty="0">
                <a:solidFill>
                  <a:srgbClr val="222222"/>
                </a:solidFill>
                <a:latin typeface="Trebuchet MS" panose="020B0603020202020204" pitchFamily="34" charset="0"/>
              </a:rPr>
              <a:t>The </a:t>
            </a:r>
            <a:r>
              <a:rPr lang="en-US" sz="2800" b="0" i="0" u="none" strike="noStrike" baseline="0" dirty="0" err="1">
                <a:solidFill>
                  <a:srgbClr val="222222"/>
                </a:solidFill>
                <a:latin typeface="Trebuchet MS" panose="020B0603020202020204" pitchFamily="34" charset="0"/>
              </a:rPr>
              <a:t>controllingExpression</a:t>
            </a:r>
            <a:r>
              <a:rPr lang="en-US" sz="2800" b="0" i="0" u="none" strike="noStrike" baseline="0" dirty="0">
                <a:solidFill>
                  <a:srgbClr val="222222"/>
                </a:solidFill>
                <a:latin typeface="Trebuchet MS" panose="020B0603020202020204" pitchFamily="34" charset="0"/>
              </a:rPr>
              <a:t> must have a byte, char, short, or int value.</a:t>
            </a:r>
          </a:p>
          <a:p>
            <a:r>
              <a:rPr lang="en-US" sz="2800" b="0" i="0" u="none" strike="noStrike" baseline="0" dirty="0">
                <a:solidFill>
                  <a:srgbClr val="222222"/>
                </a:solidFill>
                <a:latin typeface="Trebuchet MS" panose="020B0603020202020204" pitchFamily="34" charset="0"/>
              </a:rPr>
              <a:t>A case label value must be a unique constant value or a constant expression of type byte, char, short, or int.</a:t>
            </a:r>
          </a:p>
          <a:p>
            <a:r>
              <a:rPr lang="en-US" sz="2800" b="0" i="0" u="none" strike="noStrike" baseline="0" dirty="0">
                <a:solidFill>
                  <a:srgbClr val="222222"/>
                </a:solidFill>
                <a:latin typeface="Trebuchet MS" panose="020B0603020202020204" pitchFamily="34" charset="0"/>
              </a:rPr>
              <a:t>The statements of the case label that equals the </a:t>
            </a:r>
            <a:r>
              <a:rPr lang="en-US" sz="2800" b="0" i="0" u="none" strike="noStrike" baseline="0" dirty="0" err="1">
                <a:solidFill>
                  <a:srgbClr val="222222"/>
                </a:solidFill>
                <a:latin typeface="Trebuchet MS" panose="020B0603020202020204" pitchFamily="34" charset="0"/>
              </a:rPr>
              <a:t>controllingExpression</a:t>
            </a:r>
            <a:r>
              <a:rPr lang="en-US" sz="2800" b="0" i="0" u="none" strike="noStrike" baseline="0" dirty="0">
                <a:solidFill>
                  <a:srgbClr val="222222"/>
                </a:solidFill>
                <a:latin typeface="Trebuchet MS" panose="020B0603020202020204" pitchFamily="34" charset="0"/>
              </a:rPr>
              <a:t> value are executed; otherwise if there is no matching case label, the statements of the default label, if present, are executed.</a:t>
            </a:r>
          </a:p>
        </p:txBody>
      </p:sp>
    </p:spTree>
    <p:extLst>
      <p:ext uri="{BB962C8B-B14F-4D97-AF65-F5344CB8AC3E}">
        <p14:creationId xmlns:p14="http://schemas.microsoft.com/office/powerpoint/2010/main" val="885718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325755"/>
          </a:xfrm>
        </p:spPr>
        <p:txBody>
          <a:bodyPr>
            <a:noAutofit/>
          </a:bodyPr>
          <a:lstStyle/>
          <a:p>
            <a:r>
              <a:rPr lang="en-GB" sz="2800" dirty="0">
                <a:solidFill>
                  <a:srgbClr val="222222"/>
                </a:solidFill>
                <a:latin typeface="Trebuchet MS" panose="020B0603020202020204" pitchFamily="34" charset="0"/>
              </a:rPr>
              <a:t>Example</a:t>
            </a:r>
            <a:endParaRPr lang="en-GB" sz="2800" b="0" i="0" u="none" strike="noStrike" baseline="0" dirty="0">
              <a:solidFill>
                <a:srgbClr val="222222"/>
              </a:solidFill>
              <a:latin typeface="Trebuchet MS" panose="020B0603020202020204" pitchFamily="34" charset="0"/>
            </a:endParaRP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554355"/>
            <a:ext cx="10267909" cy="6303645"/>
          </a:xfrm>
        </p:spPr>
        <p:txBody>
          <a:bodyPr>
            <a:noAutofit/>
          </a:bodyPr>
          <a:lstStyle/>
          <a:p>
            <a:r>
              <a:rPr lang="en-US" sz="2000" b="0" i="0" u="none" strike="noStrike" baseline="0" dirty="0">
                <a:solidFill>
                  <a:srgbClr val="222222"/>
                </a:solidFill>
                <a:latin typeface="Trebuchet MS" panose="020B0603020202020204" pitchFamily="34" charset="0"/>
              </a:rPr>
              <a:t>Write a program that reads a day number [1...7] given by user and prints the English name of the day using the switch statement.                   </a:t>
            </a:r>
          </a:p>
          <a:p>
            <a:pPr marL="0" indent="0">
              <a:spcBef>
                <a:spcPts val="0"/>
              </a:spcBef>
              <a:spcAft>
                <a:spcPts val="0"/>
              </a:spcAft>
              <a:buNone/>
            </a:pPr>
            <a:r>
              <a:rPr lang="en-US" sz="1800" dirty="0">
                <a:solidFill>
                  <a:schemeClr val="accent4"/>
                </a:solidFill>
                <a:latin typeface="Trebuchet MS" panose="020B0603020202020204" pitchFamily="34" charset="0"/>
              </a:rPr>
              <a:t>	</a:t>
            </a:r>
            <a:r>
              <a:rPr lang="en-US" sz="1800" b="0" i="0" u="none" strike="noStrike" baseline="0" dirty="0">
                <a:solidFill>
                  <a:schemeClr val="accent4"/>
                </a:solidFill>
                <a:latin typeface="Trebuchet MS" panose="020B0603020202020204" pitchFamily="34" charset="0"/>
              </a:rPr>
              <a:t>import </a:t>
            </a:r>
            <a:r>
              <a:rPr lang="en-US" sz="1800" b="0" i="0" u="none" strike="noStrike" baseline="0" dirty="0" err="1">
                <a:solidFill>
                  <a:schemeClr val="accent4"/>
                </a:solidFill>
                <a:latin typeface="Trebuchet MS" panose="020B0603020202020204" pitchFamily="34" charset="0"/>
              </a:rPr>
              <a:t>java.util.Scanner</a:t>
            </a:r>
            <a:r>
              <a:rPr lang="en-US" sz="1800" b="0" i="0" u="none" strike="noStrike" baseline="0" dirty="0">
                <a:solidFill>
                  <a:schemeClr val="accent4"/>
                </a:solidFill>
                <a:latin typeface="Trebuchet MS" panose="020B0603020202020204" pitchFamily="34" charset="0"/>
              </a:rPr>
              <a:t>;</a:t>
            </a:r>
          </a:p>
          <a:p>
            <a:pPr marL="0" indent="0">
              <a:spcBef>
                <a:spcPts val="0"/>
              </a:spcBef>
              <a:spcAft>
                <a:spcPts val="0"/>
              </a:spcAft>
              <a:buNone/>
            </a:pPr>
            <a:r>
              <a:rPr lang="en-US" sz="1800" b="0" i="0" u="none" strike="noStrike" baseline="0" dirty="0">
                <a:solidFill>
                  <a:schemeClr val="accent4"/>
                </a:solidFill>
                <a:latin typeface="Trebuchet MS" panose="020B0603020202020204" pitchFamily="34" charset="0"/>
              </a:rPr>
              <a:t>	public class Dayweek2 {</a:t>
            </a:r>
          </a:p>
          <a:p>
            <a:pPr marL="0" indent="0">
              <a:spcBef>
                <a:spcPts val="0"/>
              </a:spcBef>
              <a:spcAft>
                <a:spcPts val="0"/>
              </a:spcAft>
              <a:buNone/>
            </a:pPr>
            <a:r>
              <a:rPr lang="en-US" sz="1800" b="0" i="0" u="none" strike="noStrike" baseline="0" dirty="0">
                <a:solidFill>
                  <a:schemeClr val="accent4"/>
                </a:solidFill>
                <a:latin typeface="Trebuchet MS" panose="020B0603020202020204" pitchFamily="34" charset="0"/>
              </a:rPr>
              <a:t>   		public static void main(String[] </a:t>
            </a:r>
            <a:r>
              <a:rPr lang="en-US" sz="1800" b="0" i="0" u="none" strike="noStrike" baseline="0" dirty="0" err="1">
                <a:solidFill>
                  <a:schemeClr val="accent4"/>
                </a:solidFill>
                <a:latin typeface="Trebuchet MS" panose="020B0603020202020204" pitchFamily="34" charset="0"/>
              </a:rPr>
              <a:t>args</a:t>
            </a:r>
            <a:r>
              <a:rPr lang="en-US" sz="1800" b="0" i="0" u="none" strike="noStrike" baseline="0" dirty="0">
                <a:solidFill>
                  <a:schemeClr val="accent4"/>
                </a:solidFill>
                <a:latin typeface="Trebuchet MS" panose="020B0603020202020204" pitchFamily="34" charset="0"/>
              </a:rPr>
              <a:t>) {</a:t>
            </a:r>
          </a:p>
          <a:p>
            <a:pPr marL="0" indent="0">
              <a:spcBef>
                <a:spcPts val="0"/>
              </a:spcBef>
              <a:spcAft>
                <a:spcPts val="0"/>
              </a:spcAft>
              <a:buNone/>
            </a:pPr>
            <a:r>
              <a:rPr lang="en-US" sz="1800" b="0" i="0" u="none" strike="noStrike" baseline="0" dirty="0">
                <a:solidFill>
                  <a:schemeClr val="accent4"/>
                </a:solidFill>
                <a:latin typeface="Trebuchet MS" panose="020B0603020202020204" pitchFamily="34" charset="0"/>
              </a:rPr>
              <a:t>     			 Scanner input = new Scanner(System.in);</a:t>
            </a:r>
          </a:p>
          <a:p>
            <a:pPr marL="0" indent="0">
              <a:spcBef>
                <a:spcPts val="0"/>
              </a:spcBef>
              <a:spcAft>
                <a:spcPts val="0"/>
              </a:spcAft>
              <a:buNone/>
            </a:pPr>
            <a:r>
              <a:rPr lang="en-US" sz="1800" b="0" i="0" u="none" strike="noStrike" baseline="0" dirty="0">
                <a:solidFill>
                  <a:schemeClr val="accent4"/>
                </a:solidFill>
                <a:latin typeface="Trebuchet MS" panose="020B0603020202020204" pitchFamily="34" charset="0"/>
              </a:rPr>
              <a:t>      			int </a:t>
            </a:r>
            <a:r>
              <a:rPr lang="en-US" sz="1800" b="0" i="0" u="none" strike="noStrike" baseline="0" dirty="0" err="1">
                <a:solidFill>
                  <a:schemeClr val="accent4"/>
                </a:solidFill>
                <a:latin typeface="Trebuchet MS" panose="020B0603020202020204" pitchFamily="34" charset="0"/>
              </a:rPr>
              <a:t>dayNumber</a:t>
            </a:r>
            <a:r>
              <a:rPr lang="en-US" sz="1800" b="0" i="0" u="none" strike="noStrike" baseline="0" dirty="0">
                <a:solidFill>
                  <a:schemeClr val="accent4"/>
                </a:solidFill>
                <a:latin typeface="Trebuchet MS" panose="020B0603020202020204" pitchFamily="34" charset="0"/>
              </a:rPr>
              <a:t>;</a:t>
            </a:r>
          </a:p>
          <a:p>
            <a:pPr marL="0" indent="0">
              <a:spcBef>
                <a:spcPts val="0"/>
              </a:spcBef>
              <a:spcAft>
                <a:spcPts val="0"/>
              </a:spcAft>
              <a:buNone/>
            </a:pPr>
            <a:r>
              <a:rPr lang="en-US" sz="1800" b="0" i="0" u="none" strike="noStrike" baseline="0" dirty="0">
                <a:solidFill>
                  <a:schemeClr val="accent4"/>
                </a:solidFill>
                <a:latin typeface="Trebuchet MS" panose="020B0603020202020204" pitchFamily="34" charset="0"/>
              </a:rPr>
              <a:t>      			</a:t>
            </a:r>
            <a:r>
              <a:rPr lang="en-US" sz="1800" b="0" i="0" u="none" strike="noStrike" baseline="0" dirty="0" err="1">
                <a:solidFill>
                  <a:schemeClr val="accent4"/>
                </a:solidFill>
                <a:latin typeface="Trebuchet MS" panose="020B0603020202020204" pitchFamily="34" charset="0"/>
              </a:rPr>
              <a:t>System.out.print</a:t>
            </a:r>
            <a:r>
              <a:rPr lang="en-US" sz="1800" b="0" i="0" u="none" strike="noStrike" baseline="0" dirty="0">
                <a:solidFill>
                  <a:schemeClr val="accent4"/>
                </a:solidFill>
                <a:latin typeface="Trebuchet MS" panose="020B0603020202020204" pitchFamily="34" charset="0"/>
              </a:rPr>
              <a:t>("Enter a number [1 .. 7]: ");</a:t>
            </a:r>
          </a:p>
          <a:p>
            <a:pPr marL="0" indent="0">
              <a:spcBef>
                <a:spcPts val="0"/>
              </a:spcBef>
              <a:spcAft>
                <a:spcPts val="0"/>
              </a:spcAft>
              <a:buNone/>
            </a:pPr>
            <a:r>
              <a:rPr lang="en-US" sz="1800" b="0" i="0" u="none" strike="noStrike" baseline="0" dirty="0">
                <a:solidFill>
                  <a:schemeClr val="accent4"/>
                </a:solidFill>
                <a:latin typeface="Trebuchet MS" panose="020B0603020202020204" pitchFamily="34" charset="0"/>
              </a:rPr>
              <a:t>      			</a:t>
            </a:r>
            <a:r>
              <a:rPr lang="en-US" sz="1800" b="0" i="0" u="none" strike="noStrike" baseline="0" dirty="0" err="1">
                <a:solidFill>
                  <a:schemeClr val="accent4"/>
                </a:solidFill>
                <a:latin typeface="Trebuchet MS" panose="020B0603020202020204" pitchFamily="34" charset="0"/>
              </a:rPr>
              <a:t>dayNumber</a:t>
            </a:r>
            <a:r>
              <a:rPr lang="en-US" sz="1800" b="0" i="0" u="none" strike="noStrike" baseline="0" dirty="0">
                <a:solidFill>
                  <a:schemeClr val="accent4"/>
                </a:solidFill>
                <a:latin typeface="Trebuchet MS" panose="020B0603020202020204" pitchFamily="34" charset="0"/>
              </a:rPr>
              <a:t>=</a:t>
            </a:r>
            <a:r>
              <a:rPr lang="en-US" sz="1800" b="0" i="0" u="none" strike="noStrike" baseline="0" dirty="0" err="1">
                <a:solidFill>
                  <a:schemeClr val="accent4"/>
                </a:solidFill>
                <a:latin typeface="Trebuchet MS" panose="020B0603020202020204" pitchFamily="34" charset="0"/>
              </a:rPr>
              <a:t>input.nextInt</a:t>
            </a:r>
            <a:r>
              <a:rPr lang="en-US" sz="1800" b="0" i="0" u="none" strike="noStrike" baseline="0" dirty="0">
                <a:solidFill>
                  <a:schemeClr val="accent4"/>
                </a:solidFill>
                <a:latin typeface="Trebuchet MS" panose="020B0603020202020204" pitchFamily="34" charset="0"/>
              </a:rPr>
              <a:t>();</a:t>
            </a:r>
          </a:p>
          <a:p>
            <a:pPr marL="0" indent="0">
              <a:spcBef>
                <a:spcPts val="0"/>
              </a:spcBef>
              <a:spcAft>
                <a:spcPts val="0"/>
              </a:spcAft>
              <a:buNone/>
            </a:pPr>
            <a:r>
              <a:rPr lang="en-US" sz="1800" dirty="0">
                <a:solidFill>
                  <a:schemeClr val="accent4"/>
                </a:solidFill>
                <a:latin typeface="Trebuchet MS" panose="020B0603020202020204" pitchFamily="34" charset="0"/>
              </a:rPr>
              <a:t>			switch(</a:t>
            </a:r>
            <a:r>
              <a:rPr lang="en-US" sz="1800" dirty="0" err="1">
                <a:solidFill>
                  <a:schemeClr val="accent4"/>
                </a:solidFill>
                <a:latin typeface="Trebuchet MS" panose="020B0603020202020204" pitchFamily="34" charset="0"/>
              </a:rPr>
              <a:t>dayNumber</a:t>
            </a:r>
            <a:r>
              <a:rPr lang="en-US" sz="1800" dirty="0">
                <a:solidFill>
                  <a:schemeClr val="accent4"/>
                </a:solidFill>
                <a:latin typeface="Trebuchet MS" panose="020B0603020202020204" pitchFamily="34" charset="0"/>
              </a:rPr>
              <a:t>){</a:t>
            </a:r>
          </a:p>
          <a:p>
            <a:pPr marL="0" indent="0">
              <a:spcBef>
                <a:spcPts val="0"/>
              </a:spcBef>
              <a:spcAft>
                <a:spcPts val="0"/>
              </a:spcAft>
              <a:buNone/>
            </a:pPr>
            <a:r>
              <a:rPr lang="en-US" sz="1800" dirty="0">
                <a:solidFill>
                  <a:schemeClr val="accent4"/>
                </a:solidFill>
                <a:latin typeface="Trebuchet MS" panose="020B0603020202020204" pitchFamily="34" charset="0"/>
              </a:rPr>
              <a:t>           			case 1:  </a:t>
            </a:r>
            <a:r>
              <a:rPr lang="en-US" sz="1800" dirty="0" err="1">
                <a:solidFill>
                  <a:schemeClr val="accent4"/>
                </a:solidFill>
                <a:latin typeface="Trebuchet MS" panose="020B0603020202020204" pitchFamily="34" charset="0"/>
              </a:rPr>
              <a:t>System.out.println</a:t>
            </a:r>
            <a:r>
              <a:rPr lang="en-US" sz="1800" dirty="0">
                <a:solidFill>
                  <a:schemeClr val="accent4"/>
                </a:solidFill>
                <a:latin typeface="Trebuchet MS" panose="020B0603020202020204" pitchFamily="34" charset="0"/>
              </a:rPr>
              <a:t>("Saturday"); break;</a:t>
            </a:r>
          </a:p>
          <a:p>
            <a:pPr marL="0" indent="0">
              <a:spcBef>
                <a:spcPts val="0"/>
              </a:spcBef>
              <a:spcAft>
                <a:spcPts val="0"/>
              </a:spcAft>
              <a:buNone/>
            </a:pPr>
            <a:r>
              <a:rPr lang="en-US" sz="1800" dirty="0">
                <a:solidFill>
                  <a:schemeClr val="accent4"/>
                </a:solidFill>
                <a:latin typeface="Trebuchet MS" panose="020B0603020202020204" pitchFamily="34" charset="0"/>
              </a:rPr>
              <a:t>           			case 2:  </a:t>
            </a:r>
            <a:r>
              <a:rPr lang="en-US" sz="1800" dirty="0" err="1">
                <a:solidFill>
                  <a:schemeClr val="accent4"/>
                </a:solidFill>
                <a:latin typeface="Trebuchet MS" panose="020B0603020202020204" pitchFamily="34" charset="0"/>
              </a:rPr>
              <a:t>System.out.println</a:t>
            </a:r>
            <a:r>
              <a:rPr lang="en-US" sz="1800" dirty="0">
                <a:solidFill>
                  <a:schemeClr val="accent4"/>
                </a:solidFill>
                <a:latin typeface="Trebuchet MS" panose="020B0603020202020204" pitchFamily="34" charset="0"/>
              </a:rPr>
              <a:t>("Sunday");	break;</a:t>
            </a:r>
          </a:p>
          <a:p>
            <a:pPr marL="0" indent="0">
              <a:spcBef>
                <a:spcPts val="0"/>
              </a:spcBef>
              <a:spcAft>
                <a:spcPts val="0"/>
              </a:spcAft>
              <a:buNone/>
            </a:pPr>
            <a:r>
              <a:rPr lang="en-US" sz="1800" dirty="0">
                <a:solidFill>
                  <a:schemeClr val="accent4"/>
                </a:solidFill>
                <a:latin typeface="Trebuchet MS" panose="020B0603020202020204" pitchFamily="34" charset="0"/>
              </a:rPr>
              <a:t>          			case 3:  </a:t>
            </a:r>
            <a:r>
              <a:rPr lang="en-US" sz="1800" dirty="0" err="1">
                <a:solidFill>
                  <a:schemeClr val="accent4"/>
                </a:solidFill>
                <a:latin typeface="Trebuchet MS" panose="020B0603020202020204" pitchFamily="34" charset="0"/>
              </a:rPr>
              <a:t>System.out.println</a:t>
            </a:r>
            <a:r>
              <a:rPr lang="en-US" sz="1800" dirty="0">
                <a:solidFill>
                  <a:schemeClr val="accent4"/>
                </a:solidFill>
                <a:latin typeface="Trebuchet MS" panose="020B0603020202020204" pitchFamily="34" charset="0"/>
              </a:rPr>
              <a:t>("Monday");	break;</a:t>
            </a:r>
          </a:p>
          <a:p>
            <a:pPr marL="0" indent="0">
              <a:spcBef>
                <a:spcPts val="0"/>
              </a:spcBef>
              <a:spcAft>
                <a:spcPts val="0"/>
              </a:spcAft>
              <a:buNone/>
            </a:pPr>
            <a:r>
              <a:rPr lang="en-US" sz="1800" dirty="0">
                <a:solidFill>
                  <a:schemeClr val="accent4"/>
                </a:solidFill>
                <a:latin typeface="Trebuchet MS" panose="020B0603020202020204" pitchFamily="34" charset="0"/>
              </a:rPr>
              <a:t>           			case 4:  </a:t>
            </a:r>
            <a:r>
              <a:rPr lang="en-US" sz="1800" dirty="0" err="1">
                <a:solidFill>
                  <a:schemeClr val="accent4"/>
                </a:solidFill>
                <a:latin typeface="Trebuchet MS" panose="020B0603020202020204" pitchFamily="34" charset="0"/>
              </a:rPr>
              <a:t>System.out.println</a:t>
            </a:r>
            <a:r>
              <a:rPr lang="en-US" sz="1800" dirty="0">
                <a:solidFill>
                  <a:schemeClr val="accent4"/>
                </a:solidFill>
                <a:latin typeface="Trebuchet MS" panose="020B0603020202020204" pitchFamily="34" charset="0"/>
              </a:rPr>
              <a:t>("Tuesday");	break;</a:t>
            </a:r>
          </a:p>
          <a:p>
            <a:pPr marL="0" indent="0">
              <a:spcBef>
                <a:spcPts val="0"/>
              </a:spcBef>
              <a:spcAft>
                <a:spcPts val="0"/>
              </a:spcAft>
              <a:buNone/>
            </a:pPr>
            <a:r>
              <a:rPr lang="en-US" sz="1800" dirty="0">
                <a:solidFill>
                  <a:schemeClr val="accent4"/>
                </a:solidFill>
                <a:latin typeface="Trebuchet MS" panose="020B0603020202020204" pitchFamily="34" charset="0"/>
              </a:rPr>
              <a:t>           			case 5:  </a:t>
            </a:r>
            <a:r>
              <a:rPr lang="en-US" sz="1800" dirty="0" err="1">
                <a:solidFill>
                  <a:schemeClr val="accent4"/>
                </a:solidFill>
                <a:latin typeface="Trebuchet MS" panose="020B0603020202020204" pitchFamily="34" charset="0"/>
              </a:rPr>
              <a:t>System.out.println</a:t>
            </a:r>
            <a:r>
              <a:rPr lang="en-US" sz="1800" dirty="0">
                <a:solidFill>
                  <a:schemeClr val="accent4"/>
                </a:solidFill>
                <a:latin typeface="Trebuchet MS" panose="020B0603020202020204" pitchFamily="34" charset="0"/>
              </a:rPr>
              <a:t>("Wednesday"); break;</a:t>
            </a:r>
          </a:p>
          <a:p>
            <a:pPr marL="0" indent="0">
              <a:spcBef>
                <a:spcPts val="0"/>
              </a:spcBef>
              <a:spcAft>
                <a:spcPts val="0"/>
              </a:spcAft>
              <a:buNone/>
            </a:pPr>
            <a:r>
              <a:rPr lang="en-US" sz="1800" dirty="0">
                <a:solidFill>
                  <a:schemeClr val="accent4"/>
                </a:solidFill>
                <a:latin typeface="Trebuchet MS" panose="020B0603020202020204" pitchFamily="34" charset="0"/>
              </a:rPr>
              <a:t>           			case 6:  </a:t>
            </a:r>
            <a:r>
              <a:rPr lang="en-US" sz="1800" dirty="0" err="1">
                <a:solidFill>
                  <a:schemeClr val="accent4"/>
                </a:solidFill>
                <a:latin typeface="Trebuchet MS" panose="020B0603020202020204" pitchFamily="34" charset="0"/>
              </a:rPr>
              <a:t>System.out.println</a:t>
            </a:r>
            <a:r>
              <a:rPr lang="en-US" sz="1800" dirty="0">
                <a:solidFill>
                  <a:schemeClr val="accent4"/>
                </a:solidFill>
                <a:latin typeface="Trebuchet MS" panose="020B0603020202020204" pitchFamily="34" charset="0"/>
              </a:rPr>
              <a:t>("Thursday");	break;</a:t>
            </a:r>
          </a:p>
          <a:p>
            <a:pPr marL="0" indent="0">
              <a:spcBef>
                <a:spcPts val="0"/>
              </a:spcBef>
              <a:spcAft>
                <a:spcPts val="0"/>
              </a:spcAft>
              <a:buNone/>
            </a:pPr>
            <a:r>
              <a:rPr lang="en-US" sz="1800" dirty="0">
                <a:solidFill>
                  <a:schemeClr val="accent4"/>
                </a:solidFill>
                <a:latin typeface="Trebuchet MS" panose="020B0603020202020204" pitchFamily="34" charset="0"/>
              </a:rPr>
              <a:t>           			case 7:  </a:t>
            </a:r>
            <a:r>
              <a:rPr lang="en-US" sz="1800" dirty="0" err="1">
                <a:solidFill>
                  <a:schemeClr val="accent4"/>
                </a:solidFill>
                <a:latin typeface="Trebuchet MS" panose="020B0603020202020204" pitchFamily="34" charset="0"/>
              </a:rPr>
              <a:t>System.out.println</a:t>
            </a:r>
            <a:r>
              <a:rPr lang="en-US" sz="1800" dirty="0">
                <a:solidFill>
                  <a:schemeClr val="accent4"/>
                </a:solidFill>
                <a:latin typeface="Trebuchet MS" panose="020B0603020202020204" pitchFamily="34" charset="0"/>
              </a:rPr>
              <a:t>("Friday");	break;</a:t>
            </a:r>
          </a:p>
          <a:p>
            <a:pPr marL="0" indent="0">
              <a:spcBef>
                <a:spcPts val="0"/>
              </a:spcBef>
              <a:spcAft>
                <a:spcPts val="0"/>
              </a:spcAft>
              <a:buNone/>
            </a:pPr>
            <a:r>
              <a:rPr lang="en-US" sz="1800" dirty="0">
                <a:solidFill>
                  <a:schemeClr val="accent4"/>
                </a:solidFill>
                <a:latin typeface="Trebuchet MS" panose="020B0603020202020204" pitchFamily="34" charset="0"/>
              </a:rPr>
              <a:t>	      			default: </a:t>
            </a:r>
            <a:r>
              <a:rPr lang="en-US" sz="1800" dirty="0" err="1">
                <a:solidFill>
                  <a:schemeClr val="accent4"/>
                </a:solidFill>
                <a:latin typeface="Trebuchet MS" panose="020B0603020202020204" pitchFamily="34" charset="0"/>
              </a:rPr>
              <a:t>System.out.println</a:t>
            </a:r>
            <a:r>
              <a:rPr lang="en-US" sz="1800" dirty="0">
                <a:solidFill>
                  <a:schemeClr val="accent4"/>
                </a:solidFill>
                <a:latin typeface="Trebuchet MS" panose="020B0603020202020204" pitchFamily="34" charset="0"/>
              </a:rPr>
              <a:t>("Wrong input");</a:t>
            </a:r>
          </a:p>
          <a:p>
            <a:pPr marL="0" indent="0">
              <a:spcBef>
                <a:spcPts val="0"/>
              </a:spcBef>
              <a:spcAft>
                <a:spcPts val="0"/>
              </a:spcAft>
              <a:buNone/>
            </a:pPr>
            <a:r>
              <a:rPr lang="en-US" sz="1800" dirty="0">
                <a:solidFill>
                  <a:schemeClr val="accent4"/>
                </a:solidFill>
                <a:latin typeface="Trebuchet MS" panose="020B0603020202020204" pitchFamily="34" charset="0"/>
              </a:rPr>
              <a:t>        			}</a:t>
            </a:r>
          </a:p>
          <a:p>
            <a:pPr marL="0" indent="0">
              <a:spcBef>
                <a:spcPts val="0"/>
              </a:spcBef>
              <a:spcAft>
                <a:spcPts val="0"/>
              </a:spcAft>
              <a:buNone/>
            </a:pPr>
            <a:r>
              <a:rPr lang="en-US" sz="1800" dirty="0">
                <a:solidFill>
                  <a:schemeClr val="accent4"/>
                </a:solidFill>
                <a:latin typeface="Trebuchet MS" panose="020B0603020202020204" pitchFamily="34" charset="0"/>
              </a:rPr>
              <a:t>    		}</a:t>
            </a:r>
          </a:p>
          <a:p>
            <a:pPr marL="0" indent="0">
              <a:spcBef>
                <a:spcPts val="0"/>
              </a:spcBef>
              <a:spcAft>
                <a:spcPts val="0"/>
              </a:spcAft>
              <a:buNone/>
            </a:pPr>
            <a:r>
              <a:rPr lang="en-US" sz="1800" dirty="0">
                <a:solidFill>
                  <a:schemeClr val="accent4"/>
                </a:solidFill>
                <a:latin typeface="Trebuchet MS" panose="020B0603020202020204" pitchFamily="34" charset="0"/>
              </a:rPr>
              <a:t>  	}</a:t>
            </a:r>
            <a:endParaRPr lang="en-US" sz="1800" b="0" i="0" u="none" strike="noStrike" baseline="0" dirty="0">
              <a:solidFill>
                <a:schemeClr val="accent4"/>
              </a:solidFill>
              <a:latin typeface="Trebuchet MS" panose="020B0603020202020204" pitchFamily="34" charset="0"/>
            </a:endParaRPr>
          </a:p>
        </p:txBody>
      </p:sp>
    </p:spTree>
    <p:extLst>
      <p:ext uri="{BB962C8B-B14F-4D97-AF65-F5344CB8AC3E}">
        <p14:creationId xmlns:p14="http://schemas.microsoft.com/office/powerpoint/2010/main" val="776556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9E98-7BF8-1F37-B6F1-61C65FD8D9EB}"/>
              </a:ext>
            </a:extLst>
          </p:cNvPr>
          <p:cNvSpPr>
            <a:spLocks noGrp="1"/>
          </p:cNvSpPr>
          <p:nvPr>
            <p:ph type="title"/>
          </p:nvPr>
        </p:nvSpPr>
        <p:spPr>
          <a:xfrm>
            <a:off x="1478596" y="102870"/>
            <a:ext cx="10018713" cy="468630"/>
          </a:xfrm>
        </p:spPr>
        <p:txBody>
          <a:bodyPr>
            <a:noAutofit/>
          </a:bodyPr>
          <a:lstStyle/>
          <a:p>
            <a:r>
              <a:rPr lang="en-GB" sz="4000" b="0" i="0" u="none" strike="noStrike" baseline="0" dirty="0">
                <a:solidFill>
                  <a:srgbClr val="222222"/>
                </a:solidFill>
                <a:latin typeface="Trebuchet MS" panose="020B0603020202020204" pitchFamily="34" charset="0"/>
              </a:rPr>
              <a:t>Switch Statement….</a:t>
            </a:r>
          </a:p>
        </p:txBody>
      </p:sp>
      <p:sp>
        <p:nvSpPr>
          <p:cNvPr id="3" name="Content Placeholder 2">
            <a:extLst>
              <a:ext uri="{FF2B5EF4-FFF2-40B4-BE49-F238E27FC236}">
                <a16:creationId xmlns:a16="http://schemas.microsoft.com/office/drawing/2014/main" id="{9A9515C4-D2C5-4F6A-4D01-D1C37ECD04BF}"/>
              </a:ext>
            </a:extLst>
          </p:cNvPr>
          <p:cNvSpPr>
            <a:spLocks noGrp="1"/>
          </p:cNvSpPr>
          <p:nvPr>
            <p:ph idx="1"/>
          </p:nvPr>
        </p:nvSpPr>
        <p:spPr>
          <a:xfrm>
            <a:off x="1739306" y="651509"/>
            <a:ext cx="10267909" cy="6206491"/>
          </a:xfrm>
        </p:spPr>
        <p:txBody>
          <a:bodyPr>
            <a:noAutofit/>
          </a:bodyPr>
          <a:lstStyle/>
          <a:p>
            <a:r>
              <a:rPr lang="en-US" sz="2800" b="1" i="0" u="none" strike="noStrike" baseline="0" dirty="0">
                <a:solidFill>
                  <a:srgbClr val="222222"/>
                </a:solidFill>
                <a:latin typeface="Trebuchet MS" panose="020B0603020202020204" pitchFamily="34" charset="0"/>
              </a:rPr>
              <a:t>Note: </a:t>
            </a:r>
            <a:r>
              <a:rPr lang="en-US" sz="2800" b="0" i="0" u="none" strike="noStrike" baseline="0" dirty="0">
                <a:solidFill>
                  <a:srgbClr val="222222"/>
                </a:solidFill>
                <a:latin typeface="Trebuchet MS" panose="020B0603020202020204" pitchFamily="34" charset="0"/>
              </a:rPr>
              <a:t>The following rules are to be considered when using a switch statement:</a:t>
            </a:r>
          </a:p>
          <a:p>
            <a:r>
              <a:rPr lang="en-US" sz="2800" b="0" i="0" u="none" strike="noStrike" baseline="0" dirty="0">
                <a:solidFill>
                  <a:srgbClr val="222222"/>
                </a:solidFill>
                <a:latin typeface="Trebuchet MS" panose="020B0603020202020204" pitchFamily="34" charset="0"/>
              </a:rPr>
              <a:t>The </a:t>
            </a:r>
            <a:r>
              <a:rPr lang="en-US" sz="2800" b="0" i="0" u="none" strike="noStrike" baseline="0" dirty="0" err="1">
                <a:solidFill>
                  <a:srgbClr val="222222"/>
                </a:solidFill>
                <a:latin typeface="Trebuchet MS" panose="020B0603020202020204" pitchFamily="34" charset="0"/>
              </a:rPr>
              <a:t>controllingExpression</a:t>
            </a:r>
            <a:r>
              <a:rPr lang="en-US" sz="2800" b="0" i="0" u="none" strike="noStrike" baseline="0" dirty="0">
                <a:solidFill>
                  <a:srgbClr val="222222"/>
                </a:solidFill>
                <a:latin typeface="Trebuchet MS" panose="020B0603020202020204" pitchFamily="34" charset="0"/>
              </a:rPr>
              <a:t> must have a byte, char, short, or int value.</a:t>
            </a:r>
          </a:p>
          <a:p>
            <a:r>
              <a:rPr lang="en-US" sz="2800" b="0" i="0" u="none" strike="noStrike" baseline="0" dirty="0">
                <a:solidFill>
                  <a:srgbClr val="222222"/>
                </a:solidFill>
                <a:latin typeface="Trebuchet MS" panose="020B0603020202020204" pitchFamily="34" charset="0"/>
              </a:rPr>
              <a:t>A case label value must be a unique constant value or a constant expression of type byte, char, short, or int.</a:t>
            </a:r>
          </a:p>
          <a:p>
            <a:r>
              <a:rPr lang="en-US" sz="2800" b="0" i="0" u="none" strike="noStrike" baseline="0" dirty="0">
                <a:solidFill>
                  <a:srgbClr val="222222"/>
                </a:solidFill>
                <a:latin typeface="Trebuchet MS" panose="020B0603020202020204" pitchFamily="34" charset="0"/>
              </a:rPr>
              <a:t>The statements of the case label that equals the </a:t>
            </a:r>
            <a:r>
              <a:rPr lang="en-US" sz="2800" b="0" i="0" u="none" strike="noStrike" baseline="0" dirty="0" err="1">
                <a:solidFill>
                  <a:srgbClr val="222222"/>
                </a:solidFill>
                <a:latin typeface="Trebuchet MS" panose="020B0603020202020204" pitchFamily="34" charset="0"/>
              </a:rPr>
              <a:t>controllingExpression</a:t>
            </a:r>
            <a:r>
              <a:rPr lang="en-US" sz="2800" b="0" i="0" u="none" strike="noStrike" baseline="0" dirty="0">
                <a:solidFill>
                  <a:srgbClr val="222222"/>
                </a:solidFill>
                <a:latin typeface="Trebuchet MS" panose="020B0603020202020204" pitchFamily="34" charset="0"/>
              </a:rPr>
              <a:t> value are executed; otherwise if there is no matching case label, the statements of the default label, if present, are executed.</a:t>
            </a:r>
          </a:p>
        </p:txBody>
      </p:sp>
    </p:spTree>
    <p:extLst>
      <p:ext uri="{BB962C8B-B14F-4D97-AF65-F5344CB8AC3E}">
        <p14:creationId xmlns:p14="http://schemas.microsoft.com/office/powerpoint/2010/main" val="34975562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10489</TotalTime>
  <Words>2286</Words>
  <Application>Microsoft Office PowerPoint</Application>
  <PresentationFormat>Widescreen</PresentationFormat>
  <Paragraphs>220</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Corbel</vt:lpstr>
      <vt:lpstr>Trebuchet MS</vt:lpstr>
      <vt:lpstr>Parallax</vt:lpstr>
      <vt:lpstr>CMP 201: Computer Programming I Control Structures</vt:lpstr>
      <vt:lpstr>Contents</vt:lpstr>
      <vt:lpstr>Control Structures</vt:lpstr>
      <vt:lpstr>Control Structures ….</vt:lpstr>
      <vt:lpstr>Sequence Structures</vt:lpstr>
      <vt:lpstr>Selection Structures</vt:lpstr>
      <vt:lpstr>Selection Structures …..</vt:lpstr>
      <vt:lpstr>Single Selection Statement</vt:lpstr>
      <vt:lpstr>Double Selection Statement</vt:lpstr>
      <vt:lpstr>The if- else statement</vt:lpstr>
      <vt:lpstr>Example</vt:lpstr>
      <vt:lpstr>Multiple Selection Statement</vt:lpstr>
      <vt:lpstr>Example</vt:lpstr>
      <vt:lpstr>Dangling else problem</vt:lpstr>
      <vt:lpstr>Example</vt:lpstr>
      <vt:lpstr>A Solution to Dangling Else Problem</vt:lpstr>
      <vt:lpstr>Switch Statement</vt:lpstr>
      <vt:lpstr>Switch Statement….</vt:lpstr>
      <vt:lpstr>Switch Statement….</vt:lpstr>
      <vt:lpstr>Example</vt:lpstr>
      <vt:lpstr>Switch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 801: Management and Entrepreneurship</dc:title>
  <dc:creator>Ahmad Idris Tambuwal</dc:creator>
  <cp:lastModifiedBy>USER</cp:lastModifiedBy>
  <cp:revision>60</cp:revision>
  <dcterms:created xsi:type="dcterms:W3CDTF">2023-04-03T11:05:13Z</dcterms:created>
  <dcterms:modified xsi:type="dcterms:W3CDTF">2026-02-02T11:51:19Z</dcterms:modified>
</cp:coreProperties>
</file>