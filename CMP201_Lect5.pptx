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87" r:id="rId4"/>
    <p:sldId id="288" r:id="rId5"/>
    <p:sldId id="259" r:id="rId6"/>
    <p:sldId id="289" r:id="rId7"/>
    <p:sldId id="290" r:id="rId8"/>
    <p:sldId id="291" r:id="rId9"/>
    <p:sldId id="292" r:id="rId10"/>
    <p:sldId id="293" r:id="rId11"/>
    <p:sldId id="295" r:id="rId12"/>
    <p:sldId id="297" r:id="rId13"/>
    <p:sldId id="298" r:id="rId14"/>
    <p:sldId id="304" r:id="rId15"/>
    <p:sldId id="305" r:id="rId16"/>
    <p:sldId id="306" r:id="rId17"/>
    <p:sldId id="299" r:id="rId18"/>
    <p:sldId id="300" r:id="rId19"/>
    <p:sldId id="302" r:id="rId20"/>
    <p:sldId id="303" r:id="rId21"/>
    <p:sldId id="307" r:id="rId22"/>
    <p:sldId id="308" r:id="rId23"/>
    <p:sldId id="309" r:id="rId24"/>
    <p:sldId id="31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3216" autoAdjust="0"/>
  </p:normalViewPr>
  <p:slideViewPr>
    <p:cSldViewPr snapToGrid="0">
      <p:cViewPr varScale="1">
        <p:scale>
          <a:sx n="67" d="100"/>
          <a:sy n="67" d="100"/>
        </p:scale>
        <p:origin x="648" y="4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7EE9-5D66-F14F-3B34-225822B8E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805940"/>
            <a:ext cx="10647045" cy="170307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5400" b="1" dirty="0"/>
              <a:t>CMP 201: Computer Programming I</a:t>
            </a:r>
            <a:br>
              <a:rPr lang="en-GB" sz="5400" b="1" dirty="0"/>
            </a:br>
            <a:r>
              <a:rPr lang="en-GB" sz="5400" b="1" dirty="0">
                <a:solidFill>
                  <a:schemeClr val="accent4"/>
                </a:solidFill>
              </a:rPr>
              <a:t>Repetition Structures</a:t>
            </a:r>
          </a:p>
        </p:txBody>
      </p:sp>
    </p:spTree>
    <p:extLst>
      <p:ext uri="{BB962C8B-B14F-4D97-AF65-F5344CB8AC3E}">
        <p14:creationId xmlns:p14="http://schemas.microsoft.com/office/powerpoint/2010/main" val="2470596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27E5F-D50A-0DE8-DC9D-2603075CD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831" y="80587"/>
            <a:ext cx="10018713" cy="650933"/>
          </a:xfrm>
        </p:spPr>
        <p:txBody>
          <a:bodyPr>
            <a:normAutofit fontScale="90000"/>
          </a:bodyPr>
          <a:lstStyle/>
          <a:p>
            <a:r>
              <a:rPr lang="en-GB" altLang="en-US" dirty="0">
                <a:latin typeface="Trebuchet MS" panose="020B0603020202020204" pitchFamily="34" charset="0"/>
              </a:rPr>
              <a:t>Repetition Structure</a:t>
            </a:r>
            <a:endParaRPr lang="en-GB" dirty="0">
              <a:latin typeface="Trebuchet MS" panose="020B06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D9065-6505-41D6-7409-D0396F695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7778" y="731520"/>
            <a:ext cx="10738022" cy="5943600"/>
          </a:xfrm>
        </p:spPr>
        <p:txBody>
          <a:bodyPr>
            <a:normAutofit fontScale="85000" lnSpcReduction="20000"/>
          </a:bodyPr>
          <a:lstStyle/>
          <a:p>
            <a:pPr marR="0" algn="l"/>
            <a:r>
              <a:rPr lang="en-US" sz="32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Repetition statements are used in Java to perform statements repeatedly as long as a given condition remains true. </a:t>
            </a:r>
          </a:p>
          <a:p>
            <a:pPr marR="0" algn="l"/>
            <a:r>
              <a:rPr lang="en-US" sz="32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The repetition or looping statements help to execute a set of instructions repeatedly as long as the condition is true. </a:t>
            </a:r>
          </a:p>
          <a:p>
            <a:pPr marR="0" algn="l"/>
            <a:r>
              <a:rPr lang="en-US" sz="32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It repeats some portion of the program either a specified number of times or until a particular condition is satisfied. </a:t>
            </a:r>
          </a:p>
          <a:p>
            <a:pPr marR="0" algn="l"/>
            <a:r>
              <a:rPr lang="en-US" sz="32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This process of repeating some portion of the program is called looping or branching. </a:t>
            </a:r>
          </a:p>
          <a:p>
            <a:pPr marR="0" algn="l"/>
            <a:r>
              <a:rPr lang="en-US" sz="32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Sometimes we will provide the number of repetitions whereas in some cases we may not be aware of the number of repetitions. </a:t>
            </a:r>
          </a:p>
          <a:p>
            <a:pPr marR="0" algn="l"/>
            <a:r>
              <a:rPr lang="en-US" sz="32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Java provides the following three repetition statements:</a:t>
            </a:r>
          </a:p>
          <a:p>
            <a:pPr lvl="1"/>
            <a:r>
              <a:rPr lang="en-US" sz="2800" b="0" i="0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while statement</a:t>
            </a:r>
          </a:p>
          <a:p>
            <a:pPr lvl="1"/>
            <a:r>
              <a:rPr lang="en-US" sz="2800" b="0" i="0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do…while statement</a:t>
            </a:r>
          </a:p>
          <a:p>
            <a:pPr lvl="1"/>
            <a:r>
              <a:rPr lang="en-US" sz="2800" b="0" i="0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for statement</a:t>
            </a:r>
          </a:p>
        </p:txBody>
      </p:sp>
    </p:spTree>
    <p:extLst>
      <p:ext uri="{BB962C8B-B14F-4D97-AF65-F5344CB8AC3E}">
        <p14:creationId xmlns:p14="http://schemas.microsoft.com/office/powerpoint/2010/main" val="2682166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27E5F-D50A-0DE8-DC9D-2603075CD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831" y="80587"/>
            <a:ext cx="10018713" cy="502343"/>
          </a:xfrm>
        </p:spPr>
        <p:txBody>
          <a:bodyPr>
            <a:normAutofit fontScale="90000"/>
          </a:bodyPr>
          <a:lstStyle/>
          <a:p>
            <a:r>
              <a:rPr lang="en-GB" altLang="en-US" dirty="0">
                <a:latin typeface="Trebuchet MS" panose="020B0603020202020204" pitchFamily="34" charset="0"/>
              </a:rPr>
              <a:t>While Statement</a:t>
            </a:r>
            <a:endParaRPr lang="en-GB" dirty="0">
              <a:latin typeface="Trebuchet MS" panose="020B06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D9065-6505-41D6-7409-D0396F695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353" y="582930"/>
            <a:ext cx="10738022" cy="6206490"/>
          </a:xfrm>
        </p:spPr>
        <p:txBody>
          <a:bodyPr>
            <a:noAutofit/>
          </a:bodyPr>
          <a:lstStyle/>
          <a:p>
            <a:pPr marR="0" algn="l"/>
            <a:r>
              <a:rPr lang="en-US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The while statement allows the programmer to specify that a program should repeat an action (or group of actions) while some condition remains true.</a:t>
            </a:r>
          </a:p>
          <a:p>
            <a:pPr marR="0" algn="l"/>
            <a:r>
              <a:rPr lang="en-US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The condition is usually put in brackets and placed immediately after the while statement. </a:t>
            </a:r>
          </a:p>
          <a:p>
            <a:pPr marR="0" algn="l"/>
            <a:r>
              <a:rPr lang="en-US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The general structure is as follows:</a:t>
            </a:r>
          </a:p>
          <a:p>
            <a:pPr marL="0" marR="0" indent="0" algn="l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      while (condition) {</a:t>
            </a:r>
          </a:p>
          <a:p>
            <a:pPr marL="0" marR="0" indent="0" algn="l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statements;</a:t>
            </a:r>
          </a:p>
          <a:p>
            <a:pPr marL="0" marR="0" indent="0" algn="l">
              <a:buNone/>
            </a:pPr>
            <a:r>
              <a:rPr lang="en-US" i="1" dirty="0">
                <a:solidFill>
                  <a:srgbClr val="FF0000"/>
                </a:solidFill>
                <a:latin typeface="Trebuchet MS" panose="020B0603020202020204" pitchFamily="34" charset="0"/>
              </a:rPr>
              <a:t>		 }</a:t>
            </a:r>
            <a:endParaRPr lang="en-US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R="0" algn="l"/>
            <a:r>
              <a:rPr lang="en-US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The condition is evaluated first. </a:t>
            </a:r>
          </a:p>
          <a:p>
            <a:pPr marR="0" algn="l"/>
            <a:r>
              <a:rPr lang="en-US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Statement is executed if condition is true. </a:t>
            </a:r>
          </a:p>
          <a:p>
            <a:pPr marR="0" algn="l"/>
            <a:r>
              <a:rPr lang="en-US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The condition is evaluated again and so on till the condition evaluates to false. </a:t>
            </a:r>
          </a:p>
        </p:txBody>
      </p:sp>
    </p:spTree>
    <p:extLst>
      <p:ext uri="{BB962C8B-B14F-4D97-AF65-F5344CB8AC3E}">
        <p14:creationId xmlns:p14="http://schemas.microsoft.com/office/powerpoint/2010/main" val="4253891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27E5F-D50A-0DE8-DC9D-2603075CD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831" y="80587"/>
            <a:ext cx="10018713" cy="502343"/>
          </a:xfrm>
        </p:spPr>
        <p:txBody>
          <a:bodyPr>
            <a:noAutofit/>
          </a:bodyPr>
          <a:lstStyle/>
          <a:p>
            <a:r>
              <a:rPr lang="en-GB" altLang="en-US" sz="4400" dirty="0">
                <a:latin typeface="Trebuchet MS" panose="020B0603020202020204" pitchFamily="34" charset="0"/>
              </a:rPr>
              <a:t>Example 1</a:t>
            </a:r>
            <a:endParaRPr lang="en-GB" sz="4400" dirty="0">
              <a:latin typeface="Trebuchet MS" panose="020B06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D9065-6505-41D6-7409-D0396F695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435" y="737235"/>
            <a:ext cx="10921365" cy="5915025"/>
          </a:xfrm>
        </p:spPr>
        <p:txBody>
          <a:bodyPr>
            <a:normAutofit/>
          </a:bodyPr>
          <a:lstStyle/>
          <a:p>
            <a:pPr marL="0" marR="0" indent="0" algn="l">
              <a:buNone/>
            </a:pPr>
            <a:r>
              <a:rPr lang="en-US" sz="32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			</a:t>
            </a:r>
            <a:r>
              <a:rPr lang="en-US" sz="3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int counter = 1;</a:t>
            </a:r>
          </a:p>
          <a:p>
            <a:pPr marL="0" marR="0" indent="0" algn="l">
              <a:buNone/>
            </a:pPr>
            <a:r>
              <a:rPr lang="en-US" sz="3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while (counter &lt;= 100){</a:t>
            </a:r>
          </a:p>
          <a:p>
            <a:pPr marL="0" marR="0" indent="0" algn="l">
              <a:buNone/>
            </a:pPr>
            <a:r>
              <a:rPr lang="en-US" sz="3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</a:t>
            </a:r>
            <a:r>
              <a:rPr lang="en-US" sz="3200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System.out.println</a:t>
            </a:r>
            <a:r>
              <a:rPr lang="en-US" sz="3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(“I love Java Programming”);</a:t>
            </a:r>
          </a:p>
          <a:p>
            <a:pPr marL="0" marR="0" indent="0" algn="l">
              <a:buNone/>
            </a:pPr>
            <a:r>
              <a:rPr lang="en-US" sz="3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}</a:t>
            </a:r>
            <a:endParaRPr lang="en-US" sz="3200" b="0" i="0" u="none" strike="noStrike" baseline="0" dirty="0">
              <a:solidFill>
                <a:srgbClr val="FF0000"/>
              </a:solidFill>
              <a:latin typeface="Trebuchet MS" panose="020B0603020202020204" pitchFamily="34" charset="0"/>
            </a:endParaRPr>
          </a:p>
          <a:p>
            <a:pPr marR="0" algn="l"/>
            <a:r>
              <a:rPr lang="en-US" sz="32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In this example, the initial situation is counter = 1, while the condition in bracket is counter &lt;= 100. </a:t>
            </a:r>
          </a:p>
          <a:p>
            <a:pPr marR="0" algn="l"/>
            <a:r>
              <a:rPr lang="en-US" sz="32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So as long as the value of counter is less than or equal to 100, the statement “I love Java Programming” will be printed continuously.</a:t>
            </a:r>
          </a:p>
          <a:p>
            <a:pPr lvl="1"/>
            <a:endParaRPr lang="en-US" sz="2800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410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102870"/>
            <a:ext cx="10018713" cy="468630"/>
          </a:xfrm>
        </p:spPr>
        <p:txBody>
          <a:bodyPr>
            <a:noAutofit/>
          </a:bodyPr>
          <a:lstStyle/>
          <a:p>
            <a:r>
              <a:rPr lang="en-GB" sz="40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651509"/>
            <a:ext cx="10267909" cy="62064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		</a:t>
            </a:r>
            <a:r>
              <a:rPr lang="en-US" sz="28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int age = 18;</a:t>
            </a:r>
          </a:p>
          <a:p>
            <a:pPr marL="0" indent="0">
              <a:buNone/>
            </a:pPr>
            <a:r>
              <a:rPr lang="en-US" sz="28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while (age &lt;= 40){</a:t>
            </a:r>
          </a:p>
          <a:p>
            <a:pPr marL="0" indent="0">
              <a:buNone/>
            </a:pPr>
            <a:r>
              <a:rPr lang="en-US" sz="28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</a:t>
            </a:r>
            <a:r>
              <a:rPr lang="en-US" sz="2800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System.out.println</a:t>
            </a:r>
            <a:r>
              <a:rPr lang="en-US" sz="28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(“I am a youth”); </a:t>
            </a:r>
          </a:p>
          <a:p>
            <a:pPr marL="0" indent="0">
              <a:buNone/>
            </a:pPr>
            <a:r>
              <a:rPr lang="en-US" sz="28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age = age +1;</a:t>
            </a:r>
          </a:p>
          <a:p>
            <a:pPr marL="0" indent="0">
              <a:buNone/>
            </a:pPr>
            <a:r>
              <a:rPr lang="en-US" sz="28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}</a:t>
            </a:r>
          </a:p>
          <a:p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In this example, we have introduced a situation that will make the condition in bracket to become false after a number of rounds. </a:t>
            </a:r>
          </a:p>
          <a:p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Since we are increasing the age by 1 every time we run the program, once the age reaches 41, the loop will terminate.</a:t>
            </a:r>
          </a:p>
        </p:txBody>
      </p:sp>
    </p:spTree>
    <p:extLst>
      <p:ext uri="{BB962C8B-B14F-4D97-AF65-F5344CB8AC3E}">
        <p14:creationId xmlns:p14="http://schemas.microsoft.com/office/powerpoint/2010/main" val="284521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102870"/>
            <a:ext cx="10018713" cy="468630"/>
          </a:xfrm>
        </p:spPr>
        <p:txBody>
          <a:bodyPr>
            <a:noAutofit/>
          </a:bodyPr>
          <a:lstStyle/>
          <a:p>
            <a:r>
              <a:rPr lang="en-GB" sz="40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651509"/>
            <a:ext cx="10267909" cy="6206491"/>
          </a:xfrm>
        </p:spPr>
        <p:txBody>
          <a:bodyPr>
            <a:noAutofit/>
          </a:bodyPr>
          <a:lstStyle/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Write a simple program that prints all the numbers between 1 and 100 inclusive.</a:t>
            </a:r>
          </a:p>
          <a:p>
            <a:r>
              <a:rPr lang="en-US" b="1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Solution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		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public class Numbers{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public static void main (String[] </a:t>
            </a:r>
            <a:r>
              <a:rPr lang="en-US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args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){ 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	int counter = 1;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	while (counter &lt;= 100){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		</a:t>
            </a:r>
            <a:r>
              <a:rPr lang="en-US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System.out.println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(counter);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		counter++;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	}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}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}</a:t>
            </a:r>
          </a:p>
        </p:txBody>
      </p:sp>
    </p:spTree>
    <p:extLst>
      <p:ext uri="{BB962C8B-B14F-4D97-AF65-F5344CB8AC3E}">
        <p14:creationId xmlns:p14="http://schemas.microsoft.com/office/powerpoint/2010/main" val="680832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102870"/>
            <a:ext cx="10018713" cy="468630"/>
          </a:xfrm>
        </p:spPr>
        <p:txBody>
          <a:bodyPr>
            <a:noAutofit/>
          </a:bodyPr>
          <a:lstStyle/>
          <a:p>
            <a:r>
              <a:rPr lang="en-GB" sz="40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651509"/>
            <a:ext cx="10267909" cy="6206491"/>
          </a:xfrm>
        </p:spPr>
        <p:txBody>
          <a:bodyPr>
            <a:noAutofit/>
          </a:bodyPr>
          <a:lstStyle/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Initially, the value of counter is 1, hence the condition counter &lt;= 100 will evaluate to true. Hence the two statements in the while loop will be executed. </a:t>
            </a:r>
          </a:p>
          <a:p>
            <a:pPr lvl="1"/>
            <a:r>
              <a:rPr lang="en-US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first statement will print the value stored in counter, which is 1. </a:t>
            </a:r>
          </a:p>
          <a:p>
            <a:pPr lvl="1"/>
            <a:r>
              <a:rPr lang="en-US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second statement will then add 1 to the value stored in counter, hence increasing it to 2.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After performing the two actions, the program will check the condition again and it will find that the condition is still true because the value of counter is now 2 which is still less than 100. Therefore the program will print the value 2 and then increase it to 3.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following actions will continue until the value of counter reaches 101, which is greater than 100. </a:t>
            </a:r>
          </a:p>
          <a:p>
            <a:pPr lvl="1"/>
            <a:r>
              <a:rPr lang="en-US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At this point the while loop cannot continue because the condition in bracket has become false. </a:t>
            </a:r>
          </a:p>
          <a:p>
            <a:pPr lvl="1"/>
            <a:r>
              <a:rPr lang="en-US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Hence the program will terminate after printing 1 to 100.</a:t>
            </a:r>
          </a:p>
        </p:txBody>
      </p:sp>
    </p:spTree>
    <p:extLst>
      <p:ext uri="{BB962C8B-B14F-4D97-AF65-F5344CB8AC3E}">
        <p14:creationId xmlns:p14="http://schemas.microsoft.com/office/powerpoint/2010/main" val="2160042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102870"/>
            <a:ext cx="10018713" cy="325755"/>
          </a:xfrm>
        </p:spPr>
        <p:txBody>
          <a:bodyPr>
            <a:noAutofit/>
          </a:bodyPr>
          <a:lstStyle/>
          <a:p>
            <a:r>
              <a:rPr lang="en-GB" sz="30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596" y="468630"/>
            <a:ext cx="10528619" cy="6389371"/>
          </a:xfrm>
        </p:spPr>
        <p:txBody>
          <a:bodyPr>
            <a:noAutofit/>
          </a:bodyPr>
          <a:lstStyle/>
          <a:p>
            <a:r>
              <a:rPr lang="en-US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Write a program that will compute the average of a set of values entered by the user. The running sum is printed as the numbers are entered.</a:t>
            </a:r>
          </a:p>
          <a:p>
            <a:r>
              <a:rPr lang="en-US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Solution</a:t>
            </a:r>
          </a:p>
          <a:p>
            <a:pPr marL="0" indent="0">
              <a:buNone/>
            </a:pPr>
            <a:r>
              <a:rPr lang="en-US" sz="14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</a:t>
            </a:r>
            <a:r>
              <a:rPr lang="en-US" sz="1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import </a:t>
            </a:r>
            <a:r>
              <a:rPr lang="en-US" sz="1200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java.util.Scanner</a:t>
            </a:r>
            <a:r>
              <a:rPr lang="en-US" sz="1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n-US" sz="1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public class </a:t>
            </a:r>
            <a:r>
              <a:rPr lang="en-US" sz="1200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Average_Numbers</a:t>
            </a:r>
            <a:r>
              <a:rPr lang="en-US" sz="1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{</a:t>
            </a:r>
          </a:p>
          <a:p>
            <a:pPr marL="0" indent="0">
              <a:buNone/>
            </a:pPr>
            <a:r>
              <a:rPr lang="en-US" sz="1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public static void main (String[] </a:t>
            </a:r>
            <a:r>
              <a:rPr lang="en-US" sz="1200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args</a:t>
            </a:r>
            <a:r>
              <a:rPr lang="en-US" sz="1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){</a:t>
            </a:r>
          </a:p>
          <a:p>
            <a:pPr marL="0" indent="0">
              <a:buNone/>
            </a:pPr>
            <a:r>
              <a:rPr lang="en-US" sz="1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Scanner input=new Scanner(System.in);</a:t>
            </a:r>
          </a:p>
          <a:p>
            <a:pPr marL="0" indent="0">
              <a:buNone/>
            </a:pPr>
            <a:r>
              <a:rPr lang="en-US" sz="1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int sum = 0, value, count = 0;</a:t>
            </a:r>
          </a:p>
          <a:p>
            <a:pPr marL="0" indent="0">
              <a:buNone/>
            </a:pPr>
            <a:r>
              <a:rPr lang="en-US" sz="1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double average;</a:t>
            </a:r>
          </a:p>
          <a:p>
            <a:pPr marL="0" indent="0">
              <a:buNone/>
            </a:pPr>
            <a:r>
              <a:rPr lang="en-US" sz="1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</a:t>
            </a:r>
            <a:r>
              <a:rPr lang="en-US" sz="1200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System.out.print</a:t>
            </a:r>
            <a:r>
              <a:rPr lang="en-US" sz="1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 ("Enter an integer (0 to quit): ");</a:t>
            </a:r>
          </a:p>
          <a:p>
            <a:pPr marL="0" indent="0">
              <a:buNone/>
            </a:pPr>
            <a:r>
              <a:rPr lang="en-US" sz="1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value = </a:t>
            </a:r>
            <a:r>
              <a:rPr lang="en-US" sz="1200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input.nextInt</a:t>
            </a:r>
            <a:r>
              <a:rPr lang="en-US" sz="1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Trebuchet MS" panose="020B0603020202020204" pitchFamily="34" charset="0"/>
              </a:rPr>
              <a:t>				while (value != 0)  // sentinel value of 0 to terminate loop{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Trebuchet MS" panose="020B0603020202020204" pitchFamily="34" charset="0"/>
              </a:rPr>
              <a:t>         				sum += value;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Trebuchet MS" panose="020B0603020202020204" pitchFamily="34" charset="0"/>
              </a:rPr>
              <a:t>					count++;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Trebuchet MS" panose="020B0603020202020204" pitchFamily="34" charset="0"/>
              </a:rPr>
              <a:t>					</a:t>
            </a:r>
            <a:r>
              <a:rPr lang="en-US" sz="1200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System.out.print</a:t>
            </a:r>
            <a:r>
              <a:rPr lang="en-US" sz="1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 ("Enter an integer (0 to quit): ");</a:t>
            </a:r>
          </a:p>
          <a:p>
            <a:pPr marL="0" indent="0">
              <a:buNone/>
            </a:pPr>
            <a:r>
              <a:rPr lang="en-US" sz="1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value = </a:t>
            </a:r>
            <a:r>
              <a:rPr lang="en-US" sz="1200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input.nextInt</a:t>
            </a:r>
            <a:r>
              <a:rPr lang="en-US" sz="1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();</a:t>
            </a:r>
            <a:endParaRPr lang="en-US" sz="1200" i="1" dirty="0">
              <a:solidFill>
                <a:srgbClr val="FF0000"/>
              </a:solidFill>
              <a:latin typeface="Trebuchet MS" panose="020B0603020202020204" pitchFamily="34" charset="0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Trebuchet MS" panose="020B0603020202020204" pitchFamily="34" charset="0"/>
              </a:rPr>
              <a:t>      				}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Trebuchet MS" panose="020B0603020202020204" pitchFamily="34" charset="0"/>
              </a:rPr>
              <a:t>      				average = (double)sum / count;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Trebuchet MS" panose="020B0603020202020204" pitchFamily="34" charset="0"/>
              </a:rPr>
              <a:t>     				</a:t>
            </a:r>
            <a:r>
              <a:rPr lang="en-US" sz="1200" i="1" dirty="0" err="1">
                <a:solidFill>
                  <a:srgbClr val="FF0000"/>
                </a:solidFill>
                <a:latin typeface="Trebuchet MS" panose="020B0603020202020204" pitchFamily="34" charset="0"/>
              </a:rPr>
              <a:t>System.out.println</a:t>
            </a:r>
            <a:r>
              <a:rPr lang="en-US" sz="1200" i="1" dirty="0">
                <a:solidFill>
                  <a:srgbClr val="FF0000"/>
                </a:solidFill>
                <a:latin typeface="Trebuchet MS" panose="020B0603020202020204" pitchFamily="34" charset="0"/>
              </a:rPr>
              <a:t> ("The average is " + average);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Trebuchet MS" panose="020B0603020202020204" pitchFamily="34" charset="0"/>
              </a:rPr>
              <a:t>   			}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Trebuchet MS" panose="020B0603020202020204" pitchFamily="34" charset="0"/>
              </a:rPr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3691052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102870"/>
            <a:ext cx="10018713" cy="468630"/>
          </a:xfrm>
        </p:spPr>
        <p:txBody>
          <a:bodyPr>
            <a:noAutofit/>
          </a:bodyPr>
          <a:lstStyle/>
          <a:p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do-while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651509"/>
            <a:ext cx="10267909" cy="6206491"/>
          </a:xfrm>
        </p:spPr>
        <p:txBody>
          <a:bodyPr>
            <a:noAutofit/>
          </a:bodyPr>
          <a:lstStyle/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do…while repetition statement is similar to the while statement. 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In the while statement, the program tests the loop condition at the beginning of the loop before executing the loops body. 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If the condition is false, the body never executes.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do…while statement tests the loop condition after executing the body. 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general structure is as follows: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         			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do {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     				statements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   					} while (condition);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statement is executed first.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condition is evaluated next. If the condition is true, the statement is executed again and so on till the condition evaluates to false. </a:t>
            </a:r>
            <a:endParaRPr lang="en-US" b="0" i="0" u="none" strike="noStrike" baseline="0" dirty="0">
              <a:solidFill>
                <a:schemeClr val="accent4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06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102870"/>
            <a:ext cx="10018713" cy="468630"/>
          </a:xfrm>
        </p:spPr>
        <p:txBody>
          <a:bodyPr>
            <a:noAutofit/>
          </a:bodyPr>
          <a:lstStyle/>
          <a:p>
            <a:r>
              <a:rPr lang="en-GB" sz="40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651509"/>
            <a:ext cx="10267909" cy="6206491"/>
          </a:xfrm>
        </p:spPr>
        <p:txBody>
          <a:bodyPr>
            <a:noAutofit/>
          </a:bodyPr>
          <a:lstStyle/>
          <a:p>
            <a:r>
              <a:rPr lang="en-US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Write a program that prints numbers starting from 80 to 30.</a:t>
            </a:r>
          </a:p>
          <a:p>
            <a:r>
              <a:rPr lang="en-US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Solution</a:t>
            </a:r>
          </a:p>
          <a:p>
            <a:pPr marL="0" indent="0">
              <a:buNone/>
            </a:pPr>
            <a:r>
              <a:rPr lang="en-US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	</a:t>
            </a:r>
            <a:r>
              <a:rPr lang="en-US" sz="2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public class </a:t>
            </a:r>
            <a:r>
              <a:rPr lang="en-US" sz="2200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myNumbers</a:t>
            </a:r>
            <a:r>
              <a:rPr lang="en-US" sz="2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{</a:t>
            </a:r>
          </a:p>
          <a:p>
            <a:pPr marL="0" indent="0">
              <a:buNone/>
            </a:pPr>
            <a:r>
              <a:rPr lang="en-US" sz="2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public static void main (String[] </a:t>
            </a:r>
            <a:r>
              <a:rPr lang="en-US" sz="2200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args</a:t>
            </a:r>
            <a:r>
              <a:rPr lang="en-US" sz="2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){ </a:t>
            </a:r>
          </a:p>
          <a:p>
            <a:pPr marL="0" indent="0">
              <a:buNone/>
            </a:pPr>
            <a:r>
              <a:rPr lang="en-US" sz="2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int counter = 80;</a:t>
            </a:r>
          </a:p>
          <a:p>
            <a:pPr marL="0" indent="0">
              <a:buNone/>
            </a:pPr>
            <a:r>
              <a:rPr lang="en-US" sz="2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do{</a:t>
            </a:r>
          </a:p>
          <a:p>
            <a:pPr marL="0" indent="0">
              <a:buNone/>
            </a:pPr>
            <a:r>
              <a:rPr lang="en-US" sz="2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	</a:t>
            </a:r>
            <a:r>
              <a:rPr lang="en-US" sz="2200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System.out.println</a:t>
            </a:r>
            <a:r>
              <a:rPr lang="en-US" sz="2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(counter);</a:t>
            </a:r>
          </a:p>
          <a:p>
            <a:pPr marL="0" indent="0">
              <a:buNone/>
            </a:pPr>
            <a:r>
              <a:rPr lang="en-US" sz="2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	Counter--;</a:t>
            </a:r>
          </a:p>
          <a:p>
            <a:pPr marL="0" indent="0">
              <a:buNone/>
            </a:pPr>
            <a:r>
              <a:rPr lang="en-US" sz="2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  }while (counter &gt;= 30);			</a:t>
            </a:r>
          </a:p>
          <a:p>
            <a:pPr marL="0" indent="0">
              <a:buNone/>
            </a:pPr>
            <a:r>
              <a:rPr lang="en-US" sz="2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}</a:t>
            </a:r>
          </a:p>
          <a:p>
            <a:pPr marL="0" indent="0">
              <a:buNone/>
            </a:pPr>
            <a:r>
              <a:rPr lang="en-US" sz="2200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}</a:t>
            </a:r>
          </a:p>
          <a:p>
            <a:r>
              <a:rPr lang="en-US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From the program it is clear that the loop condition is not evaluated until after the loop performs the action at least once.</a:t>
            </a:r>
          </a:p>
        </p:txBody>
      </p:sp>
    </p:spTree>
    <p:extLst>
      <p:ext uri="{BB962C8B-B14F-4D97-AF65-F5344CB8AC3E}">
        <p14:creationId xmlns:p14="http://schemas.microsoft.com/office/powerpoint/2010/main" val="3548487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102870"/>
            <a:ext cx="10018713" cy="325755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222222"/>
                </a:solidFill>
                <a:latin typeface="Trebuchet MS" panose="020B0603020202020204" pitchFamily="34" charset="0"/>
              </a:rPr>
              <a:t>The for </a:t>
            </a:r>
            <a:r>
              <a:rPr lang="en-GB" sz="3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554355"/>
            <a:ext cx="10267909" cy="6143625"/>
          </a:xfrm>
        </p:spPr>
        <p:txBody>
          <a:bodyPr>
            <a:noAutofit/>
          </a:bodyPr>
          <a:lstStyle/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Java for loop is used to iterate a part of the program several times. 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If the number of iteration is fixed, it is recommended to use for loop. 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A for loop is a repetition control structure that allows you to efficiently write a loop that needs to be executed a specific number of times.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 A for loop is useful when you know how many times a task is to be repeated. 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general structure is as follows: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				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for (initialization; condition; update){ 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		statement(s);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  <a:latin typeface="Trebuchet MS" panose="020B0603020202020204" pitchFamily="34" charset="0"/>
              </a:rPr>
              <a:t>						}</a:t>
            </a:r>
            <a:endParaRPr lang="en-US" b="0" i="1" u="none" strike="noStrike" baseline="0" dirty="0">
              <a:solidFill>
                <a:srgbClr val="FF0000"/>
              </a:solidFill>
              <a:latin typeface="Trebuchet MS" panose="020B0603020202020204" pitchFamily="34" charset="0"/>
            </a:endParaRPr>
          </a:p>
          <a:p>
            <a:endParaRPr lang="en-US" sz="2200" b="0" i="0" u="none" strike="noStrike" baseline="0" dirty="0">
              <a:solidFill>
                <a:schemeClr val="accent4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852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0"/>
            <a:ext cx="10018713" cy="382905"/>
          </a:xfrm>
        </p:spPr>
        <p:txBody>
          <a:bodyPr>
            <a:noAutofit/>
          </a:bodyPr>
          <a:lstStyle/>
          <a:p>
            <a:r>
              <a:rPr lang="en-GB" sz="3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for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554355"/>
            <a:ext cx="10267909" cy="630364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222222"/>
                </a:solidFill>
                <a:latin typeface="Trebuchet MS" panose="020B0603020202020204" pitchFamily="34" charset="0"/>
              </a:rPr>
              <a:t>The for statement</a:t>
            </a: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 has three parts, separated by a semicolon: initialization, condition, and update. 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 </a:t>
            </a:r>
            <a:r>
              <a:rPr lang="en-US" b="1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initialization</a:t>
            </a: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 step is executed first, and only once. This step allows you to declare and initialize any loop control variables and this step ends with a semi colon (;).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Next, the </a:t>
            </a:r>
            <a:r>
              <a:rPr lang="en-US" b="1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condition</a:t>
            </a: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 is evaluated. If it is true, the body of the loop is executed. If it is false the body of the loop will not be executed and control jumps to the next statement.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After the </a:t>
            </a:r>
            <a:r>
              <a:rPr lang="en-US" b="1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body</a:t>
            </a: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 of the for loop gets executed, the control jumps back up to the </a:t>
            </a:r>
            <a:r>
              <a:rPr lang="en-US" b="1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update</a:t>
            </a: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 statement. 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condition is now evaluated again. If it is true, the loop executes and the process repeats (body of loop, then update step, then condition). 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After the condition is false the for loop terminates.</a:t>
            </a:r>
          </a:p>
        </p:txBody>
      </p:sp>
    </p:spTree>
    <p:extLst>
      <p:ext uri="{BB962C8B-B14F-4D97-AF65-F5344CB8AC3E}">
        <p14:creationId xmlns:p14="http://schemas.microsoft.com/office/powerpoint/2010/main" val="3776063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0"/>
            <a:ext cx="10018713" cy="382905"/>
          </a:xfrm>
        </p:spPr>
        <p:txBody>
          <a:bodyPr>
            <a:noAutofit/>
          </a:bodyPr>
          <a:lstStyle/>
          <a:p>
            <a:r>
              <a:rPr lang="en-GB" sz="3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382905"/>
            <a:ext cx="10267909" cy="6103619"/>
          </a:xfrm>
        </p:spPr>
        <p:txBody>
          <a:bodyPr>
            <a:noAutofit/>
          </a:bodyPr>
          <a:lstStyle/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Write a program that prints numbers from 1 to 100 using for statement.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Solution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		</a:t>
            </a:r>
            <a:r>
              <a:rPr lang="en-US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public class Numbers {</a:t>
            </a:r>
          </a:p>
          <a:p>
            <a:pPr marL="0" indent="0">
              <a:buNone/>
            </a:pPr>
            <a:r>
              <a:rPr lang="en-US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public static void main (String[] </a:t>
            </a:r>
            <a:r>
              <a:rPr lang="en-US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args</a:t>
            </a:r>
            <a:r>
              <a:rPr lang="en-US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) {</a:t>
            </a:r>
          </a:p>
          <a:p>
            <a:pPr marL="0" indent="0">
              <a:buNone/>
            </a:pPr>
            <a:r>
              <a:rPr lang="en-US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	for (int counter = 1; counter &lt;= 100;    counter ++){</a:t>
            </a:r>
          </a:p>
          <a:p>
            <a:pPr marL="0" indent="0">
              <a:buNone/>
            </a:pPr>
            <a:r>
              <a:rPr lang="en-US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		</a:t>
            </a:r>
            <a:r>
              <a:rPr lang="en-US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System.out.println</a:t>
            </a:r>
            <a:r>
              <a:rPr lang="en-US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(counter);</a:t>
            </a:r>
          </a:p>
          <a:p>
            <a:pPr marL="0" indent="0">
              <a:buNone/>
            </a:pPr>
            <a:r>
              <a:rPr lang="en-US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	}</a:t>
            </a:r>
          </a:p>
          <a:p>
            <a:pPr marL="0" indent="0">
              <a:buNone/>
            </a:pPr>
            <a:r>
              <a:rPr lang="en-US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}</a:t>
            </a:r>
          </a:p>
          <a:p>
            <a:pPr marL="0" indent="0">
              <a:buNone/>
            </a:pPr>
            <a:r>
              <a:rPr lang="en-US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}</a:t>
            </a: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483558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0"/>
            <a:ext cx="10018713" cy="382905"/>
          </a:xfrm>
        </p:spPr>
        <p:txBody>
          <a:bodyPr>
            <a:noAutofit/>
          </a:bodyPr>
          <a:lstStyle/>
          <a:p>
            <a:r>
              <a:rPr lang="en-GB" sz="3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548641"/>
            <a:ext cx="10267909" cy="6532244"/>
          </a:xfrm>
        </p:spPr>
        <p:txBody>
          <a:bodyPr>
            <a:noAutofit/>
          </a:bodyPr>
          <a:lstStyle/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Write a Java program that will calculate and display the sum of first 20 numbers.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Solution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		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public class </a:t>
            </a:r>
            <a:r>
              <a:rPr lang="en-US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SumofNumbers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 {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    					public static void main(String </a:t>
            </a:r>
            <a:r>
              <a:rPr lang="en-US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args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[]) {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        					int sum = 0;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                			for (int x = 1; x &lt;= 20; x++) {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            					sum = sum + x;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        					}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        					</a:t>
            </a:r>
            <a:r>
              <a:rPr lang="en-US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System.out.println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("Sum: " + sum);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    					}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}</a:t>
            </a:r>
          </a:p>
        </p:txBody>
      </p:sp>
    </p:spTree>
    <p:extLst>
      <p:ext uri="{BB962C8B-B14F-4D97-AF65-F5344CB8AC3E}">
        <p14:creationId xmlns:p14="http://schemas.microsoft.com/office/powerpoint/2010/main" val="164671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0"/>
            <a:ext cx="10018713" cy="382905"/>
          </a:xfrm>
        </p:spPr>
        <p:txBody>
          <a:bodyPr>
            <a:noAutofit/>
          </a:bodyPr>
          <a:lstStyle/>
          <a:p>
            <a:r>
              <a:rPr lang="en-GB" sz="3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548641"/>
            <a:ext cx="10267909" cy="6532244"/>
          </a:xfrm>
        </p:spPr>
        <p:txBody>
          <a:bodyPr>
            <a:noAutofit/>
          </a:bodyPr>
          <a:lstStyle/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What will the following program print?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			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int x = 2;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int y = 4;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for (int j = x; j &lt;= 2*x*y; j+= y/x){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  <a:latin typeface="Trebuchet MS" panose="020B0603020202020204" pitchFamily="34" charset="0"/>
              </a:rPr>
              <a:t>						</a:t>
            </a:r>
            <a:r>
              <a:rPr lang="en-US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System.out.print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( j + “\t”);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}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 Solution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 The for loop in the question is equivalent to: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  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for (int j = 2; j &lt;= 16; j+= 2)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Hence the program will print:</a:t>
            </a:r>
          </a:p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2		4		6		8		10		12		14		16</a:t>
            </a:r>
          </a:p>
          <a:p>
            <a:pPr marL="0" indent="0">
              <a:buNone/>
            </a:pPr>
            <a:endParaRPr lang="en-US" b="0" i="1" u="none" strike="noStrike" baseline="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054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0"/>
            <a:ext cx="10018713" cy="382905"/>
          </a:xfrm>
        </p:spPr>
        <p:txBody>
          <a:bodyPr>
            <a:noAutofit/>
          </a:bodyPr>
          <a:lstStyle/>
          <a:p>
            <a:r>
              <a:rPr lang="en-GB" sz="3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548641"/>
            <a:ext cx="10267909" cy="6532244"/>
          </a:xfrm>
        </p:spPr>
        <p:txBody>
          <a:bodyPr>
            <a:noAutofit/>
          </a:bodyPr>
          <a:lstStyle/>
          <a:p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Write a program that prints all the multiples of 7 less than 100 starting from 0 using a for loop.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 Program Solution 		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</a:t>
            </a:r>
            <a:r>
              <a:rPr lang="en-US" dirty="0">
                <a:solidFill>
                  <a:srgbClr val="222222"/>
                </a:solidFill>
                <a:latin typeface="Trebuchet MS" panose="020B0603020202020204" pitchFamily="34" charset="0"/>
              </a:rPr>
              <a:t>			</a:t>
            </a:r>
            <a:r>
              <a:rPr lang="en-US" i="1" dirty="0">
                <a:solidFill>
                  <a:srgbClr val="FF0000"/>
                </a:solidFill>
                <a:latin typeface="Trebuchet MS" panose="020B0603020202020204" pitchFamily="34" charset="0"/>
              </a:rPr>
              <a:t>	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public class MultiplesOf7{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	public static void main (String[] </a:t>
            </a:r>
            <a:r>
              <a:rPr lang="en-US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args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){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		for (int </a:t>
            </a:r>
            <a:r>
              <a:rPr lang="en-US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i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 = 0; </a:t>
            </a:r>
            <a:r>
              <a:rPr lang="en-US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i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 &lt;= 100; </a:t>
            </a:r>
            <a:r>
              <a:rPr lang="en-US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i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 += 7){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			</a:t>
            </a:r>
            <a:r>
              <a:rPr lang="en-US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System.out.println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(</a:t>
            </a:r>
            <a:r>
              <a:rPr lang="en-US" b="0" i="1" u="none" strike="noStrike" baseline="0" dirty="0" err="1">
                <a:solidFill>
                  <a:srgbClr val="FF0000"/>
                </a:solidFill>
                <a:latin typeface="Trebuchet MS" panose="020B0603020202020204" pitchFamily="34" charset="0"/>
              </a:rPr>
              <a:t>i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);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		}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	}</a:t>
            </a:r>
          </a:p>
          <a:p>
            <a:pPr marL="0" indent="0">
              <a:buNone/>
            </a:pPr>
            <a:r>
              <a:rPr lang="en-US" b="0" i="1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					} </a:t>
            </a:r>
          </a:p>
          <a:p>
            <a:pPr marL="0" indent="0">
              <a:buNone/>
            </a:pPr>
            <a:endParaRPr lang="en-US" b="0" i="1" u="none" strike="noStrike" baseline="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40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0"/>
            <a:ext cx="10018713" cy="382905"/>
          </a:xfrm>
        </p:spPr>
        <p:txBody>
          <a:bodyPr>
            <a:noAutofit/>
          </a:bodyPr>
          <a:lstStyle/>
          <a:p>
            <a:r>
              <a:rPr lang="en-GB" sz="3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Example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382905"/>
            <a:ext cx="10267909" cy="6475095"/>
          </a:xfrm>
        </p:spPr>
        <p:txBody>
          <a:bodyPr>
            <a:noAutofit/>
          </a:bodyPr>
          <a:lstStyle/>
          <a:p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A person invents 1,000 in a savings account yielding 5% interest. Assuming that all the interest is left on deposit, calculate and print the amount of money in the account at the end of 10 years. </a:t>
            </a:r>
          </a:p>
          <a:p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Use the following formula:</a:t>
            </a:r>
          </a:p>
          <a:p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a = p( 1 + r )</a:t>
            </a:r>
            <a:r>
              <a:rPr lang="en-US" sz="2600" b="0" i="0" u="none" strike="noStrike" baseline="30000" dirty="0">
                <a:solidFill>
                  <a:srgbClr val="222222"/>
                </a:solidFill>
                <a:latin typeface="Trebuchet MS" panose="020B0603020202020204" pitchFamily="34" charset="0"/>
              </a:rPr>
              <a:t>n</a:t>
            </a:r>
            <a:endParaRPr lang="en-US" sz="2600" b="0" i="0" u="none" strike="noStrike" baseline="0" dirty="0">
              <a:solidFill>
                <a:srgbClr val="222222"/>
              </a:solidFill>
              <a:latin typeface="Trebuchet MS" panose="020B0603020202020204" pitchFamily="34" charset="0"/>
            </a:endParaRPr>
          </a:p>
          <a:p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where </a:t>
            </a:r>
          </a:p>
          <a:p>
            <a:pPr lvl="1"/>
            <a:r>
              <a:rPr lang="en-US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p = original amount invested,</a:t>
            </a:r>
          </a:p>
          <a:p>
            <a:pPr lvl="1"/>
            <a:r>
              <a:rPr lang="en-US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r = annual interest rate, </a:t>
            </a:r>
          </a:p>
          <a:p>
            <a:pPr lvl="1"/>
            <a:r>
              <a:rPr lang="en-US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n = number of years, </a:t>
            </a:r>
          </a:p>
          <a:p>
            <a:pPr lvl="1"/>
            <a:r>
              <a:rPr lang="en-US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a = amount on deposit at the end of the nth year</a:t>
            </a:r>
          </a:p>
        </p:txBody>
      </p:sp>
    </p:spTree>
    <p:extLst>
      <p:ext uri="{BB962C8B-B14F-4D97-AF65-F5344CB8AC3E}">
        <p14:creationId xmlns:p14="http://schemas.microsoft.com/office/powerpoint/2010/main" val="2234943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102870"/>
            <a:ext cx="10018713" cy="468630"/>
          </a:xfrm>
        </p:spPr>
        <p:txBody>
          <a:bodyPr>
            <a:noAutofit/>
          </a:bodyPr>
          <a:lstStyle/>
          <a:p>
            <a:r>
              <a:rPr lang="en-GB" sz="40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Continuation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651509"/>
            <a:ext cx="10267909" cy="62064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Trebuchet MS" panose="020B0603020202020204" pitchFamily="34" charset="0"/>
              </a:rPr>
              <a:t>p</a:t>
            </a: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ublic class Interest{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public static void main (String[] </a:t>
            </a:r>
            <a:r>
              <a:rPr lang="en-US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args</a:t>
            </a: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){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double amount=0;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double principal = 1000;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double rate = 0.05;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for (int year = 1; year &lt;= 10; year ++){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	amount += principal*</a:t>
            </a:r>
            <a:r>
              <a:rPr lang="en-US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math.pow</a:t>
            </a: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(1 + rate, year);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}</a:t>
            </a:r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Trebuchet MS" panose="020B0603020202020204" pitchFamily="34" charset="0"/>
              </a:rPr>
              <a:t>		</a:t>
            </a:r>
            <a:r>
              <a:rPr lang="en-US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System.out.println</a:t>
            </a: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(“Amount = “+ amount);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}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66792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102870"/>
            <a:ext cx="10018713" cy="468630"/>
          </a:xfrm>
        </p:spPr>
        <p:txBody>
          <a:bodyPr>
            <a:noAutofit/>
          </a:bodyPr>
          <a:lstStyle/>
          <a:p>
            <a:r>
              <a:rPr lang="en-GB" dirty="0">
                <a:solidFill>
                  <a:srgbClr val="222222"/>
                </a:solidFill>
                <a:latin typeface="Trebuchet MS" panose="020B0603020202020204" pitchFamily="34" charset="0"/>
              </a:rPr>
              <a:t>Nested for-loops</a:t>
            </a:r>
            <a:endParaRPr lang="en-GB" sz="4000" b="0" i="0" u="none" strike="noStrike" baseline="0" dirty="0">
              <a:solidFill>
                <a:srgbClr val="222222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657224"/>
            <a:ext cx="10267909" cy="6206491"/>
          </a:xfrm>
        </p:spPr>
        <p:txBody>
          <a:bodyPr>
            <a:noAutofit/>
          </a:bodyPr>
          <a:lstStyle/>
          <a:p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If a loop exists inside the body of another loop, it's called a nested loop. </a:t>
            </a:r>
          </a:p>
          <a:p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That is why nested loops are also called “loop inside loop“. </a:t>
            </a:r>
          </a:p>
          <a:p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Remember, it might be useful sometimes to have one for loop inside another for loop. </a:t>
            </a:r>
          </a:p>
          <a:p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This is called a nested for loop. </a:t>
            </a:r>
          </a:p>
          <a:p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following are some examples of the nested for loop statements:</a:t>
            </a:r>
          </a:p>
        </p:txBody>
      </p:sp>
    </p:spTree>
    <p:extLst>
      <p:ext uri="{BB962C8B-B14F-4D97-AF65-F5344CB8AC3E}">
        <p14:creationId xmlns:p14="http://schemas.microsoft.com/office/powerpoint/2010/main" val="885718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102870"/>
            <a:ext cx="10018713" cy="41148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rgbClr val="222222"/>
                </a:solidFill>
                <a:latin typeface="Trebuchet MS" panose="020B0603020202020204" pitchFamily="34" charset="0"/>
              </a:rPr>
              <a:t>Example 1</a:t>
            </a:r>
            <a:endParaRPr lang="en-GB" sz="3600" b="0" i="0" u="none" strike="noStrike" baseline="0" dirty="0">
              <a:solidFill>
                <a:srgbClr val="222222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554355"/>
            <a:ext cx="10267909" cy="6200775"/>
          </a:xfrm>
        </p:spPr>
        <p:txBody>
          <a:bodyPr>
            <a:noAutofit/>
          </a:bodyPr>
          <a:lstStyle/>
          <a:p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Study and state the output of the following program:</a:t>
            </a:r>
          </a:p>
          <a:p>
            <a:pPr marL="0" indent="0">
              <a:buNone/>
            </a:pPr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public class Printing{</a:t>
            </a:r>
          </a:p>
          <a:p>
            <a:pPr marL="0" indent="0">
              <a:buNone/>
            </a:pPr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public static void main (String[] </a:t>
            </a:r>
            <a:r>
              <a:rPr lang="en-US" sz="2800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args</a:t>
            </a:r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){</a:t>
            </a:r>
          </a:p>
          <a:p>
            <a:pPr marL="0" indent="0">
              <a:buNone/>
            </a:pPr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for (int </a:t>
            </a:r>
            <a:r>
              <a:rPr lang="en-US" sz="2800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i</a:t>
            </a:r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 = 1; int </a:t>
            </a:r>
            <a:r>
              <a:rPr lang="en-US" sz="2800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i</a:t>
            </a:r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 &lt;= 4; </a:t>
            </a:r>
            <a:r>
              <a:rPr lang="en-US" sz="2800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i</a:t>
            </a:r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++){</a:t>
            </a:r>
          </a:p>
          <a:p>
            <a:pPr marL="0" indent="0">
              <a:buNone/>
            </a:pPr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	for (int j = 1; j &lt;=5; </a:t>
            </a:r>
            <a:r>
              <a:rPr lang="en-US" sz="2800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j++</a:t>
            </a:r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){</a:t>
            </a:r>
          </a:p>
          <a:p>
            <a:pPr marL="0" indent="0">
              <a:buNone/>
            </a:pPr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		</a:t>
            </a:r>
            <a:r>
              <a:rPr lang="en-US" sz="2800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System.out.print</a:t>
            </a:r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(“@”);</a:t>
            </a:r>
          </a:p>
          <a:p>
            <a:pPr marL="0" indent="0">
              <a:buNone/>
            </a:pPr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	}</a:t>
            </a:r>
          </a:p>
          <a:p>
            <a:pPr marL="0" indent="0">
              <a:buNone/>
            </a:pPr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	</a:t>
            </a:r>
            <a:r>
              <a:rPr lang="en-US" sz="2800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System.out.println</a:t>
            </a:r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( );</a:t>
            </a:r>
          </a:p>
          <a:p>
            <a:pPr marL="0" indent="0">
              <a:buNone/>
            </a:pPr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}</a:t>
            </a:r>
          </a:p>
          <a:p>
            <a:pPr marL="0" indent="0">
              <a:buNone/>
            </a:pPr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}</a:t>
            </a:r>
          </a:p>
          <a:p>
            <a:pPr marL="0" indent="0">
              <a:buNone/>
            </a:pPr>
            <a:r>
              <a:rPr lang="en-US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}</a:t>
            </a:r>
            <a:r>
              <a:rPr lang="en-US" sz="20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</a:t>
            </a:r>
            <a:endParaRPr lang="en-US" sz="1800" b="0" i="0" u="none" strike="noStrike" baseline="0" dirty="0">
              <a:solidFill>
                <a:schemeClr val="accent4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556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102870"/>
            <a:ext cx="10018713" cy="468630"/>
          </a:xfrm>
        </p:spPr>
        <p:txBody>
          <a:bodyPr>
            <a:noAutofit/>
          </a:bodyPr>
          <a:lstStyle/>
          <a:p>
            <a:r>
              <a:rPr lang="en-GB" dirty="0">
                <a:solidFill>
                  <a:srgbClr val="222222"/>
                </a:solidFill>
                <a:latin typeface="Trebuchet MS" panose="020B0603020202020204" pitchFamily="34" charset="0"/>
              </a:rPr>
              <a:t>Explanation</a:t>
            </a:r>
            <a:endParaRPr lang="en-GB" sz="4000" b="0" i="0" u="none" strike="noStrike" baseline="0" dirty="0">
              <a:solidFill>
                <a:srgbClr val="222222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657224"/>
            <a:ext cx="10267909" cy="6206491"/>
          </a:xfrm>
        </p:spPr>
        <p:txBody>
          <a:bodyPr>
            <a:noAutofit/>
          </a:bodyPr>
          <a:lstStyle/>
          <a:p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execution of Nested for loops begins from the inner for loop. </a:t>
            </a:r>
          </a:p>
          <a:p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inner for loop executes 5 times because of the loop condition j &lt;= 5, hence it will print @@@@@. </a:t>
            </a:r>
          </a:p>
          <a:p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After the inner loop has executed 5 times, the outer loop executes only once, by printing a blank space and moving the cursor to the next line, before returning to the inner loop. </a:t>
            </a:r>
          </a:p>
          <a:p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final output will be as shown below: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@@@@@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@@@@@</a:t>
            </a:r>
            <a:endParaRPr lang="en-US" sz="2800" dirty="0">
              <a:solidFill>
                <a:srgbClr val="222222"/>
              </a:solidFill>
              <a:latin typeface="Trebuchet MS" panose="020B0603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@@@@@</a:t>
            </a:r>
            <a:endParaRPr lang="en-US" sz="2800" dirty="0">
              <a:solidFill>
                <a:srgbClr val="222222"/>
              </a:solidFill>
              <a:latin typeface="Trebuchet MS" panose="020B0603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@@@@@</a:t>
            </a:r>
          </a:p>
        </p:txBody>
      </p:sp>
    </p:spTree>
    <p:extLst>
      <p:ext uri="{BB962C8B-B14F-4D97-AF65-F5344CB8AC3E}">
        <p14:creationId xmlns:p14="http://schemas.microsoft.com/office/powerpoint/2010/main" val="1796109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102870"/>
            <a:ext cx="10018713" cy="41148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rgbClr val="222222"/>
                </a:solidFill>
                <a:latin typeface="Trebuchet MS" panose="020B0603020202020204" pitchFamily="34" charset="0"/>
              </a:rPr>
              <a:t>Example 2</a:t>
            </a:r>
            <a:endParaRPr lang="en-GB" sz="3600" b="0" i="0" u="none" strike="noStrike" baseline="0" dirty="0">
              <a:solidFill>
                <a:srgbClr val="222222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554355"/>
            <a:ext cx="10267909" cy="6200775"/>
          </a:xfrm>
        </p:spPr>
        <p:txBody>
          <a:bodyPr>
            <a:noAutofit/>
          </a:bodyPr>
          <a:lstStyle/>
          <a:p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Determine what the output of the following program will be. </a:t>
            </a:r>
          </a:p>
          <a:p>
            <a:pPr marL="0" indent="0">
              <a:buNone/>
            </a:pPr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public class Printing{</a:t>
            </a:r>
          </a:p>
          <a:p>
            <a:pPr marL="0" indent="0">
              <a:buNone/>
            </a:pPr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public static void main (String[] </a:t>
            </a:r>
            <a:r>
              <a:rPr lang="en-US" sz="2600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args</a:t>
            </a:r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){</a:t>
            </a:r>
          </a:p>
          <a:p>
            <a:pPr marL="0" indent="0">
              <a:buNone/>
            </a:pPr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for (int </a:t>
            </a:r>
            <a:r>
              <a:rPr lang="en-US" sz="2600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i</a:t>
            </a:r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 = 1; </a:t>
            </a:r>
            <a:r>
              <a:rPr lang="en-US" sz="2600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i</a:t>
            </a:r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 &lt;= 2; </a:t>
            </a:r>
            <a:r>
              <a:rPr lang="en-US" sz="2600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i</a:t>
            </a:r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++){	</a:t>
            </a:r>
          </a:p>
          <a:p>
            <a:pPr marL="0" indent="0">
              <a:buNone/>
            </a:pPr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	for (int j = 1; j &lt;=5; </a:t>
            </a:r>
            <a:r>
              <a:rPr lang="en-US" sz="2600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j++</a:t>
            </a:r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){</a:t>
            </a:r>
          </a:p>
          <a:p>
            <a:pPr marL="0" indent="0">
              <a:buNone/>
            </a:pPr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		</a:t>
            </a:r>
            <a:r>
              <a:rPr lang="en-US" sz="2600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System.out.println</a:t>
            </a:r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(“&amp;”);</a:t>
            </a:r>
          </a:p>
          <a:p>
            <a:pPr marL="0" indent="0">
              <a:buNone/>
            </a:pPr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	}</a:t>
            </a:r>
          </a:p>
          <a:p>
            <a:pPr marL="0" indent="0">
              <a:buNone/>
            </a:pPr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	</a:t>
            </a:r>
            <a:r>
              <a:rPr lang="en-US" sz="2600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System.out.print</a:t>
            </a:r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(“#####” );</a:t>
            </a:r>
          </a:p>
          <a:p>
            <a:pPr marL="0" indent="0">
              <a:buNone/>
            </a:pPr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}</a:t>
            </a:r>
          </a:p>
          <a:p>
            <a:pPr marL="0" indent="0">
              <a:buNone/>
            </a:pPr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}</a:t>
            </a:r>
          </a:p>
          <a:p>
            <a:pPr marL="0" indent="0">
              <a:buNone/>
            </a:pPr>
            <a:r>
              <a:rPr lang="en-US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37399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102870"/>
            <a:ext cx="10018713" cy="337185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222222"/>
                </a:solidFill>
                <a:latin typeface="Trebuchet MS" panose="020B0603020202020204" pitchFamily="34" charset="0"/>
              </a:rPr>
              <a:t>Explanation</a:t>
            </a:r>
            <a:endParaRPr lang="en-GB" sz="3200" b="0" i="0" u="none" strike="noStrike" baseline="0" dirty="0">
              <a:solidFill>
                <a:srgbClr val="222222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497206"/>
            <a:ext cx="10267909" cy="6366510"/>
          </a:xfrm>
        </p:spPr>
        <p:txBody>
          <a:bodyPr>
            <a:noAutofit/>
          </a:bodyPr>
          <a:lstStyle/>
          <a:p>
            <a:r>
              <a:rPr lang="en-US" sz="22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execution of Nested for loops begins from the inner for loop. </a:t>
            </a:r>
          </a:p>
          <a:p>
            <a:r>
              <a:rPr lang="en-US" sz="22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inner for loop executes 5 times because of the loop condition j &lt;= 5, hence it will print  </a:t>
            </a:r>
          </a:p>
          <a:p>
            <a:r>
              <a:rPr lang="en-US" sz="22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After the inner loop has executed 5 times, the outer loop executes two times. </a:t>
            </a:r>
          </a:p>
          <a:p>
            <a:r>
              <a:rPr lang="en-US" sz="22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final output will be as shown below: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&amp;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&amp;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&amp;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&amp;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&amp;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#####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&amp;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&amp;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&amp;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&amp;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&amp;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#####</a:t>
            </a:r>
          </a:p>
        </p:txBody>
      </p:sp>
    </p:spTree>
    <p:extLst>
      <p:ext uri="{BB962C8B-B14F-4D97-AF65-F5344CB8AC3E}">
        <p14:creationId xmlns:p14="http://schemas.microsoft.com/office/powerpoint/2010/main" val="4086830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96" y="102870"/>
            <a:ext cx="10018713" cy="657225"/>
          </a:xfrm>
        </p:spPr>
        <p:txBody>
          <a:bodyPr>
            <a:noAutofit/>
          </a:bodyPr>
          <a:lstStyle/>
          <a:p>
            <a:r>
              <a:rPr lang="en-GB" dirty="0">
                <a:solidFill>
                  <a:srgbClr val="222222"/>
                </a:solidFill>
                <a:latin typeface="Trebuchet MS" panose="020B0603020202020204" pitchFamily="34" charset="0"/>
              </a:rPr>
              <a:t>Exercises</a:t>
            </a:r>
            <a:endParaRPr lang="en-GB" b="0" i="0" u="none" strike="noStrike" baseline="0" dirty="0">
              <a:solidFill>
                <a:srgbClr val="222222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06" y="811530"/>
            <a:ext cx="10267909" cy="58978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1. Write a program Java that will display the following output: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*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* *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* * *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* * * *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* * * * *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2. Modify the print statement in the example 4 above so that the output appears in the following format: 0, 7, 14, 21, … 98.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Trebuchet MS" panose="020B0603020202020204" pitchFamily="34" charset="0"/>
              </a:rPr>
              <a:t>3. </a:t>
            </a:r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Write a program that adds all the even numbers between 40 and 1000 inclusive using any loop of your choice.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Trebuchet MS" panose="020B0603020202020204" pitchFamily="34" charset="0"/>
              </a:rPr>
              <a:t>4. </a:t>
            </a:r>
            <a:r>
              <a:rPr lang="en-US" sz="280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Write a program to print all the multiples of 3 between 30 and 70 using for loop.</a:t>
            </a:r>
          </a:p>
        </p:txBody>
      </p:sp>
    </p:spTree>
    <p:extLst>
      <p:ext uri="{BB962C8B-B14F-4D97-AF65-F5344CB8AC3E}">
        <p14:creationId xmlns:p14="http://schemas.microsoft.com/office/powerpoint/2010/main" val="18524892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11504</TotalTime>
  <Words>2666</Words>
  <Application>Microsoft Office PowerPoint</Application>
  <PresentationFormat>Widescreen</PresentationFormat>
  <Paragraphs>248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Corbel</vt:lpstr>
      <vt:lpstr>Trebuchet MS</vt:lpstr>
      <vt:lpstr>Parallax</vt:lpstr>
      <vt:lpstr>CMP 201: Computer Programming I Repetition Structures</vt:lpstr>
      <vt:lpstr>Repetition Structure</vt:lpstr>
      <vt:lpstr>While Statement</vt:lpstr>
      <vt:lpstr>Example 1</vt:lpstr>
      <vt:lpstr>Example 2</vt:lpstr>
      <vt:lpstr>Example 3</vt:lpstr>
      <vt:lpstr>Explanation</vt:lpstr>
      <vt:lpstr>Example 4</vt:lpstr>
      <vt:lpstr>The do-while statement</vt:lpstr>
      <vt:lpstr>Example 1</vt:lpstr>
      <vt:lpstr>The for Statement</vt:lpstr>
      <vt:lpstr>The for Statement</vt:lpstr>
      <vt:lpstr>Example 1</vt:lpstr>
      <vt:lpstr>Example 2</vt:lpstr>
      <vt:lpstr>Example 3</vt:lpstr>
      <vt:lpstr>Example 4</vt:lpstr>
      <vt:lpstr>Example 5</vt:lpstr>
      <vt:lpstr>Continuation</vt:lpstr>
      <vt:lpstr>Nested for-loops</vt:lpstr>
      <vt:lpstr>Example 1</vt:lpstr>
      <vt:lpstr>Explanation</vt:lpstr>
      <vt:lpstr>Example 2</vt:lpstr>
      <vt:lpstr>Explanation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 801: Management and Entrepreneurship</dc:title>
  <dc:creator>Ahmad Idris Tambuwal</dc:creator>
  <cp:lastModifiedBy>Hp</cp:lastModifiedBy>
  <cp:revision>79</cp:revision>
  <dcterms:created xsi:type="dcterms:W3CDTF">2023-04-03T11:05:13Z</dcterms:created>
  <dcterms:modified xsi:type="dcterms:W3CDTF">2025-02-27T10:04:50Z</dcterms:modified>
</cp:coreProperties>
</file>