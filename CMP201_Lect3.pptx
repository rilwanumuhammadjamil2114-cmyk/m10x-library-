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87" r:id="rId4"/>
    <p:sldId id="288" r:id="rId5"/>
    <p:sldId id="259" r:id="rId6"/>
    <p:sldId id="261" r:id="rId7"/>
    <p:sldId id="262" r:id="rId8"/>
    <p:sldId id="263" r:id="rId9"/>
    <p:sldId id="280" r:id="rId10"/>
    <p:sldId id="264" r:id="rId11"/>
    <p:sldId id="265" r:id="rId12"/>
    <p:sldId id="281" r:id="rId13"/>
    <p:sldId id="282" r:id="rId14"/>
    <p:sldId id="266" r:id="rId15"/>
    <p:sldId id="289" r:id="rId16"/>
    <p:sldId id="290" r:id="rId17"/>
    <p:sldId id="29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3216" autoAdjust="0"/>
  </p:normalViewPr>
  <p:slideViewPr>
    <p:cSldViewPr snapToGrid="0">
      <p:cViewPr varScale="1">
        <p:scale>
          <a:sx n="54" d="100"/>
          <a:sy n="54" d="100"/>
        </p:scale>
        <p:origin x="1142" y="2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6/29/2024</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7EE9-5D66-F14F-3B34-225822B8E1EB}"/>
              </a:ext>
            </a:extLst>
          </p:cNvPr>
          <p:cNvSpPr>
            <a:spLocks noGrp="1"/>
          </p:cNvSpPr>
          <p:nvPr>
            <p:ph type="ctrTitle"/>
          </p:nvPr>
        </p:nvSpPr>
        <p:spPr>
          <a:xfrm>
            <a:off x="2268855" y="1380068"/>
            <a:ext cx="9761220" cy="2616199"/>
          </a:xfrm>
        </p:spPr>
        <p:txBody>
          <a:bodyPr/>
          <a:lstStyle/>
          <a:p>
            <a:pPr algn="l"/>
            <a:r>
              <a:rPr lang="en-GB" dirty="0"/>
              <a:t>CMP 201: Computer Programming I</a:t>
            </a:r>
          </a:p>
        </p:txBody>
      </p:sp>
    </p:spTree>
    <p:extLst>
      <p:ext uri="{BB962C8B-B14F-4D97-AF65-F5344CB8AC3E}">
        <p14:creationId xmlns:p14="http://schemas.microsoft.com/office/powerpoint/2010/main" val="2470596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893020"/>
          </a:xfrm>
        </p:spPr>
        <p:txBody>
          <a:bodyPr/>
          <a:lstStyle/>
          <a:p>
            <a:r>
              <a:rPr lang="en-GB" dirty="0">
                <a:latin typeface="Trebuchet MS" panose="020B0603020202020204" pitchFamily="34" charset="0"/>
              </a:rPr>
              <a:t>A Simple Java Program</a:t>
            </a:r>
          </a:p>
        </p:txBody>
      </p:sp>
      <p:sp>
        <p:nvSpPr>
          <p:cNvPr id="6" name="Rectangle 5">
            <a:extLst>
              <a:ext uri="{FF2B5EF4-FFF2-40B4-BE49-F238E27FC236}">
                <a16:creationId xmlns:a16="http://schemas.microsoft.com/office/drawing/2014/main" id="{809D33D3-8BAE-EA48-A6D1-122F9DAE4F7A}"/>
              </a:ext>
            </a:extLst>
          </p:cNvPr>
          <p:cNvSpPr>
            <a:spLocks noGrp="1" noChangeArrowheads="1"/>
          </p:cNvSpPr>
          <p:nvPr/>
        </p:nvSpPr>
        <p:spPr bwMode="auto">
          <a:xfrm>
            <a:off x="1223010" y="2188845"/>
            <a:ext cx="10968990" cy="2286000"/>
          </a:xfrm>
          <a:prstGeom prst="rect">
            <a:avLst/>
          </a:prstGeom>
          <a:noFill/>
          <a:ln>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Monotype Sorts" pitchFamily="2" charset="2"/>
              <a:buNone/>
              <a:defRPr/>
            </a:pPr>
            <a:r>
              <a:rPr lang="en-US" sz="2400" b="1" dirty="0">
                <a:solidFill>
                  <a:schemeClr val="accent4"/>
                </a:solidFill>
                <a:latin typeface="Courier New" pitchFamily="49" charset="0"/>
                <a:cs typeface="Courier New" pitchFamily="49" charset="0"/>
              </a:rPr>
              <a:t>// This program prints Welcome to Programming in Java!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public class Welcome {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public static void main(String[] </a:t>
            </a:r>
            <a:r>
              <a:rPr lang="en-US" sz="2400" b="1" dirty="0" err="1">
                <a:solidFill>
                  <a:schemeClr val="accent4"/>
                </a:solidFill>
                <a:latin typeface="Courier New" pitchFamily="49" charset="0"/>
                <a:cs typeface="Courier New" pitchFamily="49" charset="0"/>
              </a:rPr>
              <a:t>args</a:t>
            </a:r>
            <a:r>
              <a:rPr lang="en-US" sz="2400" b="1" dirty="0">
                <a:solidFill>
                  <a:schemeClr val="accent4"/>
                </a:solidFill>
                <a:latin typeface="Courier New" pitchFamily="49" charset="0"/>
                <a:cs typeface="Courier New" pitchFamily="49" charset="0"/>
              </a:rPr>
              <a:t>) {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r>
              <a:rPr lang="en-US" sz="2400" b="1" dirty="0" err="1">
                <a:solidFill>
                  <a:schemeClr val="accent4"/>
                </a:solidFill>
                <a:latin typeface="Courier New" pitchFamily="49" charset="0"/>
                <a:cs typeface="Courier New" pitchFamily="49" charset="0"/>
              </a:rPr>
              <a:t>System.out.println</a:t>
            </a:r>
            <a:r>
              <a:rPr lang="en-US" sz="2400" b="1" dirty="0">
                <a:solidFill>
                  <a:schemeClr val="accent4"/>
                </a:solidFill>
                <a:latin typeface="Courier New" pitchFamily="49" charset="0"/>
                <a:cs typeface="Courier New" pitchFamily="49" charset="0"/>
              </a:rPr>
              <a:t>("Welcome to Programming in Java!");</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a:t>
            </a:r>
          </a:p>
        </p:txBody>
      </p:sp>
    </p:spTree>
    <p:extLst>
      <p:ext uri="{BB962C8B-B14F-4D97-AF65-F5344CB8AC3E}">
        <p14:creationId xmlns:p14="http://schemas.microsoft.com/office/powerpoint/2010/main" val="268216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893020"/>
          </a:xfrm>
        </p:spPr>
        <p:txBody>
          <a:bodyPr/>
          <a:lstStyle/>
          <a:p>
            <a:r>
              <a:rPr lang="en-GB" altLang="en-US" dirty="0">
                <a:latin typeface="Trebuchet MS" panose="020B0603020202020204" pitchFamily="34" charset="0"/>
              </a:rPr>
              <a:t>Structure of Java Program</a:t>
            </a:r>
            <a:endParaRPr lang="en-GB" dirty="0">
              <a:latin typeface="Trebuchet MS" panose="020B0603020202020204" pitchFamily="34" charset="0"/>
            </a:endParaRPr>
          </a:p>
        </p:txBody>
      </p:sp>
      <p:sp>
        <p:nvSpPr>
          <p:cNvPr id="7" name="Rectangle 6">
            <a:extLst>
              <a:ext uri="{FF2B5EF4-FFF2-40B4-BE49-F238E27FC236}">
                <a16:creationId xmlns:a16="http://schemas.microsoft.com/office/drawing/2014/main" id="{B83E7B94-058F-3583-E259-4802266817FE}"/>
              </a:ext>
            </a:extLst>
          </p:cNvPr>
          <p:cNvSpPr>
            <a:spLocks noGrp="1" noChangeArrowheads="1"/>
          </p:cNvSpPr>
          <p:nvPr/>
        </p:nvSpPr>
        <p:spPr bwMode="auto">
          <a:xfrm>
            <a:off x="1223010" y="1651634"/>
            <a:ext cx="10968990" cy="3903345"/>
          </a:xfrm>
          <a:prstGeom prst="rect">
            <a:avLst/>
          </a:prstGeom>
          <a:noFill/>
          <a:ln>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Monotype Sorts" pitchFamily="2" charset="2"/>
              <a:buNone/>
              <a:defRPr/>
            </a:pPr>
            <a:r>
              <a:rPr lang="en-US" sz="2400" b="1" dirty="0">
                <a:solidFill>
                  <a:schemeClr val="accent4"/>
                </a:solidFill>
                <a:latin typeface="Courier New" pitchFamily="49" charset="0"/>
                <a:cs typeface="Courier New" pitchFamily="49" charset="0"/>
              </a:rPr>
              <a:t>// Comments</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public class </a:t>
            </a:r>
            <a:r>
              <a:rPr lang="en-US" sz="2400" b="1" dirty="0" err="1">
                <a:solidFill>
                  <a:schemeClr val="accent4"/>
                </a:solidFill>
                <a:latin typeface="Courier New" pitchFamily="49" charset="0"/>
                <a:cs typeface="Courier New" pitchFamily="49" charset="0"/>
              </a:rPr>
              <a:t>ClassName</a:t>
            </a:r>
            <a:r>
              <a:rPr lang="en-US" sz="2400" b="1" dirty="0">
                <a:solidFill>
                  <a:schemeClr val="accent4"/>
                </a:solidFill>
                <a:latin typeface="Courier New" pitchFamily="49" charset="0"/>
                <a:cs typeface="Courier New" pitchFamily="49" charset="0"/>
              </a:rPr>
              <a:t> {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public static void main(String[] </a:t>
            </a:r>
            <a:r>
              <a:rPr lang="en-US" sz="2400" b="1" dirty="0" err="1">
                <a:solidFill>
                  <a:schemeClr val="accent4"/>
                </a:solidFill>
                <a:latin typeface="Courier New" pitchFamily="49" charset="0"/>
                <a:cs typeface="Courier New" pitchFamily="49" charset="0"/>
              </a:rPr>
              <a:t>args</a:t>
            </a:r>
            <a:r>
              <a:rPr lang="en-US" sz="2400" b="1" dirty="0">
                <a:solidFill>
                  <a:schemeClr val="accent4"/>
                </a:solidFill>
                <a:latin typeface="Courier New" pitchFamily="49" charset="0"/>
                <a:cs typeface="Courier New" pitchFamily="49" charset="0"/>
              </a:rPr>
              <a:t>) {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Statement1;</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Statement2;</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r>
              <a:rPr lang="en-US" sz="2400" b="1" dirty="0" err="1">
                <a:solidFill>
                  <a:schemeClr val="accent4"/>
                </a:solidFill>
                <a:latin typeface="Courier New" pitchFamily="49" charset="0"/>
                <a:cs typeface="Courier New" pitchFamily="49" charset="0"/>
              </a:rPr>
              <a:t>Statementn</a:t>
            </a:r>
            <a:endParaRPr lang="en-US" sz="2400" b="1" dirty="0">
              <a:solidFill>
                <a:schemeClr val="accent4"/>
              </a:solidFill>
              <a:latin typeface="Courier New" pitchFamily="49" charset="0"/>
              <a:cs typeface="Courier New" pitchFamily="49" charset="0"/>
            </a:endParaRP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  }</a:t>
            </a:r>
          </a:p>
          <a:p>
            <a:pPr>
              <a:lnSpc>
                <a:spcPct val="90000"/>
              </a:lnSpc>
              <a:spcBef>
                <a:spcPct val="0"/>
              </a:spcBef>
              <a:buFont typeface="Monotype Sorts" pitchFamily="2" charset="2"/>
              <a:buNone/>
              <a:defRPr/>
            </a:pPr>
            <a:r>
              <a:rPr lang="en-US" sz="2400" b="1" dirty="0">
                <a:solidFill>
                  <a:schemeClr val="accent4"/>
                </a:solidFill>
                <a:latin typeface="Courier New" pitchFamily="49" charset="0"/>
                <a:cs typeface="Courier New" pitchFamily="49" charset="0"/>
              </a:rPr>
              <a:t>}</a:t>
            </a:r>
          </a:p>
        </p:txBody>
      </p:sp>
    </p:spTree>
    <p:extLst>
      <p:ext uri="{BB962C8B-B14F-4D97-AF65-F5344CB8AC3E}">
        <p14:creationId xmlns:p14="http://schemas.microsoft.com/office/powerpoint/2010/main" val="2168315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893020"/>
          </a:xfrm>
        </p:spPr>
        <p:txBody>
          <a:bodyPr/>
          <a:lstStyle/>
          <a:p>
            <a:r>
              <a:rPr lang="en-GB" altLang="en-US" dirty="0">
                <a:latin typeface="Trebuchet MS" panose="020B0603020202020204" pitchFamily="34" charset="0"/>
              </a:rPr>
              <a:t>Anatomy of Java Program</a:t>
            </a:r>
            <a:endParaRPr lang="en-GB" dirty="0">
              <a:latin typeface="Trebuchet MS" panose="020B0603020202020204" pitchFamily="34" charset="0"/>
            </a:endParaRPr>
          </a:p>
        </p:txBody>
      </p:sp>
      <p:sp>
        <p:nvSpPr>
          <p:cNvPr id="3" name="Content Placeholder 2">
            <a:extLst>
              <a:ext uri="{FF2B5EF4-FFF2-40B4-BE49-F238E27FC236}">
                <a16:creationId xmlns:a16="http://schemas.microsoft.com/office/drawing/2014/main" id="{898D9065-6505-41D6-7409-D0396F695FD9}"/>
              </a:ext>
            </a:extLst>
          </p:cNvPr>
          <p:cNvSpPr>
            <a:spLocks noGrp="1"/>
          </p:cNvSpPr>
          <p:nvPr>
            <p:ph idx="1"/>
          </p:nvPr>
        </p:nvSpPr>
        <p:spPr>
          <a:xfrm>
            <a:off x="1389208" y="1052423"/>
            <a:ext cx="10738022" cy="5203527"/>
          </a:xfrm>
        </p:spPr>
        <p:txBody>
          <a:bodyPr>
            <a:normAutofit/>
          </a:bodyPr>
          <a:lstStyle/>
          <a:p>
            <a:r>
              <a:rPr lang="en-GB" sz="3200" b="0" i="0" u="none" strike="noStrike" baseline="0" dirty="0">
                <a:solidFill>
                  <a:srgbClr val="000000"/>
                </a:solidFill>
                <a:latin typeface="Trebuchet MS" panose="020B0603020202020204" pitchFamily="34" charset="0"/>
              </a:rPr>
              <a:t>Comments</a:t>
            </a:r>
          </a:p>
          <a:p>
            <a:r>
              <a:rPr lang="en-GB" sz="3200" b="0" i="0" u="none" strike="noStrike" baseline="0" dirty="0">
                <a:solidFill>
                  <a:srgbClr val="000000"/>
                </a:solidFill>
                <a:latin typeface="Trebuchet MS" panose="020B0603020202020204" pitchFamily="34" charset="0"/>
              </a:rPr>
              <a:t>Access Modifiers</a:t>
            </a:r>
          </a:p>
          <a:p>
            <a:pPr marR="0" algn="l"/>
            <a:r>
              <a:rPr lang="en-GB" sz="3200" b="0" i="0" u="none" strike="noStrike" baseline="0" dirty="0">
                <a:solidFill>
                  <a:srgbClr val="000000"/>
                </a:solidFill>
                <a:latin typeface="Trebuchet MS" panose="020B0603020202020204" pitchFamily="34" charset="0"/>
              </a:rPr>
              <a:t>Class name</a:t>
            </a:r>
          </a:p>
          <a:p>
            <a:pPr marR="0" algn="l"/>
            <a:r>
              <a:rPr lang="en-GB" sz="3200" b="0" i="0" u="none" strike="noStrike" baseline="0" dirty="0">
                <a:solidFill>
                  <a:srgbClr val="000000"/>
                </a:solidFill>
                <a:latin typeface="Trebuchet MS" panose="020B0603020202020204" pitchFamily="34" charset="0"/>
              </a:rPr>
              <a:t>Main method</a:t>
            </a:r>
          </a:p>
          <a:p>
            <a:pPr marR="0" algn="l"/>
            <a:r>
              <a:rPr lang="en-GB" sz="3200" b="0" i="0" u="none" strike="noStrike" baseline="0" dirty="0">
                <a:solidFill>
                  <a:srgbClr val="000000"/>
                </a:solidFill>
                <a:latin typeface="Trebuchet MS" panose="020B0603020202020204" pitchFamily="34" charset="0"/>
              </a:rPr>
              <a:t>Statements</a:t>
            </a:r>
          </a:p>
          <a:p>
            <a:pPr marR="0" algn="l"/>
            <a:r>
              <a:rPr lang="en-GB" sz="3200" b="0" i="0" u="none" strike="noStrike" baseline="0" dirty="0">
                <a:solidFill>
                  <a:srgbClr val="000000"/>
                </a:solidFill>
                <a:latin typeface="Trebuchet MS" panose="020B0603020202020204" pitchFamily="34" charset="0"/>
              </a:rPr>
              <a:t>Reserved words</a:t>
            </a:r>
          </a:p>
          <a:p>
            <a:pPr marR="0" algn="l"/>
            <a:r>
              <a:rPr lang="en-GB" sz="3200" b="0" i="0" u="none" strike="noStrike" baseline="0" dirty="0">
                <a:solidFill>
                  <a:srgbClr val="000000"/>
                </a:solidFill>
                <a:latin typeface="Trebuchet MS" panose="020B0603020202020204" pitchFamily="34" charset="0"/>
              </a:rPr>
              <a:t>Blocks</a:t>
            </a:r>
            <a:endParaRPr lang="en-GB" sz="280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1348329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512443"/>
          </a:xfrm>
        </p:spPr>
        <p:txBody>
          <a:bodyPr>
            <a:noAutofit/>
          </a:bodyPr>
          <a:lstStyle/>
          <a:p>
            <a:r>
              <a:rPr lang="en-GB" sz="4000" b="0" i="0" u="none" strike="noStrike" baseline="0" dirty="0">
                <a:solidFill>
                  <a:srgbClr val="222222"/>
                </a:solidFill>
                <a:latin typeface="Trebuchet MS" panose="020B0603020202020204" pitchFamily="34" charset="0"/>
              </a:rPr>
              <a:t>Comments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5006" y="702945"/>
            <a:ext cx="10365064" cy="6263640"/>
          </a:xfrm>
        </p:spPr>
        <p:txBody>
          <a:bodyPr>
            <a:noAutofit/>
          </a:bodyPr>
          <a:lstStyle/>
          <a:p>
            <a:r>
              <a:rPr lang="en-GB" sz="2800" b="0" i="0" u="none" strike="noStrike" baseline="0" dirty="0">
                <a:solidFill>
                  <a:srgbClr val="222222"/>
                </a:solidFill>
                <a:latin typeface="Trebuchet MS" panose="020B0603020202020204" pitchFamily="34" charset="0"/>
              </a:rPr>
              <a:t>Comments are summary at the beginning of the program to explain what the program does, its key features, its supporting data structures, and any unique techniques it uses.</a:t>
            </a:r>
          </a:p>
          <a:p>
            <a:r>
              <a:rPr lang="en-GB" sz="2800" b="0" i="0" u="none" strike="noStrike" baseline="0" dirty="0">
                <a:solidFill>
                  <a:srgbClr val="222222"/>
                </a:solidFill>
                <a:latin typeface="Trebuchet MS" panose="020B0603020202020204" pitchFamily="34" charset="0"/>
              </a:rPr>
              <a:t>Three types of comments in Java.</a:t>
            </a:r>
          </a:p>
          <a:p>
            <a:pPr lvl="1"/>
            <a:r>
              <a:rPr lang="en-GB" sz="2400" b="0" i="0" u="none" strike="noStrike" baseline="0" dirty="0">
                <a:solidFill>
                  <a:srgbClr val="222222"/>
                </a:solidFill>
                <a:latin typeface="Trebuchet MS" panose="020B0603020202020204" pitchFamily="34" charset="0"/>
              </a:rPr>
              <a:t>Line comment: A line comment is preceded by two slashes (//) in a line. When the Java compiler sees //, it ignores all text after // in the same line. </a:t>
            </a:r>
          </a:p>
          <a:p>
            <a:pPr lvl="1"/>
            <a:r>
              <a:rPr lang="en-GB" sz="2400" b="0" i="0" u="none" strike="noStrike" baseline="0" dirty="0">
                <a:solidFill>
                  <a:srgbClr val="222222"/>
                </a:solidFill>
                <a:latin typeface="Trebuchet MS" panose="020B0603020202020204" pitchFamily="34" charset="0"/>
              </a:rPr>
              <a:t>Paragraph comment: A paragraph comment is enclosed between /* and */ in one or multiple lines. When </a:t>
            </a:r>
            <a:r>
              <a:rPr lang="en-GB" sz="2400" dirty="0">
                <a:solidFill>
                  <a:srgbClr val="222222"/>
                </a:solidFill>
                <a:latin typeface="Trebuchet MS" panose="020B0603020202020204" pitchFamily="34" charset="0"/>
              </a:rPr>
              <a:t>Java compiler </a:t>
            </a:r>
            <a:r>
              <a:rPr lang="en-GB" sz="2400" b="0" i="0" u="none" strike="noStrike" baseline="0" dirty="0">
                <a:solidFill>
                  <a:srgbClr val="222222"/>
                </a:solidFill>
                <a:latin typeface="Trebuchet MS" panose="020B0603020202020204" pitchFamily="34" charset="0"/>
              </a:rPr>
              <a:t>sees /*, it scans for the next */ and ignores any text between /* and */. </a:t>
            </a:r>
          </a:p>
          <a:p>
            <a:pPr lvl="1"/>
            <a:r>
              <a:rPr lang="en-GB" sz="2400" b="0" i="0" u="none" strike="noStrike" baseline="0" dirty="0" err="1">
                <a:solidFill>
                  <a:srgbClr val="222222"/>
                </a:solidFill>
                <a:latin typeface="Trebuchet MS" panose="020B0603020202020204" pitchFamily="34" charset="0"/>
              </a:rPr>
              <a:t>javadoc</a:t>
            </a:r>
            <a:r>
              <a:rPr lang="en-GB" sz="2400" b="0" i="0" u="none" strike="noStrike" baseline="0" dirty="0">
                <a:solidFill>
                  <a:srgbClr val="222222"/>
                </a:solidFill>
                <a:latin typeface="Trebuchet MS" panose="020B0603020202020204" pitchFamily="34" charset="0"/>
              </a:rPr>
              <a:t> comment: </a:t>
            </a:r>
            <a:r>
              <a:rPr lang="en-GB" sz="2400" b="0" i="0" u="none" strike="noStrike" baseline="0" dirty="0" err="1">
                <a:solidFill>
                  <a:srgbClr val="222222"/>
                </a:solidFill>
                <a:latin typeface="Trebuchet MS" panose="020B0603020202020204" pitchFamily="34" charset="0"/>
              </a:rPr>
              <a:t>javadoc</a:t>
            </a:r>
            <a:r>
              <a:rPr lang="en-GB" sz="2400" b="0" i="0" u="none" strike="noStrike" baseline="0" dirty="0">
                <a:solidFill>
                  <a:srgbClr val="222222"/>
                </a:solidFill>
                <a:latin typeface="Trebuchet MS" panose="020B0603020202020204" pitchFamily="34" charset="0"/>
              </a:rPr>
              <a:t> comments begin with /** and end with */. They are used for documenting classes, data, and methods. They can be extracted into an HTML file using JDK's Javadoc command. </a:t>
            </a:r>
          </a:p>
        </p:txBody>
      </p:sp>
    </p:spTree>
    <p:extLst>
      <p:ext uri="{BB962C8B-B14F-4D97-AF65-F5344CB8AC3E}">
        <p14:creationId xmlns:p14="http://schemas.microsoft.com/office/powerpoint/2010/main" val="28452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Access Modifiers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16446" y="1498853"/>
            <a:ext cx="10018713" cy="4399027"/>
          </a:xfrm>
        </p:spPr>
        <p:txBody>
          <a:bodyPr>
            <a:noAutofit/>
          </a:bodyPr>
          <a:lstStyle/>
          <a:p>
            <a:r>
              <a:rPr lang="en-GB" sz="2800" b="0" i="0" u="none" strike="noStrike" baseline="0" dirty="0">
                <a:solidFill>
                  <a:srgbClr val="222222"/>
                </a:solidFill>
                <a:latin typeface="Trebuchet MS" panose="020B0603020202020204" pitchFamily="34" charset="0"/>
              </a:rPr>
              <a:t>Java uses certain reserved words called access modifiers that specify the properties of the data, methods, and classes and how they can be accessed. Examples of modifiers are public and static. Other modifiers are private, final, abstract, and protected. A public datum, method, or class can be accessed by other programs. A private datum or method cannot be accessed by other programs. </a:t>
            </a:r>
          </a:p>
          <a:p>
            <a:endParaRPr lang="en-GB" sz="3600" b="0" i="0" u="none" strike="noStrike" baseline="0"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411088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Class Name</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56451" y="927352"/>
            <a:ext cx="10018713" cy="5599178"/>
          </a:xfrm>
        </p:spPr>
        <p:txBody>
          <a:bodyPr>
            <a:noAutofit/>
          </a:bodyPr>
          <a:lstStyle/>
          <a:p>
            <a:r>
              <a:rPr lang="en-GB" sz="3200" b="0" i="0" u="none" strike="noStrike" baseline="0" dirty="0">
                <a:solidFill>
                  <a:srgbClr val="222222"/>
                </a:solidFill>
                <a:latin typeface="Trebuchet MS" panose="020B0603020202020204" pitchFamily="34" charset="0"/>
              </a:rPr>
              <a:t>Every Java program must have at least one class. Each class has a name. By convention, class names start with an uppercase letter. In our example, the class name is Welcome. </a:t>
            </a:r>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pPr marL="0" indent="0">
              <a:buNone/>
            </a:pPr>
            <a:endParaRPr lang="en-GB" b="0" i="0" u="none" strike="noStrike" baseline="0"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p:txBody>
      </p:sp>
      <p:sp>
        <p:nvSpPr>
          <p:cNvPr id="5" name="Rectangle 2">
            <a:extLst>
              <a:ext uri="{FF2B5EF4-FFF2-40B4-BE49-F238E27FC236}">
                <a16:creationId xmlns:a16="http://schemas.microsoft.com/office/drawing/2014/main" id="{9D4AE649-44BD-8EC9-1FFF-3A722D6F98D2}"/>
              </a:ext>
            </a:extLst>
          </p:cNvPr>
          <p:cNvSpPr>
            <a:spLocks noChangeArrowheads="1"/>
          </p:cNvSpPr>
          <p:nvPr/>
        </p:nvSpPr>
        <p:spPr bwMode="auto">
          <a:xfrm>
            <a:off x="1537335" y="3669030"/>
            <a:ext cx="10858500" cy="264871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prints Welcome to Java!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public class </a:t>
            </a:r>
            <a:r>
              <a:rPr lang="en-US" altLang="en-US" sz="2400" b="1" dirty="0">
                <a:solidFill>
                  <a:srgbClr val="FF0000"/>
                </a:solidFill>
                <a:highlight>
                  <a:srgbClr val="FFFF00"/>
                </a:highlight>
                <a:latin typeface="Courier New" panose="02070309020205020404" pitchFamily="49" charset="0"/>
              </a:rPr>
              <a:t>Welcome</a:t>
            </a:r>
            <a:r>
              <a:rPr lang="en-US" altLang="en-US" sz="2400" b="1" dirty="0">
                <a:solidFill>
                  <a:srgbClr val="FF0000"/>
                </a:solidFill>
                <a:latin typeface="Courier New" panose="02070309020205020404" pitchFamily="49" charset="0"/>
              </a:rPr>
              <a:t>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public static void main(String[] </a:t>
            </a:r>
            <a:r>
              <a:rPr lang="en-US" altLang="en-US" sz="2400" b="1" dirty="0" err="1">
                <a:solidFill>
                  <a:srgbClr val="FF0000"/>
                </a:solidFill>
                <a:latin typeface="Courier New" panose="02070309020205020404" pitchFamily="49" charset="0"/>
              </a:rPr>
              <a:t>args</a:t>
            </a:r>
            <a:r>
              <a:rPr lang="en-US" altLang="en-US" sz="2400" b="1" dirty="0">
                <a:solidFill>
                  <a:srgbClr val="FF0000"/>
                </a:solidFill>
                <a:latin typeface="Courier New" panose="02070309020205020404" pitchFamily="49" charset="0"/>
              </a:rPr>
              <a:t>)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err="1">
                <a:solidFill>
                  <a:srgbClr val="FF0000"/>
                </a:solidFill>
                <a:latin typeface="Courier New" panose="02070309020205020404" pitchFamily="49" charset="0"/>
              </a:rPr>
              <a:t>System.out.println</a:t>
            </a:r>
            <a:r>
              <a:rPr lang="en-US" altLang="en-US" sz="2400" b="1" dirty="0">
                <a:solidFill>
                  <a:srgbClr val="FF0000"/>
                </a:solidFill>
                <a:latin typeface="Courier New" panose="02070309020205020404" pitchFamily="49" charset="0"/>
              </a:rPr>
              <a:t>("Welcome to Programming in Java!");</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a:t>
            </a:r>
            <a:endParaRPr lang="en-US" altLang="en-US" sz="2800" b="1" dirty="0">
              <a:solidFill>
                <a:srgbClr val="FF0000"/>
              </a:solidFill>
            </a:endParaRPr>
          </a:p>
        </p:txBody>
      </p:sp>
    </p:spTree>
    <p:extLst>
      <p:ext uri="{BB962C8B-B14F-4D97-AF65-F5344CB8AC3E}">
        <p14:creationId xmlns:p14="http://schemas.microsoft.com/office/powerpoint/2010/main" val="2560949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Main Method</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56451" y="1013077"/>
            <a:ext cx="10018713" cy="5654421"/>
          </a:xfrm>
        </p:spPr>
        <p:txBody>
          <a:bodyPr>
            <a:noAutofit/>
          </a:bodyPr>
          <a:lstStyle/>
          <a:p>
            <a:r>
              <a:rPr lang="en-GB" sz="3200" b="0" i="0" u="none" strike="noStrike" baseline="0" dirty="0">
                <a:solidFill>
                  <a:srgbClr val="222222"/>
                </a:solidFill>
                <a:latin typeface="Trebuchet MS" panose="020B0603020202020204" pitchFamily="34" charset="0"/>
              </a:rPr>
              <a:t>The main method provides the control of program flow. The Java interpreter executes the application by invoking the main method. </a:t>
            </a:r>
          </a:p>
          <a:p>
            <a:r>
              <a:rPr lang="en-GB" sz="3200" b="0" i="0" u="none" strike="noStrike" baseline="0" dirty="0">
                <a:solidFill>
                  <a:srgbClr val="222222"/>
                </a:solidFill>
                <a:latin typeface="Trebuchet MS" panose="020B0603020202020204" pitchFamily="34" charset="0"/>
              </a:rPr>
              <a:t>In order to run a class, the class must contain a method named main. In our </a:t>
            </a:r>
            <a:r>
              <a:rPr lang="en-GB" sz="3200" dirty="0">
                <a:solidFill>
                  <a:srgbClr val="222222"/>
                </a:solidFill>
                <a:latin typeface="Trebuchet MS" panose="020B0603020202020204" pitchFamily="34" charset="0"/>
              </a:rPr>
              <a:t>example program, l</a:t>
            </a:r>
            <a:r>
              <a:rPr lang="en-GB" sz="3200" b="0" i="0" u="none" strike="noStrike" baseline="0" dirty="0">
                <a:solidFill>
                  <a:srgbClr val="222222"/>
                </a:solidFill>
                <a:latin typeface="Trebuchet MS" panose="020B0603020202020204" pitchFamily="34" charset="0"/>
              </a:rPr>
              <a:t>ine 2 defines the main method. </a:t>
            </a:r>
          </a:p>
          <a:p>
            <a:endParaRPr lang="en-GB" sz="3200" dirty="0">
              <a:solidFill>
                <a:srgbClr val="222222"/>
              </a:solidFill>
              <a:latin typeface="Trebuchet MS" panose="020B0603020202020204" pitchFamily="34" charset="0"/>
            </a:endParaRPr>
          </a:p>
          <a:p>
            <a:endParaRPr lang="en-GB" sz="3200" b="0" i="0" u="none" strike="noStrike" baseline="0" dirty="0">
              <a:solidFill>
                <a:srgbClr val="222222"/>
              </a:solidFill>
              <a:latin typeface="Trebuchet MS" panose="020B0603020202020204" pitchFamily="34" charset="0"/>
            </a:endParaRPr>
          </a:p>
          <a:p>
            <a:endParaRPr lang="en-GB" sz="3200" b="0" i="0" u="none" strike="noStrike" baseline="0" dirty="0">
              <a:solidFill>
                <a:srgbClr val="222222"/>
              </a:solidFill>
              <a:latin typeface="Trebuchet MS" panose="020B0603020202020204" pitchFamily="34" charset="0"/>
            </a:endParaRPr>
          </a:p>
          <a:p>
            <a:endParaRPr lang="en-GB" sz="3200"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C2380951-79EA-ED9B-2FC6-C658D2334D49}"/>
              </a:ext>
            </a:extLst>
          </p:cNvPr>
          <p:cNvSpPr>
            <a:spLocks noChangeArrowheads="1"/>
          </p:cNvSpPr>
          <p:nvPr/>
        </p:nvSpPr>
        <p:spPr bwMode="auto">
          <a:xfrm>
            <a:off x="1548765" y="4267200"/>
            <a:ext cx="10927079" cy="25908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prints Welcome to Java!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public class Welcome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a:solidFill>
                  <a:srgbClr val="FF0000"/>
                </a:solidFill>
                <a:highlight>
                  <a:srgbClr val="FFFF00"/>
                </a:highlight>
                <a:latin typeface="Courier New" panose="02070309020205020404" pitchFamily="49" charset="0"/>
              </a:rPr>
              <a:t>public static void main(String[] </a:t>
            </a:r>
            <a:r>
              <a:rPr lang="en-US" altLang="en-US" sz="2400" b="1" dirty="0" err="1">
                <a:solidFill>
                  <a:srgbClr val="FF0000"/>
                </a:solidFill>
                <a:highlight>
                  <a:srgbClr val="FFFF00"/>
                </a:highlight>
                <a:latin typeface="Courier New" panose="02070309020205020404" pitchFamily="49" charset="0"/>
              </a:rPr>
              <a:t>args</a:t>
            </a:r>
            <a:r>
              <a:rPr lang="en-US" altLang="en-US" sz="2400" b="1" dirty="0">
                <a:solidFill>
                  <a:srgbClr val="FF0000"/>
                </a:solidFill>
                <a:highlight>
                  <a:srgbClr val="FFFF00"/>
                </a:highlight>
                <a:latin typeface="Courier New" panose="02070309020205020404" pitchFamily="49" charset="0"/>
              </a:rPr>
              <a:t>) </a:t>
            </a: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err="1">
                <a:solidFill>
                  <a:srgbClr val="FF0000"/>
                </a:solidFill>
                <a:latin typeface="Courier New" panose="02070309020205020404" pitchFamily="49" charset="0"/>
              </a:rPr>
              <a:t>System.out.println</a:t>
            </a:r>
            <a:r>
              <a:rPr lang="en-US" altLang="en-US" sz="2400" b="1" dirty="0">
                <a:solidFill>
                  <a:srgbClr val="FF0000"/>
                </a:solidFill>
                <a:latin typeface="Courier New" panose="02070309020205020404" pitchFamily="49" charset="0"/>
              </a:rPr>
              <a:t>("Welcome to Programming in Java!");</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a:t>
            </a:r>
            <a:endParaRPr lang="en-US" altLang="en-US" sz="2800" b="1" dirty="0">
              <a:solidFill>
                <a:srgbClr val="FF0000"/>
              </a:solidFill>
            </a:endParaRPr>
          </a:p>
        </p:txBody>
      </p:sp>
    </p:spTree>
    <p:extLst>
      <p:ext uri="{BB962C8B-B14F-4D97-AF65-F5344CB8AC3E}">
        <p14:creationId xmlns:p14="http://schemas.microsoft.com/office/powerpoint/2010/main" val="1660877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392871" y="104777"/>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Statements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2350812" y="773047"/>
            <a:ext cx="9519244" cy="6084953"/>
          </a:xfrm>
        </p:spPr>
        <p:txBody>
          <a:bodyPr>
            <a:noAutofit/>
          </a:bodyPr>
          <a:lstStyle/>
          <a:p>
            <a:r>
              <a:rPr lang="en-GB" sz="2600" b="0" i="0" u="none" strike="noStrike" baseline="0" dirty="0">
                <a:solidFill>
                  <a:srgbClr val="222222"/>
                </a:solidFill>
                <a:latin typeface="Trebuchet MS" panose="020B0603020202020204" pitchFamily="34" charset="0"/>
              </a:rPr>
              <a:t>A statement represents an action or a sequence of actions. The statement </a:t>
            </a:r>
            <a:r>
              <a:rPr lang="en-GB" sz="2600" b="0" i="0" u="none" strike="noStrike" baseline="0" dirty="0" err="1">
                <a:solidFill>
                  <a:srgbClr val="222222"/>
                </a:solidFill>
                <a:latin typeface="Trebuchet MS" panose="020B0603020202020204" pitchFamily="34" charset="0"/>
              </a:rPr>
              <a:t>System.out.println</a:t>
            </a:r>
            <a:r>
              <a:rPr lang="en-GB" sz="2600" b="0" i="0" u="none" strike="noStrike" baseline="0" dirty="0">
                <a:solidFill>
                  <a:srgbClr val="222222"/>
                </a:solidFill>
                <a:latin typeface="Trebuchet MS" panose="020B0603020202020204" pitchFamily="34" charset="0"/>
              </a:rPr>
              <a:t>("Welcome to Java Programming!") in our example program is a statement to display the greeting "Welcome to Java Programming!“.</a:t>
            </a:r>
          </a:p>
          <a:p>
            <a:r>
              <a:rPr lang="en-GB" sz="2600" b="0" i="0" u="none" strike="noStrike" baseline="0" dirty="0">
                <a:solidFill>
                  <a:srgbClr val="222222"/>
                </a:solidFill>
                <a:latin typeface="Trebuchet MS" panose="020B0603020202020204" pitchFamily="34" charset="0"/>
              </a:rPr>
              <a:t>Every statement in Java ends with a semicolon (;).</a:t>
            </a:r>
          </a:p>
          <a:p>
            <a:endParaRPr lang="en-GB" sz="2600" dirty="0">
              <a:solidFill>
                <a:srgbClr val="222222"/>
              </a:solidFill>
              <a:latin typeface="Trebuchet MS" panose="020B0603020202020204" pitchFamily="34" charset="0"/>
            </a:endParaRPr>
          </a:p>
          <a:p>
            <a:endParaRPr lang="en-GB" sz="2600" b="0" i="0" u="none" strike="noStrike" baseline="0" dirty="0">
              <a:solidFill>
                <a:srgbClr val="222222"/>
              </a:solidFill>
              <a:latin typeface="Trebuchet MS" panose="020B0603020202020204" pitchFamily="34" charset="0"/>
            </a:endParaRPr>
          </a:p>
          <a:p>
            <a:endParaRPr lang="en-GB" sz="2600" dirty="0">
              <a:solidFill>
                <a:srgbClr val="222222"/>
              </a:solidFill>
              <a:latin typeface="Trebuchet MS" panose="020B0603020202020204" pitchFamily="34" charset="0"/>
            </a:endParaRPr>
          </a:p>
          <a:p>
            <a:endParaRPr lang="en-GB" sz="2600" b="0" i="0" u="none" strike="noStrike" baseline="0" dirty="0">
              <a:solidFill>
                <a:srgbClr val="222222"/>
              </a:solidFill>
              <a:latin typeface="Trebuchet MS" panose="020B0603020202020204" pitchFamily="34" charset="0"/>
            </a:endParaRPr>
          </a:p>
          <a:p>
            <a:endParaRPr lang="en-GB" sz="2600" dirty="0">
              <a:solidFill>
                <a:srgbClr val="222222"/>
              </a:solidFill>
              <a:latin typeface="Trebuchet MS" panose="020B0603020202020204" pitchFamily="34" charset="0"/>
            </a:endParaRPr>
          </a:p>
          <a:p>
            <a:endParaRPr lang="en-GB" sz="2600"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9CC96BFB-6D0D-5D6E-2308-B7B5277F877C}"/>
              </a:ext>
            </a:extLst>
          </p:cNvPr>
          <p:cNvSpPr>
            <a:spLocks noChangeArrowheads="1"/>
          </p:cNvSpPr>
          <p:nvPr/>
        </p:nvSpPr>
        <p:spPr bwMode="auto">
          <a:xfrm>
            <a:off x="1434465" y="3661218"/>
            <a:ext cx="10892790" cy="259080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prints Welcome to Java!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public class Welcome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public static void main(String[] </a:t>
            </a:r>
            <a:r>
              <a:rPr lang="en-US" altLang="en-US" sz="2400" b="1" dirty="0" err="1">
                <a:solidFill>
                  <a:srgbClr val="FF0000"/>
                </a:solidFill>
                <a:latin typeface="Courier New" panose="02070309020205020404" pitchFamily="49" charset="0"/>
              </a:rPr>
              <a:t>args</a:t>
            </a:r>
            <a:r>
              <a:rPr lang="en-US" altLang="en-US" sz="2400" b="1" dirty="0">
                <a:solidFill>
                  <a:srgbClr val="FF0000"/>
                </a:solidFill>
                <a:latin typeface="Courier New" panose="02070309020205020404" pitchFamily="49" charset="0"/>
              </a:rPr>
              <a:t>)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err="1">
                <a:solidFill>
                  <a:srgbClr val="FF0000"/>
                </a:solidFill>
                <a:highlight>
                  <a:srgbClr val="FFFF00"/>
                </a:highlight>
                <a:latin typeface="Courier New" panose="02070309020205020404" pitchFamily="49" charset="0"/>
              </a:rPr>
              <a:t>System.out.println</a:t>
            </a:r>
            <a:r>
              <a:rPr lang="en-US" altLang="en-US" sz="2400" b="1" dirty="0">
                <a:solidFill>
                  <a:srgbClr val="FF0000"/>
                </a:solidFill>
                <a:highlight>
                  <a:srgbClr val="FFFF00"/>
                </a:highlight>
                <a:latin typeface="Courier New" panose="02070309020205020404" pitchFamily="49" charset="0"/>
              </a:rPr>
              <a:t>("Welcome to Programming in Java!");</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a:t>
            </a:r>
            <a:endParaRPr lang="en-US" altLang="en-US" sz="2800" b="1" dirty="0">
              <a:solidFill>
                <a:srgbClr val="FF0000"/>
              </a:solidFill>
            </a:endParaRPr>
          </a:p>
        </p:txBody>
      </p:sp>
    </p:spTree>
    <p:extLst>
      <p:ext uri="{BB962C8B-B14F-4D97-AF65-F5344CB8AC3E}">
        <p14:creationId xmlns:p14="http://schemas.microsoft.com/office/powerpoint/2010/main" val="2135058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21446" y="1905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Reserved Words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896791" y="822576"/>
            <a:ext cx="10295209" cy="5844923"/>
          </a:xfrm>
        </p:spPr>
        <p:txBody>
          <a:bodyPr>
            <a:noAutofit/>
          </a:bodyPr>
          <a:lstStyle/>
          <a:p>
            <a:r>
              <a:rPr lang="en-GB" sz="2800" b="0" i="0" u="none" strike="noStrike" baseline="0" dirty="0">
                <a:solidFill>
                  <a:srgbClr val="222222"/>
                </a:solidFill>
                <a:latin typeface="Trebuchet MS" panose="020B0603020202020204" pitchFamily="34" charset="0"/>
              </a:rPr>
              <a:t>Reserved words or keywords are words that have a specific meaning to the compiler and cannot be used for other purposes in the program. For example, when the compiler sees the word class, it understands that the word after class is the name for the class. Other reserved words in our example program are public, static, and void. Their use will be introduced later.</a:t>
            </a:r>
            <a:endParaRPr lang="en-GB" sz="2800" dirty="0">
              <a:solidFill>
                <a:srgbClr val="222222"/>
              </a:solidFill>
              <a:latin typeface="Trebuchet MS" panose="020B0603020202020204" pitchFamily="34" charset="0"/>
            </a:endParaRPr>
          </a:p>
          <a:p>
            <a:endParaRPr lang="en-GB" sz="2800" b="0" i="0" u="none" strike="noStrike" baseline="0" dirty="0">
              <a:solidFill>
                <a:srgbClr val="222222"/>
              </a:solidFill>
              <a:latin typeface="Trebuchet MS" panose="020B0603020202020204" pitchFamily="34" charset="0"/>
            </a:endParaRPr>
          </a:p>
          <a:p>
            <a:endParaRPr lang="en-GB" sz="2800" dirty="0">
              <a:solidFill>
                <a:srgbClr val="222222"/>
              </a:solidFill>
              <a:latin typeface="Trebuchet MS" panose="020B0603020202020204" pitchFamily="34" charset="0"/>
            </a:endParaRPr>
          </a:p>
          <a:p>
            <a:endParaRPr lang="en-GB" sz="2800" b="0" i="0" u="none" strike="noStrike" baseline="0" dirty="0">
              <a:solidFill>
                <a:srgbClr val="222222"/>
              </a:solidFill>
              <a:latin typeface="Trebuchet MS" panose="020B0603020202020204" pitchFamily="34" charset="0"/>
            </a:endParaRPr>
          </a:p>
          <a:p>
            <a:endParaRPr lang="en-GB" sz="2800"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41D11567-9011-2588-11B5-D40D24A3321A}"/>
              </a:ext>
            </a:extLst>
          </p:cNvPr>
          <p:cNvSpPr>
            <a:spLocks noChangeArrowheads="1"/>
          </p:cNvSpPr>
          <p:nvPr/>
        </p:nvSpPr>
        <p:spPr bwMode="auto">
          <a:xfrm>
            <a:off x="1514474" y="4171948"/>
            <a:ext cx="10892791" cy="242125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prints Welcome to Java! </a:t>
            </a:r>
          </a:p>
          <a:p>
            <a:pPr>
              <a:spcBef>
                <a:spcPct val="0"/>
              </a:spcBef>
              <a:buFont typeface="Monotype Sorts" pitchFamily="2" charset="2"/>
              <a:buNone/>
            </a:pPr>
            <a:r>
              <a:rPr lang="en-US" altLang="en-US" sz="2400" b="1" dirty="0">
                <a:solidFill>
                  <a:srgbClr val="FF0000"/>
                </a:solidFill>
                <a:highlight>
                  <a:srgbClr val="FFFF00"/>
                </a:highlight>
                <a:latin typeface="Courier New" panose="02070309020205020404" pitchFamily="49" charset="0"/>
              </a:rPr>
              <a:t>public class </a:t>
            </a:r>
            <a:r>
              <a:rPr lang="en-US" altLang="en-US" sz="2400" b="1" dirty="0">
                <a:solidFill>
                  <a:srgbClr val="FF0000"/>
                </a:solidFill>
                <a:latin typeface="Courier New" panose="02070309020205020404" pitchFamily="49" charset="0"/>
              </a:rPr>
              <a:t>Welcome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a:solidFill>
                  <a:srgbClr val="FF0000"/>
                </a:solidFill>
                <a:highlight>
                  <a:srgbClr val="FFFF00"/>
                </a:highlight>
                <a:latin typeface="Courier New" panose="02070309020205020404" pitchFamily="49" charset="0"/>
              </a:rPr>
              <a:t>public static void </a:t>
            </a:r>
            <a:r>
              <a:rPr lang="en-US" altLang="en-US" sz="2400" b="1" dirty="0">
                <a:solidFill>
                  <a:srgbClr val="FF0000"/>
                </a:solidFill>
                <a:latin typeface="Courier New" panose="02070309020205020404" pitchFamily="49" charset="0"/>
              </a:rPr>
              <a:t>main(String[] </a:t>
            </a:r>
            <a:r>
              <a:rPr lang="en-US" altLang="en-US" sz="2400" b="1" dirty="0" err="1">
                <a:solidFill>
                  <a:srgbClr val="FF0000"/>
                </a:solidFill>
                <a:latin typeface="Courier New" panose="02070309020205020404" pitchFamily="49" charset="0"/>
              </a:rPr>
              <a:t>args</a:t>
            </a:r>
            <a:r>
              <a:rPr lang="en-US" altLang="en-US" sz="2400" b="1" dirty="0">
                <a:solidFill>
                  <a:srgbClr val="FF0000"/>
                </a:solidFill>
                <a:latin typeface="Courier New" panose="02070309020205020404" pitchFamily="49" charset="0"/>
              </a:rPr>
              <a:t>) {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err="1">
                <a:solidFill>
                  <a:srgbClr val="FF0000"/>
                </a:solidFill>
                <a:latin typeface="Courier New" panose="02070309020205020404" pitchFamily="49" charset="0"/>
              </a:rPr>
              <a:t>System.out.println</a:t>
            </a:r>
            <a:r>
              <a:rPr lang="en-US" altLang="en-US" sz="2400" b="1" dirty="0">
                <a:solidFill>
                  <a:srgbClr val="FF0000"/>
                </a:solidFill>
                <a:latin typeface="Courier New" panose="02070309020205020404" pitchFamily="49" charset="0"/>
              </a:rPr>
              <a:t>("Welcome to Programming in Java!");</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a:t>
            </a:r>
            <a:endParaRPr lang="en-US" altLang="en-US" sz="2800" b="1" dirty="0">
              <a:solidFill>
                <a:srgbClr val="FF0000"/>
              </a:solidFill>
            </a:endParaRPr>
          </a:p>
        </p:txBody>
      </p:sp>
    </p:spTree>
    <p:extLst>
      <p:ext uri="{BB962C8B-B14F-4D97-AF65-F5344CB8AC3E}">
        <p14:creationId xmlns:p14="http://schemas.microsoft.com/office/powerpoint/2010/main" val="529332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Blocks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4883" y="986763"/>
            <a:ext cx="10295209" cy="5381145"/>
          </a:xfrm>
        </p:spPr>
        <p:txBody>
          <a:bodyPr>
            <a:noAutofit/>
          </a:bodyPr>
          <a:lstStyle/>
          <a:p>
            <a:r>
              <a:rPr lang="en-GB" sz="3200" b="0" i="0" u="none" strike="noStrike" baseline="0" dirty="0">
                <a:solidFill>
                  <a:srgbClr val="222222"/>
                </a:solidFill>
                <a:latin typeface="Trebuchet MS" panose="020B0603020202020204" pitchFamily="34" charset="0"/>
              </a:rPr>
              <a:t>A pair of braces in a program forms a block that groups components of a program.</a:t>
            </a:r>
          </a:p>
          <a:p>
            <a:endParaRPr lang="en-GB" sz="3200" dirty="0">
              <a:solidFill>
                <a:srgbClr val="222222"/>
              </a:solidFill>
              <a:latin typeface="Trebuchet MS" panose="020B0603020202020204" pitchFamily="34" charset="0"/>
            </a:endParaRPr>
          </a:p>
          <a:p>
            <a:endParaRPr lang="en-GB" sz="3200" b="0" i="0" u="none" strike="noStrike" baseline="0" dirty="0">
              <a:solidFill>
                <a:srgbClr val="222222"/>
              </a:solidFill>
              <a:latin typeface="Trebuchet MS" panose="020B0603020202020204" pitchFamily="34" charset="0"/>
            </a:endParaRPr>
          </a:p>
          <a:p>
            <a:endParaRPr lang="en-GB" sz="3200" dirty="0">
              <a:solidFill>
                <a:srgbClr val="222222"/>
              </a:solidFill>
              <a:latin typeface="Trebuchet MS" panose="020B0603020202020204" pitchFamily="34" charset="0"/>
            </a:endParaRPr>
          </a:p>
          <a:p>
            <a:endParaRPr lang="en-GB" sz="3200" b="0" i="0" u="none" strike="noStrike" baseline="0" dirty="0">
              <a:solidFill>
                <a:srgbClr val="222222"/>
              </a:solidFill>
              <a:latin typeface="Trebuchet MS" panose="020B0603020202020204" pitchFamily="34" charset="0"/>
            </a:endParaRPr>
          </a:p>
          <a:p>
            <a:endParaRPr lang="en-GB" sz="3200" dirty="0">
              <a:solidFill>
                <a:srgbClr val="222222"/>
              </a:solidFill>
              <a:latin typeface="Trebuchet MS" panose="020B0603020202020204" pitchFamily="34" charset="0"/>
            </a:endParaRPr>
          </a:p>
          <a:p>
            <a:endParaRPr lang="en-GB" sz="2800" b="0" i="0" u="none" strike="noStrike" baseline="0" dirty="0">
              <a:solidFill>
                <a:srgbClr val="222222"/>
              </a:solidFill>
              <a:latin typeface="Trebuchet MS" panose="020B0603020202020204" pitchFamily="34" charset="0"/>
            </a:endParaRPr>
          </a:p>
        </p:txBody>
      </p:sp>
      <p:pic>
        <p:nvPicPr>
          <p:cNvPr id="21" name="Picture 20">
            <a:extLst>
              <a:ext uri="{FF2B5EF4-FFF2-40B4-BE49-F238E27FC236}">
                <a16:creationId xmlns:a16="http://schemas.microsoft.com/office/drawing/2014/main" id="{9AAC250B-FD3B-1EAA-AF00-9815EC607D45}"/>
              </a:ext>
            </a:extLst>
          </p:cNvPr>
          <p:cNvPicPr>
            <a:picLocks noChangeAspect="1"/>
          </p:cNvPicPr>
          <p:nvPr/>
        </p:nvPicPr>
        <p:blipFill>
          <a:blip r:embed="rId2"/>
          <a:stretch>
            <a:fillRect/>
          </a:stretch>
        </p:blipFill>
        <p:spPr>
          <a:xfrm>
            <a:off x="1205865" y="2612925"/>
            <a:ext cx="10651362" cy="3258312"/>
          </a:xfrm>
          <a:prstGeom prst="rect">
            <a:avLst/>
          </a:prstGeom>
        </p:spPr>
      </p:pic>
    </p:spTree>
    <p:extLst>
      <p:ext uri="{BB962C8B-B14F-4D97-AF65-F5344CB8AC3E}">
        <p14:creationId xmlns:p14="http://schemas.microsoft.com/office/powerpoint/2010/main" val="3088042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Java Print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4883" y="986763"/>
            <a:ext cx="10295209" cy="5381145"/>
          </a:xfrm>
        </p:spPr>
        <p:txBody>
          <a:bodyPr>
            <a:noAutofit/>
          </a:bodyPr>
          <a:lstStyle/>
          <a:p>
            <a:r>
              <a:rPr lang="en-GB" sz="2800" b="0" i="0" u="none" strike="noStrike" baseline="0" dirty="0">
                <a:solidFill>
                  <a:srgbClr val="222222"/>
                </a:solidFill>
                <a:latin typeface="Trebuchet MS" panose="020B0603020202020204" pitchFamily="34" charset="0"/>
              </a:rPr>
              <a:t>Java programs use a statement called </a:t>
            </a:r>
            <a:r>
              <a:rPr lang="en-GB" sz="2800" b="0" i="0" u="none" strike="noStrike" baseline="0" dirty="0" err="1">
                <a:solidFill>
                  <a:srgbClr val="222222"/>
                </a:solidFill>
                <a:latin typeface="Trebuchet MS" panose="020B0603020202020204" pitchFamily="34" charset="0"/>
              </a:rPr>
              <a:t>System.out.println</a:t>
            </a:r>
            <a:r>
              <a:rPr lang="en-GB" sz="2800" b="0" i="0" u="none" strike="noStrike" baseline="0" dirty="0">
                <a:solidFill>
                  <a:srgbClr val="222222"/>
                </a:solidFill>
                <a:latin typeface="Trebuchet MS" panose="020B0603020202020204" pitchFamily="34" charset="0"/>
              </a:rPr>
              <a:t> to instruct the computer to print a line of output on the console</a:t>
            </a:r>
          </a:p>
          <a:p>
            <a:pPr lvl="1"/>
            <a:r>
              <a:rPr lang="en-GB" sz="2400" b="0" i="0" u="none" strike="noStrike" baseline="0" dirty="0">
                <a:solidFill>
                  <a:srgbClr val="222222"/>
                </a:solidFill>
                <a:latin typeface="Trebuchet MS" panose="020B0603020202020204" pitchFamily="34" charset="0"/>
              </a:rPr>
              <a:t>pronounced "print-linn"; sometimes called a </a:t>
            </a:r>
            <a:r>
              <a:rPr lang="en-GB" sz="2400" b="0" i="0" u="none" strike="noStrike" baseline="0" dirty="0" err="1">
                <a:solidFill>
                  <a:srgbClr val="222222"/>
                </a:solidFill>
                <a:latin typeface="Trebuchet MS" panose="020B0603020202020204" pitchFamily="34" charset="0"/>
              </a:rPr>
              <a:t>println</a:t>
            </a:r>
            <a:r>
              <a:rPr lang="en-GB" sz="2400" b="0" i="0" u="none" strike="noStrike" baseline="0" dirty="0">
                <a:solidFill>
                  <a:srgbClr val="222222"/>
                </a:solidFill>
                <a:latin typeface="Trebuchet MS" panose="020B0603020202020204" pitchFamily="34" charset="0"/>
              </a:rPr>
              <a:t> statement for short</a:t>
            </a:r>
          </a:p>
          <a:p>
            <a:r>
              <a:rPr lang="en-GB" sz="2800" b="0" i="0" u="none" strike="noStrike" baseline="0" dirty="0" err="1">
                <a:solidFill>
                  <a:srgbClr val="222222"/>
                </a:solidFill>
                <a:latin typeface="Trebuchet MS" panose="020B0603020202020204" pitchFamily="34" charset="0"/>
              </a:rPr>
              <a:t>System.out.print</a:t>
            </a:r>
            <a:r>
              <a:rPr lang="en-GB" sz="2800" b="0" i="0" u="none" strike="noStrike" baseline="0" dirty="0">
                <a:solidFill>
                  <a:srgbClr val="222222"/>
                </a:solidFill>
                <a:latin typeface="Trebuchet MS" panose="020B0603020202020204" pitchFamily="34" charset="0"/>
              </a:rPr>
              <a:t>: This first print statement prints the characters placed within the quotation marks and leaves the cursor on the same line. </a:t>
            </a:r>
          </a:p>
          <a:p>
            <a:r>
              <a:rPr lang="en-GB" sz="2800" b="0" i="0" u="none" strike="noStrike" baseline="0" dirty="0" err="1">
                <a:solidFill>
                  <a:srgbClr val="222222"/>
                </a:solidFill>
                <a:latin typeface="Trebuchet MS" panose="020B0603020202020204" pitchFamily="34" charset="0"/>
              </a:rPr>
              <a:t>System.out.println</a:t>
            </a:r>
            <a:r>
              <a:rPr lang="en-GB" sz="2800" b="0" i="0" u="none" strike="noStrike" baseline="0" dirty="0">
                <a:solidFill>
                  <a:srgbClr val="222222"/>
                </a:solidFill>
                <a:latin typeface="Trebuchet MS" panose="020B0603020202020204" pitchFamily="34" charset="0"/>
              </a:rPr>
              <a:t>: This print statement prints the characters placed within the quotation marks and moves the cursor to the next line.</a:t>
            </a:r>
          </a:p>
        </p:txBody>
      </p:sp>
    </p:spTree>
    <p:extLst>
      <p:ext uri="{BB962C8B-B14F-4D97-AF65-F5344CB8AC3E}">
        <p14:creationId xmlns:p14="http://schemas.microsoft.com/office/powerpoint/2010/main" val="2230810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0"/>
            <a:ext cx="10018713" cy="569593"/>
          </a:xfrm>
        </p:spPr>
        <p:txBody>
          <a:bodyPr>
            <a:noAutofit/>
          </a:bodyPr>
          <a:lstStyle/>
          <a:p>
            <a:pPr marL="0" indent="0">
              <a:buNone/>
            </a:pPr>
            <a:r>
              <a:rPr lang="en-US" altLang="en-US" dirty="0"/>
              <a:t> </a:t>
            </a:r>
            <a:r>
              <a:rPr lang="en-US" altLang="en-US" dirty="0">
                <a:latin typeface="Trebuchet MS" panose="020B0603020202020204" pitchFamily="34" charset="0"/>
              </a:rPr>
              <a:t>Strings and String Literals</a:t>
            </a:r>
            <a:endParaRPr lang="en-GB" b="0" i="0" u="none" strike="noStrike" baseline="0" dirty="0">
              <a:solidFill>
                <a:srgbClr val="000000"/>
              </a:solidFill>
              <a:latin typeface="Trebuchet MS" panose="020B0603020202020204" pitchFamily="34" charset="0"/>
            </a:endParaRP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624883" y="569593"/>
            <a:ext cx="10567117" cy="6288407"/>
          </a:xfrm>
        </p:spPr>
        <p:txBody>
          <a:bodyPr>
            <a:noAutofit/>
          </a:bodyPr>
          <a:lstStyle/>
          <a:p>
            <a:r>
              <a:rPr lang="en-GB" sz="2000" b="0" i="0" u="none" strike="noStrike" baseline="0" dirty="0">
                <a:solidFill>
                  <a:srgbClr val="222222"/>
                </a:solidFill>
                <a:latin typeface="Trebuchet MS" panose="020B0603020202020204" pitchFamily="34" charset="0"/>
              </a:rPr>
              <a:t>string: A sequence of text characters (not just letters) that can be printed or manipulated in a program.</a:t>
            </a:r>
          </a:p>
          <a:p>
            <a:r>
              <a:rPr lang="en-GB" sz="2000" b="0" i="0" u="none" strike="noStrike" baseline="0" dirty="0">
                <a:solidFill>
                  <a:srgbClr val="222222"/>
                </a:solidFill>
                <a:latin typeface="Trebuchet MS" panose="020B0603020202020204" pitchFamily="34" charset="0"/>
              </a:rPr>
              <a:t>literal: a representation of a value of a particular type</a:t>
            </a:r>
          </a:p>
          <a:p>
            <a:pPr lvl="1"/>
            <a:r>
              <a:rPr lang="en-GB" sz="1600" b="0" i="0" u="none" strike="noStrike" baseline="0" dirty="0">
                <a:solidFill>
                  <a:srgbClr val="222222"/>
                </a:solidFill>
                <a:latin typeface="Trebuchet MS" panose="020B0603020202020204" pitchFamily="34" charset="0"/>
              </a:rPr>
              <a:t>String literals in Java start and end with quotation mark characters</a:t>
            </a:r>
          </a:p>
          <a:p>
            <a:pPr marL="0" indent="0">
              <a:buNone/>
            </a:pPr>
            <a:r>
              <a:rPr lang="en-GB" sz="2000" b="1" i="1" dirty="0">
                <a:solidFill>
                  <a:srgbClr val="222222"/>
                </a:solidFill>
                <a:latin typeface="Trebuchet MS" panose="020B0603020202020204" pitchFamily="34" charset="0"/>
              </a:rPr>
              <a:t>		“</a:t>
            </a:r>
            <a:r>
              <a:rPr lang="en-GB" sz="2000" b="1" i="1" u="none" strike="noStrike" baseline="0" dirty="0">
                <a:solidFill>
                  <a:srgbClr val="222222"/>
                </a:solidFill>
                <a:latin typeface="Trebuchet MS" panose="020B0603020202020204" pitchFamily="34" charset="0"/>
              </a:rPr>
              <a:t>This is a string”</a:t>
            </a:r>
          </a:p>
          <a:p>
            <a:r>
              <a:rPr lang="en-GB" sz="2000" b="0" i="0" u="none" strike="noStrike" baseline="0" dirty="0">
                <a:solidFill>
                  <a:srgbClr val="222222"/>
                </a:solidFill>
                <a:latin typeface="Trebuchet MS" panose="020B0603020202020204" pitchFamily="34" charset="0"/>
              </a:rPr>
              <a:t>A string literal may not span across multiple lines.</a:t>
            </a:r>
            <a:br>
              <a:rPr lang="en-GB" sz="2000" b="0" i="0" u="none" strike="noStrike" baseline="0" dirty="0">
                <a:solidFill>
                  <a:srgbClr val="222222"/>
                </a:solidFill>
                <a:latin typeface="Trebuchet MS" panose="020B0603020202020204" pitchFamily="34" charset="0"/>
              </a:rPr>
            </a:br>
            <a:r>
              <a:rPr lang="en-GB" sz="2000" b="1" i="1" dirty="0">
                <a:solidFill>
                  <a:srgbClr val="222222"/>
                </a:solidFill>
                <a:latin typeface="Trebuchet MS" panose="020B0603020202020204" pitchFamily="34" charset="0"/>
              </a:rPr>
              <a:t>“</a:t>
            </a:r>
            <a:r>
              <a:rPr lang="en-GB" sz="2000" b="1" i="1" u="none" strike="noStrike" baseline="0" dirty="0">
                <a:solidFill>
                  <a:srgbClr val="222222"/>
                </a:solidFill>
                <a:latin typeface="Trebuchet MS" panose="020B0603020202020204" pitchFamily="34" charset="0"/>
              </a:rPr>
              <a:t>This is not</a:t>
            </a:r>
            <a:br>
              <a:rPr lang="en-GB" sz="2000" b="1" i="1" u="none" strike="noStrike" baseline="0" dirty="0">
                <a:solidFill>
                  <a:srgbClr val="222222"/>
                </a:solidFill>
                <a:latin typeface="Trebuchet MS" panose="020B0603020202020204" pitchFamily="34" charset="0"/>
              </a:rPr>
            </a:br>
            <a:r>
              <a:rPr lang="en-GB" sz="2000" b="1" i="1" u="none" strike="noStrike" baseline="0" dirty="0">
                <a:solidFill>
                  <a:srgbClr val="222222"/>
                </a:solidFill>
                <a:latin typeface="Trebuchet MS" panose="020B0603020202020204" pitchFamily="34" charset="0"/>
              </a:rPr>
              <a:t>a legal String.”</a:t>
            </a:r>
          </a:p>
          <a:p>
            <a:r>
              <a:rPr lang="en-GB" sz="2000" b="0" i="0" u="none" strike="noStrike" baseline="0" dirty="0">
                <a:solidFill>
                  <a:srgbClr val="222222"/>
                </a:solidFill>
                <a:latin typeface="Trebuchet MS" panose="020B0603020202020204" pitchFamily="34" charset="0"/>
              </a:rPr>
              <a:t>A string may not contain a " character.  ' is OK</a:t>
            </a:r>
            <a:br>
              <a:rPr lang="en-GB" sz="2000" b="0" i="0" u="none" strike="noStrike" baseline="0" dirty="0">
                <a:solidFill>
                  <a:srgbClr val="222222"/>
                </a:solidFill>
                <a:latin typeface="Trebuchet MS" panose="020B0603020202020204" pitchFamily="34" charset="0"/>
              </a:rPr>
            </a:br>
            <a:r>
              <a:rPr lang="en-GB" sz="2000" b="1" i="1" u="none" strike="noStrike" baseline="0" dirty="0">
                <a:solidFill>
                  <a:srgbClr val="222222"/>
                </a:solidFill>
                <a:latin typeface="Trebuchet MS" panose="020B0603020202020204" pitchFamily="34" charset="0"/>
              </a:rPr>
              <a:t>"This is not a "legal" String either."</a:t>
            </a:r>
            <a:br>
              <a:rPr lang="en-GB" sz="2000" b="1" i="1" u="none" strike="noStrike" baseline="0" dirty="0">
                <a:solidFill>
                  <a:srgbClr val="222222"/>
                </a:solidFill>
                <a:latin typeface="Trebuchet MS" panose="020B0603020202020204" pitchFamily="34" charset="0"/>
              </a:rPr>
            </a:br>
            <a:r>
              <a:rPr lang="en-GB" sz="2000" b="1" i="1" u="none" strike="noStrike" baseline="0" dirty="0">
                <a:solidFill>
                  <a:srgbClr val="222222"/>
                </a:solidFill>
                <a:latin typeface="Trebuchet MS" panose="020B0603020202020204" pitchFamily="34" charset="0"/>
              </a:rPr>
              <a:t>"This is 'okay' though."</a:t>
            </a:r>
          </a:p>
          <a:p>
            <a:r>
              <a:rPr lang="en-GB" sz="2000" b="0" i="0" u="none" strike="noStrike" baseline="0" dirty="0">
                <a:solidFill>
                  <a:srgbClr val="222222"/>
                </a:solidFill>
                <a:latin typeface="Trebuchet MS" panose="020B0603020202020204" pitchFamily="34" charset="0"/>
              </a:rPr>
              <a:t>A string can represent certain special characters by preceding them with a backslash \ (this is called an escape sequence).</a:t>
            </a:r>
          </a:p>
          <a:p>
            <a:pPr lvl="1"/>
            <a:r>
              <a:rPr lang="en-GB" sz="1600" b="0" i="0" u="none" strike="noStrike" baseline="0" dirty="0">
                <a:solidFill>
                  <a:srgbClr val="222222"/>
                </a:solidFill>
                <a:latin typeface="Trebuchet MS" panose="020B0603020202020204" pitchFamily="34" charset="0"/>
              </a:rPr>
              <a:t>\t		tab character				Move the screen cursor to the next tab stop</a:t>
            </a:r>
          </a:p>
          <a:p>
            <a:pPr lvl="1"/>
            <a:r>
              <a:rPr lang="en-GB" sz="1600" b="0" i="0" u="none" strike="noStrike" baseline="0" dirty="0">
                <a:solidFill>
                  <a:srgbClr val="222222"/>
                </a:solidFill>
                <a:latin typeface="Trebuchet MS" panose="020B0603020202020204" pitchFamily="34" charset="0"/>
              </a:rPr>
              <a:t>\n 	new line character			Position the cursor on a new line</a:t>
            </a:r>
          </a:p>
          <a:p>
            <a:pPr lvl="1"/>
            <a:r>
              <a:rPr lang="en-GB" sz="1600" b="0" i="0" u="none" strike="noStrike" baseline="0" dirty="0">
                <a:solidFill>
                  <a:srgbClr val="222222"/>
                </a:solidFill>
                <a:latin typeface="Trebuchet MS" panose="020B0603020202020204" pitchFamily="34" charset="0"/>
              </a:rPr>
              <a:t>\"		quotation mark character	Used to print a double quote character</a:t>
            </a:r>
          </a:p>
          <a:p>
            <a:pPr lvl="1"/>
            <a:r>
              <a:rPr lang="en-GB" sz="1600" b="0" i="0" u="none" strike="noStrike" baseline="0" dirty="0">
                <a:solidFill>
                  <a:srgbClr val="222222"/>
                </a:solidFill>
                <a:latin typeface="Trebuchet MS" panose="020B0603020202020204" pitchFamily="34" charset="0"/>
              </a:rPr>
              <a:t>\\		backslash character			Used to print a backslash character</a:t>
            </a:r>
          </a:p>
        </p:txBody>
      </p:sp>
    </p:spTree>
    <p:extLst>
      <p:ext uri="{BB962C8B-B14F-4D97-AF65-F5344CB8AC3E}">
        <p14:creationId xmlns:p14="http://schemas.microsoft.com/office/powerpoint/2010/main" val="4139418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Writing Simple Java Programs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204920" y="1098596"/>
            <a:ext cx="10892789" cy="5354832"/>
          </a:xfrm>
        </p:spPr>
        <p:txBody>
          <a:bodyPr>
            <a:noAutofit/>
          </a:bodyPr>
          <a:lstStyle/>
          <a:p>
            <a:r>
              <a:rPr lang="en-GB" b="1" i="0" u="none" strike="noStrike" baseline="0" dirty="0">
                <a:solidFill>
                  <a:srgbClr val="222222"/>
                </a:solidFill>
                <a:latin typeface="Trebuchet MS" panose="020B0603020202020204" pitchFamily="34" charset="0"/>
              </a:rPr>
              <a:t>Example 1: Write a program that will calculate the area of a rectangle.</a:t>
            </a: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1FA113C2-E921-E30D-5E15-47BC44223F39}"/>
              </a:ext>
            </a:extLst>
          </p:cNvPr>
          <p:cNvSpPr>
            <a:spLocks noChangeArrowheads="1"/>
          </p:cNvSpPr>
          <p:nvPr/>
        </p:nvSpPr>
        <p:spPr bwMode="auto">
          <a:xfrm>
            <a:off x="1360170" y="1912428"/>
            <a:ext cx="10892790" cy="42369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calculate and prints Area of Rectangle!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public class </a:t>
            </a:r>
            <a:r>
              <a:rPr lang="en-US" altLang="en-US" sz="2400" b="1" dirty="0" err="1">
                <a:solidFill>
                  <a:srgbClr val="FF0000"/>
                </a:solidFill>
                <a:latin typeface="Courier New" panose="02070309020205020404" pitchFamily="49" charset="0"/>
              </a:rPr>
              <a:t>AreaOfRectangle</a:t>
            </a:r>
            <a:r>
              <a:rPr lang="en-US" altLang="en-US" sz="2400" b="1" dirty="0">
                <a:solidFill>
                  <a:srgbClr val="FF0000"/>
                </a:solidFill>
                <a:latin typeface="Courier New" panose="02070309020205020404" pitchFamily="49" charset="0"/>
              </a:rPr>
              <a:t>{</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public static void main (String[] </a:t>
            </a:r>
            <a:r>
              <a:rPr lang="en-US" altLang="en-US" sz="2400" b="1" dirty="0" err="1">
                <a:solidFill>
                  <a:srgbClr val="FF0000"/>
                </a:solidFill>
                <a:latin typeface="Courier New" panose="02070309020205020404" pitchFamily="49" charset="0"/>
              </a:rPr>
              <a:t>args</a:t>
            </a: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double length = 6.5;</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double breadth = 4;</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double area;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area = length * breadth;</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r>
              <a:rPr lang="en-US" altLang="en-US" sz="2400" b="1" dirty="0" err="1">
                <a:solidFill>
                  <a:srgbClr val="FF0000"/>
                </a:solidFill>
                <a:latin typeface="Courier New" panose="02070309020205020404" pitchFamily="49" charset="0"/>
              </a:rPr>
              <a:t>System.out.println</a:t>
            </a:r>
            <a:r>
              <a:rPr lang="en-US" altLang="en-US" sz="2400" b="1" dirty="0">
                <a:solidFill>
                  <a:srgbClr val="FF0000"/>
                </a:solidFill>
                <a:latin typeface="Courier New" panose="02070309020205020404" pitchFamily="49" charset="0"/>
              </a:rPr>
              <a:t>(“The Area of Rectangle is”+ area);</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US" altLang="en-US" sz="2400" b="1" dirty="0">
                <a:solidFill>
                  <a:srgbClr val="FF0000"/>
                </a:solidFill>
                <a:latin typeface="Courier New" panose="02070309020205020404" pitchFamily="49" charset="0"/>
              </a:rPr>
              <a:t>}</a:t>
            </a:r>
          </a:p>
          <a:p>
            <a:pPr>
              <a:spcBef>
                <a:spcPct val="0"/>
              </a:spcBef>
              <a:buFont typeface="Monotype Sorts" pitchFamily="2" charset="2"/>
              <a:buNone/>
            </a:pPr>
            <a:endParaRPr lang="en-US" altLang="en-US" sz="2800" b="1" dirty="0">
              <a:solidFill>
                <a:srgbClr val="FF0000"/>
              </a:solidFill>
            </a:endParaRPr>
          </a:p>
        </p:txBody>
      </p:sp>
    </p:spTree>
    <p:extLst>
      <p:ext uri="{BB962C8B-B14F-4D97-AF65-F5344CB8AC3E}">
        <p14:creationId xmlns:p14="http://schemas.microsoft.com/office/powerpoint/2010/main" val="3672848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sz="4800" b="0" i="0" u="none" strike="noStrike" baseline="0" dirty="0">
                <a:solidFill>
                  <a:srgbClr val="000000"/>
                </a:solidFill>
                <a:latin typeface="Trebuchet MS" panose="020B0603020202020204" pitchFamily="34" charset="0"/>
              </a:rPr>
              <a:t>Writing Simple Java Programs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204920" y="1098596"/>
            <a:ext cx="10892789" cy="5354832"/>
          </a:xfrm>
        </p:spPr>
        <p:txBody>
          <a:bodyPr>
            <a:noAutofit/>
          </a:bodyPr>
          <a:lstStyle/>
          <a:p>
            <a:r>
              <a:rPr lang="en-GB" b="1" i="0" u="none" strike="noStrike" baseline="0" dirty="0">
                <a:solidFill>
                  <a:srgbClr val="222222"/>
                </a:solidFill>
                <a:latin typeface="Trebuchet MS" panose="020B0603020202020204" pitchFamily="34" charset="0"/>
              </a:rPr>
              <a:t>Example 2: Write a program that will calculate the average of three numbers</a:t>
            </a:r>
          </a:p>
          <a:p>
            <a:endParaRPr lang="en-GB" b="1"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1FA113C2-E921-E30D-5E15-47BC44223F39}"/>
              </a:ext>
            </a:extLst>
          </p:cNvPr>
          <p:cNvSpPr>
            <a:spLocks noChangeArrowheads="1"/>
          </p:cNvSpPr>
          <p:nvPr/>
        </p:nvSpPr>
        <p:spPr bwMode="auto">
          <a:xfrm>
            <a:off x="1360170" y="1912428"/>
            <a:ext cx="10892790" cy="459124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calculate and prints the average of three   	 numbers!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public class Average{</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public static void main (String[] </a:t>
            </a:r>
            <a:r>
              <a:rPr lang="en-GB" altLang="en-US" sz="2400" b="1" dirty="0" err="1">
                <a:solidFill>
                  <a:srgbClr val="FF0000"/>
                </a:solidFill>
                <a:latin typeface="Courier New" panose="02070309020205020404" pitchFamily="49" charset="0"/>
              </a:rPr>
              <a:t>args</a:t>
            </a:r>
            <a:r>
              <a:rPr lang="en-GB"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number1 = 10;</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number2 = 4;</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number3 = 16;</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double average;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average = (number1 + number2 + number3)/3;</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t>
            </a:r>
            <a:r>
              <a:rPr lang="en-GB" altLang="en-US" sz="2400" b="1" dirty="0" err="1">
                <a:solidFill>
                  <a:srgbClr val="FF0000"/>
                </a:solidFill>
                <a:latin typeface="Courier New" panose="02070309020205020404" pitchFamily="49" charset="0"/>
              </a:rPr>
              <a:t>System.out.println</a:t>
            </a:r>
            <a:r>
              <a:rPr lang="en-GB" altLang="en-US" sz="2400" b="1" dirty="0">
                <a:solidFill>
                  <a:srgbClr val="FF0000"/>
                </a:solidFill>
                <a:latin typeface="Courier New" panose="02070309020205020404" pitchFamily="49" charset="0"/>
              </a:rPr>
              <a:t>(“The average is “ + average);</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a:t>
            </a:r>
          </a:p>
          <a:p>
            <a:pPr>
              <a:spcBef>
                <a:spcPct val="0"/>
              </a:spcBef>
              <a:buFont typeface="Monotype Sorts" pitchFamily="2" charset="2"/>
              <a:buNone/>
            </a:pPr>
            <a:endParaRPr lang="en-US" altLang="en-US" sz="2800" b="1" dirty="0">
              <a:solidFill>
                <a:srgbClr val="FF0000"/>
              </a:solidFill>
            </a:endParaRPr>
          </a:p>
        </p:txBody>
      </p:sp>
    </p:spTree>
    <p:extLst>
      <p:ext uri="{BB962C8B-B14F-4D97-AF65-F5344CB8AC3E}">
        <p14:creationId xmlns:p14="http://schemas.microsoft.com/office/powerpoint/2010/main" val="301568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Writing Simple Java Programs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299211" y="885826"/>
            <a:ext cx="10892789" cy="5354832"/>
          </a:xfrm>
        </p:spPr>
        <p:txBody>
          <a:bodyPr>
            <a:noAutofit/>
          </a:bodyPr>
          <a:lstStyle/>
          <a:p>
            <a:r>
              <a:rPr lang="en-GB" b="1" i="0" u="none" strike="noStrike" baseline="0" dirty="0">
                <a:solidFill>
                  <a:srgbClr val="222222"/>
                </a:solidFill>
                <a:latin typeface="Trebuchet MS" panose="020B0603020202020204" pitchFamily="34" charset="0"/>
              </a:rPr>
              <a:t>Example 3: Write a program to calculate the area of a triangle given the length of the sides:, a = 3, b = 4, c = 5. Use the following formula:</a:t>
            </a:r>
            <a:r>
              <a:rPr lang="en-GB" b="1" dirty="0">
                <a:solidFill>
                  <a:srgbClr val="222222"/>
                </a:solidFill>
                <a:latin typeface="Trebuchet MS" panose="020B0603020202020204" pitchFamily="34" charset="0"/>
              </a:rPr>
              <a:t>														 </a:t>
            </a:r>
            <a:r>
              <a:rPr lang="en-GB" b="1" i="0" u="none" strike="noStrike" baseline="0" dirty="0">
                <a:solidFill>
                  <a:srgbClr val="222222"/>
                </a:solidFill>
                <a:latin typeface="Trebuchet MS" panose="020B0603020202020204" pitchFamily="34" charset="0"/>
              </a:rPr>
              <a:t>where s = (a + b + c)/2</a:t>
            </a:r>
            <a:endParaRPr lang="en-GB" b="1"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p:txBody>
      </p:sp>
      <p:sp>
        <p:nvSpPr>
          <p:cNvPr id="4" name="Rectangle 2">
            <a:extLst>
              <a:ext uri="{FF2B5EF4-FFF2-40B4-BE49-F238E27FC236}">
                <a16:creationId xmlns:a16="http://schemas.microsoft.com/office/drawing/2014/main" id="{1FA113C2-E921-E30D-5E15-47BC44223F39}"/>
              </a:ext>
            </a:extLst>
          </p:cNvPr>
          <p:cNvSpPr>
            <a:spLocks noChangeArrowheads="1"/>
          </p:cNvSpPr>
          <p:nvPr/>
        </p:nvSpPr>
        <p:spPr bwMode="auto">
          <a:xfrm>
            <a:off x="1537335" y="2261996"/>
            <a:ext cx="10892790" cy="4487419"/>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b="1" dirty="0">
                <a:solidFill>
                  <a:srgbClr val="FF0000"/>
                </a:solidFill>
                <a:latin typeface="Courier New" panose="02070309020205020404" pitchFamily="49" charset="0"/>
              </a:rPr>
              <a:t>// This program calculate and prints the area of Triangle!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public class Average{</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public static void main (String[] </a:t>
            </a:r>
            <a:r>
              <a:rPr lang="en-GB" altLang="en-US" sz="2400" b="1" dirty="0" err="1">
                <a:solidFill>
                  <a:srgbClr val="FF0000"/>
                </a:solidFill>
                <a:latin typeface="Courier New" panose="02070309020205020404" pitchFamily="49" charset="0"/>
              </a:rPr>
              <a:t>args</a:t>
            </a:r>
            <a:r>
              <a:rPr lang="en-GB"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a = 3;</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b = 4;</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int c = 5;</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double s, area;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s = (a + b + c)/2;</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area = </a:t>
            </a:r>
            <a:r>
              <a:rPr lang="en-GB" altLang="en-US" sz="2400" b="1" dirty="0" err="1">
                <a:solidFill>
                  <a:srgbClr val="FF0000"/>
                </a:solidFill>
                <a:latin typeface="Courier New" panose="02070309020205020404" pitchFamily="49" charset="0"/>
              </a:rPr>
              <a:t>Math.sqrt</a:t>
            </a:r>
            <a:r>
              <a:rPr lang="en-GB" altLang="en-US" sz="2400" b="1" dirty="0">
                <a:solidFill>
                  <a:srgbClr val="FF0000"/>
                </a:solidFill>
                <a:latin typeface="Courier New" panose="02070309020205020404" pitchFamily="49" charset="0"/>
              </a:rPr>
              <a:t>(s*(s – a)*(s – b)*(s – c));</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t>
            </a:r>
            <a:r>
              <a:rPr lang="en-GB" altLang="en-US" sz="2400" b="1" dirty="0" err="1">
                <a:solidFill>
                  <a:srgbClr val="FF0000"/>
                </a:solidFill>
                <a:latin typeface="Courier New" panose="02070309020205020404" pitchFamily="49" charset="0"/>
              </a:rPr>
              <a:t>System.out.print</a:t>
            </a:r>
            <a:r>
              <a:rPr lang="en-GB" altLang="en-US" sz="2400" b="1" dirty="0">
                <a:solidFill>
                  <a:srgbClr val="FF0000"/>
                </a:solidFill>
                <a:latin typeface="Courier New" panose="02070309020205020404" pitchFamily="49" charset="0"/>
              </a:rPr>
              <a:t>(“The area is “ + area);</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	}</a:t>
            </a:r>
          </a:p>
          <a:p>
            <a:pPr>
              <a:spcBef>
                <a:spcPct val="0"/>
              </a:spcBef>
              <a:buFont typeface="Monotype Sorts" pitchFamily="2" charset="2"/>
              <a:buNone/>
            </a:pPr>
            <a:r>
              <a:rPr lang="en-GB" altLang="en-US" sz="2400" b="1" dirty="0">
                <a:solidFill>
                  <a:srgbClr val="FF0000"/>
                </a:solidFill>
                <a:latin typeface="Courier New" panose="02070309020205020404" pitchFamily="49" charset="0"/>
              </a:rPr>
              <a:t>}</a:t>
            </a:r>
          </a:p>
          <a:p>
            <a:pPr>
              <a:spcBef>
                <a:spcPct val="0"/>
              </a:spcBef>
              <a:buFont typeface="Monotype Sorts" pitchFamily="2" charset="2"/>
              <a:buNone/>
            </a:pPr>
            <a:endParaRPr lang="en-US" altLang="en-US" sz="2800" b="1" dirty="0">
              <a:solidFill>
                <a:srgbClr val="FF0000"/>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FF186F7-EA91-9F5F-4C10-37C7448B5CD7}"/>
                  </a:ext>
                </a:extLst>
              </p:cNvPr>
              <p:cNvSpPr txBox="1"/>
              <p:nvPr/>
            </p:nvSpPr>
            <p:spPr>
              <a:xfrm>
                <a:off x="2183638" y="1666168"/>
                <a:ext cx="4212563" cy="447238"/>
              </a:xfrm>
              <a:prstGeom prst="rect">
                <a:avLst/>
              </a:prstGeom>
              <a:noFill/>
            </p:spPr>
            <p:txBody>
              <a:bodyPr wrap="none" lIns="0" tIns="0" rIns="0" bIns="0" rtlCol="0">
                <a:spAutoFit/>
              </a:bodyPr>
              <a:lstStyle/>
              <a:p>
                <a:r>
                  <a:rPr lang="en-GB" sz="2400" b="1" dirty="0">
                    <a:latin typeface="Trebuchet MS" panose="020B0603020202020204" pitchFamily="34" charset="0"/>
                  </a:rPr>
                  <a:t>Area </a:t>
                </a:r>
                <a14:m>
                  <m:oMath xmlns:m="http://schemas.openxmlformats.org/officeDocument/2006/math">
                    <m:r>
                      <a:rPr lang="en-GB" sz="2400" b="1" i="1" smtClean="0">
                        <a:latin typeface="Cambria Math" panose="02040503050406030204" pitchFamily="18" charset="0"/>
                      </a:rPr>
                      <m:t>= </m:t>
                    </m:r>
                    <m:rad>
                      <m:radPr>
                        <m:degHide m:val="on"/>
                        <m:ctrlPr>
                          <a:rPr lang="en-GB" sz="2400" b="1" i="1" smtClean="0">
                            <a:latin typeface="Cambria Math" panose="02040503050406030204" pitchFamily="18" charset="0"/>
                          </a:rPr>
                        </m:ctrlPr>
                      </m:radPr>
                      <m:deg/>
                      <m:e>
                        <m:r>
                          <m:rPr>
                            <m:nor/>
                          </m:rPr>
                          <a:rPr lang="en-GB" sz="2400" b="1" dirty="0">
                            <a:solidFill>
                              <a:srgbClr val="222222"/>
                            </a:solidFill>
                            <a:latin typeface="Trebuchet MS" panose="020B0603020202020204" pitchFamily="34" charset="0"/>
                          </a:rPr>
                          <m:t>(</m:t>
                        </m:r>
                        <m:r>
                          <m:rPr>
                            <m:nor/>
                          </m:rPr>
                          <a:rPr lang="en-GB" sz="2400" b="1" dirty="0">
                            <a:solidFill>
                              <a:srgbClr val="222222"/>
                            </a:solidFill>
                            <a:latin typeface="Trebuchet MS" panose="020B0603020202020204" pitchFamily="34" charset="0"/>
                          </a:rPr>
                          <m:t>s</m:t>
                        </m:r>
                        <m:r>
                          <m:rPr>
                            <m:nor/>
                          </m:rPr>
                          <a:rPr lang="en-GB" sz="2400" b="1" dirty="0">
                            <a:solidFill>
                              <a:srgbClr val="222222"/>
                            </a:solidFill>
                            <a:latin typeface="Trebuchet MS" panose="020B0603020202020204" pitchFamily="34" charset="0"/>
                          </a:rPr>
                          <m:t>(</m:t>
                        </m:r>
                        <m:r>
                          <m:rPr>
                            <m:nor/>
                          </m:rPr>
                          <a:rPr lang="en-GB" sz="2400" b="1" dirty="0">
                            <a:solidFill>
                              <a:srgbClr val="222222"/>
                            </a:solidFill>
                            <a:latin typeface="Trebuchet MS" panose="020B0603020202020204" pitchFamily="34" charset="0"/>
                          </a:rPr>
                          <m:t>s</m:t>
                        </m:r>
                        <m:r>
                          <m:rPr>
                            <m:nor/>
                          </m:rPr>
                          <a:rPr lang="en-GB" sz="2400" b="1" dirty="0">
                            <a:solidFill>
                              <a:srgbClr val="222222"/>
                            </a:solidFill>
                            <a:latin typeface="Trebuchet MS" panose="020B0603020202020204" pitchFamily="34" charset="0"/>
                          </a:rPr>
                          <m:t> – </m:t>
                        </m:r>
                        <m:r>
                          <m:rPr>
                            <m:nor/>
                          </m:rPr>
                          <a:rPr lang="en-GB" sz="2400" b="1" dirty="0">
                            <a:solidFill>
                              <a:srgbClr val="222222"/>
                            </a:solidFill>
                            <a:latin typeface="Trebuchet MS" panose="020B0603020202020204" pitchFamily="34" charset="0"/>
                          </a:rPr>
                          <m:t>a</m:t>
                        </m:r>
                        <m:r>
                          <m:rPr>
                            <m:nor/>
                          </m:rPr>
                          <a:rPr lang="en-GB" sz="2400" b="1" dirty="0">
                            <a:solidFill>
                              <a:srgbClr val="222222"/>
                            </a:solidFill>
                            <a:latin typeface="Trebuchet MS" panose="020B0603020202020204" pitchFamily="34" charset="0"/>
                          </a:rPr>
                          <m:t>)(</m:t>
                        </m:r>
                        <m:r>
                          <m:rPr>
                            <m:nor/>
                          </m:rPr>
                          <a:rPr lang="en-GB" sz="2400" b="1" dirty="0">
                            <a:solidFill>
                              <a:srgbClr val="222222"/>
                            </a:solidFill>
                            <a:latin typeface="Trebuchet MS" panose="020B0603020202020204" pitchFamily="34" charset="0"/>
                          </a:rPr>
                          <m:t>s</m:t>
                        </m:r>
                        <m:r>
                          <m:rPr>
                            <m:nor/>
                          </m:rPr>
                          <a:rPr lang="en-GB" sz="2400" b="1" dirty="0">
                            <a:solidFill>
                              <a:srgbClr val="222222"/>
                            </a:solidFill>
                            <a:latin typeface="Trebuchet MS" panose="020B0603020202020204" pitchFamily="34" charset="0"/>
                          </a:rPr>
                          <m:t> – </m:t>
                        </m:r>
                        <m:r>
                          <m:rPr>
                            <m:nor/>
                          </m:rPr>
                          <a:rPr lang="en-GB" sz="2400" b="1" dirty="0">
                            <a:solidFill>
                              <a:srgbClr val="222222"/>
                            </a:solidFill>
                            <a:latin typeface="Trebuchet MS" panose="020B0603020202020204" pitchFamily="34" charset="0"/>
                          </a:rPr>
                          <m:t>b</m:t>
                        </m:r>
                        <m:r>
                          <m:rPr>
                            <m:nor/>
                          </m:rPr>
                          <a:rPr lang="en-GB" sz="2400" b="1" dirty="0">
                            <a:solidFill>
                              <a:srgbClr val="222222"/>
                            </a:solidFill>
                            <a:latin typeface="Trebuchet MS" panose="020B0603020202020204" pitchFamily="34" charset="0"/>
                          </a:rPr>
                          <m:t>)(</m:t>
                        </m:r>
                        <m:r>
                          <m:rPr>
                            <m:nor/>
                          </m:rPr>
                          <a:rPr lang="en-GB" sz="2400" b="1" dirty="0">
                            <a:solidFill>
                              <a:srgbClr val="222222"/>
                            </a:solidFill>
                            <a:latin typeface="Trebuchet MS" panose="020B0603020202020204" pitchFamily="34" charset="0"/>
                          </a:rPr>
                          <m:t>s</m:t>
                        </m:r>
                        <m:r>
                          <m:rPr>
                            <m:nor/>
                          </m:rPr>
                          <a:rPr lang="en-GB" sz="2400" b="1" dirty="0">
                            <a:solidFill>
                              <a:srgbClr val="222222"/>
                            </a:solidFill>
                            <a:latin typeface="Trebuchet MS" panose="020B0603020202020204" pitchFamily="34" charset="0"/>
                          </a:rPr>
                          <m:t> – </m:t>
                        </m:r>
                        <m:r>
                          <m:rPr>
                            <m:nor/>
                          </m:rPr>
                          <a:rPr lang="en-GB" sz="2400" b="1" dirty="0">
                            <a:solidFill>
                              <a:srgbClr val="222222"/>
                            </a:solidFill>
                            <a:latin typeface="Trebuchet MS" panose="020B0603020202020204" pitchFamily="34" charset="0"/>
                          </a:rPr>
                          <m:t>c</m:t>
                        </m:r>
                        <m:r>
                          <m:rPr>
                            <m:nor/>
                          </m:rPr>
                          <a:rPr lang="en-GB" sz="2400" b="1" dirty="0">
                            <a:solidFill>
                              <a:srgbClr val="222222"/>
                            </a:solidFill>
                            <a:latin typeface="Trebuchet MS" panose="020B0603020202020204" pitchFamily="34" charset="0"/>
                          </a:rPr>
                          <m:t>))</m:t>
                        </m:r>
                      </m:e>
                    </m:rad>
                  </m:oMath>
                </a14:m>
                <a:endParaRPr lang="en-GB" sz="2400" b="1" dirty="0">
                  <a:latin typeface="Trebuchet MS" panose="020B0603020202020204" pitchFamily="34" charset="0"/>
                </a:endParaRPr>
              </a:p>
            </p:txBody>
          </p:sp>
        </mc:Choice>
        <mc:Fallback xmlns="">
          <p:sp>
            <p:nvSpPr>
              <p:cNvPr id="6" name="TextBox 5">
                <a:extLst>
                  <a:ext uri="{FF2B5EF4-FFF2-40B4-BE49-F238E27FC236}">
                    <a16:creationId xmlns:a16="http://schemas.microsoft.com/office/drawing/2014/main" id="{FFF186F7-EA91-9F5F-4C10-37C7448B5CD7}"/>
                  </a:ext>
                </a:extLst>
              </p:cNvPr>
              <p:cNvSpPr txBox="1">
                <a:spLocks noRot="1" noChangeAspect="1" noMove="1" noResize="1" noEditPoints="1" noAdjustHandles="1" noChangeArrowheads="1" noChangeShapeType="1" noTextEdit="1"/>
              </p:cNvSpPr>
              <p:nvPr/>
            </p:nvSpPr>
            <p:spPr>
              <a:xfrm>
                <a:off x="2183638" y="1666168"/>
                <a:ext cx="4212563" cy="447238"/>
              </a:xfrm>
              <a:prstGeom prst="rect">
                <a:avLst/>
              </a:prstGeom>
              <a:blipFill>
                <a:blip r:embed="rId2"/>
                <a:stretch>
                  <a:fillRect l="-4342" t="-8108" b="-35135"/>
                </a:stretch>
              </a:blipFill>
            </p:spPr>
            <p:txBody>
              <a:bodyPr/>
              <a:lstStyle/>
              <a:p>
                <a:r>
                  <a:rPr lang="en-GB">
                    <a:noFill/>
                  </a:rPr>
                  <a:t> </a:t>
                </a:r>
              </a:p>
            </p:txBody>
          </p:sp>
        </mc:Fallback>
      </mc:AlternateContent>
    </p:spTree>
    <p:extLst>
      <p:ext uri="{BB962C8B-B14F-4D97-AF65-F5344CB8AC3E}">
        <p14:creationId xmlns:p14="http://schemas.microsoft.com/office/powerpoint/2010/main" val="964679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624883" y="190502"/>
            <a:ext cx="10018713" cy="695324"/>
          </a:xfrm>
        </p:spPr>
        <p:txBody>
          <a:bodyPr>
            <a:noAutofit/>
          </a:bodyPr>
          <a:lstStyle/>
          <a:p>
            <a:pPr marL="0" indent="0">
              <a:buNone/>
            </a:pPr>
            <a:r>
              <a:rPr lang="en-GB" b="0" i="0" u="none" strike="noStrike" baseline="0" dirty="0">
                <a:solidFill>
                  <a:srgbClr val="000000"/>
                </a:solidFill>
                <a:latin typeface="Trebuchet MS" panose="020B0603020202020204" pitchFamily="34" charset="0"/>
              </a:rPr>
              <a:t>Writing Simple Java Programs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299211" y="1845944"/>
                <a:ext cx="10892789" cy="3108961"/>
              </a:xfrm>
            </p:spPr>
            <p:txBody>
              <a:bodyPr>
                <a:noAutofit/>
              </a:bodyPr>
              <a:lstStyle/>
              <a:p>
                <a:r>
                  <a:rPr lang="en-GB" b="1" i="0" u="none" strike="noStrike" baseline="0" dirty="0">
                    <a:solidFill>
                      <a:srgbClr val="222222"/>
                    </a:solidFill>
                    <a:latin typeface="Trebuchet MS" panose="020B0603020202020204" pitchFamily="34" charset="0"/>
                  </a:rPr>
                  <a:t>Class Work: Write a Java Program to solve quadratic equation using general formula given a = 2, b = 3, c = 5. Use the following formula:</a:t>
                </a:r>
                <a:endParaRPr lang="en-GB" b="0" i="0" u="none" strike="noStrike" baseline="0" dirty="0">
                  <a:solidFill>
                    <a:srgbClr val="222222"/>
                  </a:solidFill>
                  <a:latin typeface="Trebuchet MS" panose="020B0603020202020204" pitchFamily="34" charset="0"/>
                </a:endParaRPr>
              </a:p>
              <a:p>
                <a14:m>
                  <m:oMath xmlns:m="http://schemas.openxmlformats.org/officeDocument/2006/math">
                    <m:r>
                      <a:rPr lang="en-GB" b="1" i="1" smtClean="0">
                        <a:solidFill>
                          <a:srgbClr val="222222"/>
                        </a:solidFill>
                        <a:latin typeface="Cambria Math" panose="02040503050406030204" pitchFamily="18" charset="0"/>
                      </a:rPr>
                      <m:t>𝒙</m:t>
                    </m:r>
                    <m:r>
                      <a:rPr lang="en-GB" b="1" i="1" smtClean="0">
                        <a:solidFill>
                          <a:srgbClr val="222222"/>
                        </a:solidFill>
                        <a:latin typeface="Cambria Math" panose="02040503050406030204" pitchFamily="18" charset="0"/>
                      </a:rPr>
                      <m:t>=</m:t>
                    </m:r>
                    <m:f>
                      <m:fPr>
                        <m:ctrlPr>
                          <a:rPr lang="en-GB" b="1" i="1" smtClean="0">
                            <a:solidFill>
                              <a:srgbClr val="222222"/>
                            </a:solidFill>
                            <a:latin typeface="Cambria Math" panose="02040503050406030204" pitchFamily="18" charset="0"/>
                          </a:rPr>
                        </m:ctrlPr>
                      </m:fPr>
                      <m:num>
                        <m:r>
                          <a:rPr lang="en-GB" b="1" i="1" smtClean="0">
                            <a:solidFill>
                              <a:srgbClr val="222222"/>
                            </a:solidFill>
                            <a:latin typeface="Cambria Math" panose="02040503050406030204" pitchFamily="18" charset="0"/>
                          </a:rPr>
                          <m:t>−</m:t>
                        </m:r>
                        <m:r>
                          <a:rPr lang="en-GB" b="1" i="1" smtClean="0">
                            <a:solidFill>
                              <a:srgbClr val="222222"/>
                            </a:solidFill>
                            <a:latin typeface="Cambria Math" panose="02040503050406030204" pitchFamily="18" charset="0"/>
                          </a:rPr>
                          <m:t>𝒃</m:t>
                        </m:r>
                        <m:r>
                          <a:rPr lang="en-GB" b="1" i="1" smtClean="0">
                            <a:solidFill>
                              <a:srgbClr val="222222"/>
                            </a:solidFill>
                            <a:latin typeface="Cambria Math" panose="02040503050406030204" pitchFamily="18" charset="0"/>
                          </a:rPr>
                          <m:t>±</m:t>
                        </m:r>
                        <m:rad>
                          <m:radPr>
                            <m:degHide m:val="on"/>
                            <m:ctrlPr>
                              <a:rPr lang="en-GB" b="1" i="1" smtClean="0">
                                <a:solidFill>
                                  <a:srgbClr val="222222"/>
                                </a:solidFill>
                                <a:latin typeface="Cambria Math" panose="02040503050406030204" pitchFamily="18" charset="0"/>
                              </a:rPr>
                            </m:ctrlPr>
                          </m:radPr>
                          <m:deg/>
                          <m:e>
                            <m:r>
                              <a:rPr lang="en-GB" b="1" i="1" smtClean="0">
                                <a:solidFill>
                                  <a:srgbClr val="222222"/>
                                </a:solidFill>
                                <a:latin typeface="Cambria Math" panose="02040503050406030204" pitchFamily="18" charset="0"/>
                              </a:rPr>
                              <m:t>𝒅</m:t>
                            </m:r>
                          </m:e>
                        </m:rad>
                      </m:num>
                      <m:den>
                        <m:r>
                          <a:rPr lang="en-GB" b="1" i="1" smtClean="0">
                            <a:solidFill>
                              <a:srgbClr val="222222"/>
                            </a:solidFill>
                            <a:latin typeface="Cambria Math" panose="02040503050406030204" pitchFamily="18" charset="0"/>
                          </a:rPr>
                          <m:t>𝟐</m:t>
                        </m:r>
                        <m:r>
                          <a:rPr lang="en-GB" b="1" i="1" smtClean="0">
                            <a:solidFill>
                              <a:srgbClr val="222222"/>
                            </a:solidFill>
                            <a:latin typeface="Cambria Math" panose="02040503050406030204" pitchFamily="18" charset="0"/>
                          </a:rPr>
                          <m:t>𝒂</m:t>
                        </m:r>
                      </m:den>
                    </m:f>
                  </m:oMath>
                </a14:m>
                <a:r>
                  <a:rPr lang="en-GB" b="1" dirty="0">
                    <a:solidFill>
                      <a:srgbClr val="222222"/>
                    </a:solidFill>
                    <a:latin typeface="Trebuchet MS" panose="020B0603020202020204" pitchFamily="34" charset="0"/>
                  </a:rPr>
                  <a:t>	where </a:t>
                </a:r>
                <a14:m>
                  <m:oMath xmlns:m="http://schemas.openxmlformats.org/officeDocument/2006/math">
                    <m:r>
                      <a:rPr lang="en-GB" b="1" i="1" smtClean="0">
                        <a:solidFill>
                          <a:srgbClr val="222222"/>
                        </a:solidFill>
                        <a:latin typeface="Cambria Math" panose="02040503050406030204" pitchFamily="18" charset="0"/>
                      </a:rPr>
                      <m:t>𝒅</m:t>
                    </m:r>
                    <m:r>
                      <a:rPr lang="en-GB" b="1" i="1" smtClean="0">
                        <a:solidFill>
                          <a:srgbClr val="222222"/>
                        </a:solidFill>
                        <a:latin typeface="Cambria Math" panose="02040503050406030204" pitchFamily="18" charset="0"/>
                      </a:rPr>
                      <m:t>=</m:t>
                    </m:r>
                    <m:sSup>
                      <m:sSupPr>
                        <m:ctrlPr>
                          <a:rPr lang="en-GB" b="1" i="1" smtClean="0">
                            <a:solidFill>
                              <a:srgbClr val="222222"/>
                            </a:solidFill>
                            <a:latin typeface="Cambria Math" panose="02040503050406030204" pitchFamily="18" charset="0"/>
                          </a:rPr>
                        </m:ctrlPr>
                      </m:sSupPr>
                      <m:e>
                        <m:r>
                          <a:rPr lang="en-GB" b="1" i="1" smtClean="0">
                            <a:solidFill>
                              <a:srgbClr val="222222"/>
                            </a:solidFill>
                            <a:latin typeface="Cambria Math" panose="02040503050406030204" pitchFamily="18" charset="0"/>
                          </a:rPr>
                          <m:t>𝒃</m:t>
                        </m:r>
                      </m:e>
                      <m:sup>
                        <m:r>
                          <a:rPr lang="en-GB" b="1" i="1" smtClean="0">
                            <a:solidFill>
                              <a:srgbClr val="222222"/>
                            </a:solidFill>
                            <a:latin typeface="Cambria Math" panose="02040503050406030204" pitchFamily="18" charset="0"/>
                          </a:rPr>
                          <m:t>𝟐</m:t>
                        </m:r>
                      </m:sup>
                    </m:sSup>
                    <m:r>
                      <a:rPr lang="en-GB" b="1" i="1" smtClean="0">
                        <a:solidFill>
                          <a:srgbClr val="222222"/>
                        </a:solidFill>
                        <a:latin typeface="Cambria Math" panose="02040503050406030204" pitchFamily="18" charset="0"/>
                      </a:rPr>
                      <m:t>−</m:t>
                    </m:r>
                    <m:r>
                      <a:rPr lang="en-GB" b="1" i="1" smtClean="0">
                        <a:solidFill>
                          <a:srgbClr val="222222"/>
                        </a:solidFill>
                        <a:latin typeface="Cambria Math" panose="02040503050406030204" pitchFamily="18" charset="0"/>
                      </a:rPr>
                      <m:t>𝟒</m:t>
                    </m:r>
                    <m:r>
                      <a:rPr lang="en-GB" b="1" i="1" smtClean="0">
                        <a:solidFill>
                          <a:srgbClr val="222222"/>
                        </a:solidFill>
                        <a:latin typeface="Cambria Math" panose="02040503050406030204" pitchFamily="18" charset="0"/>
                      </a:rPr>
                      <m:t>𝒂𝒄</m:t>
                    </m:r>
                  </m:oMath>
                </a14:m>
                <a:endParaRPr lang="en-GB" b="1" dirty="0">
                  <a:solidFill>
                    <a:srgbClr val="222222"/>
                  </a:solidFill>
                  <a:latin typeface="Trebuchet MS" panose="020B0603020202020204" pitchFamily="34" charset="0"/>
                </a:endParaRPr>
              </a:p>
              <a:p>
                <a:endParaRPr lang="en-GB" b="0" i="0" u="none" strike="noStrike" baseline="0" dirty="0">
                  <a:solidFill>
                    <a:srgbClr val="222222"/>
                  </a:solidFill>
                  <a:latin typeface="Trebuchet MS" panose="020B0603020202020204" pitchFamily="34" charset="0"/>
                </a:endParaRPr>
              </a:p>
            </p:txBody>
          </p:sp>
        </mc:Choice>
        <mc:Fallback xmlns="">
          <p:sp>
            <p:nvSpPr>
              <p:cNvPr id="3" name="Content Placeholder 2">
                <a:extLst>
                  <a:ext uri="{FF2B5EF4-FFF2-40B4-BE49-F238E27FC236}">
                    <a16:creationId xmlns:a16="http://schemas.microsoft.com/office/drawing/2014/main" id="{9A9515C4-D2C5-4F6A-4D01-D1C37ECD04BF}"/>
                  </a:ext>
                </a:extLst>
              </p:cNvPr>
              <p:cNvSpPr>
                <a:spLocks noGrp="1" noRot="1" noChangeAspect="1" noMove="1" noResize="1" noEditPoints="1" noAdjustHandles="1" noChangeArrowheads="1" noChangeShapeType="1" noTextEdit="1"/>
              </p:cNvSpPr>
              <p:nvPr>
                <p:ph idx="1"/>
              </p:nvPr>
            </p:nvSpPr>
            <p:spPr>
              <a:xfrm>
                <a:off x="1299211" y="1845944"/>
                <a:ext cx="10892789" cy="3108961"/>
              </a:xfrm>
              <a:blipFill>
                <a:blip r:embed="rId2"/>
                <a:stretch>
                  <a:fillRect l="-1399"/>
                </a:stretch>
              </a:blipFill>
            </p:spPr>
            <p:txBody>
              <a:bodyPr/>
              <a:lstStyle/>
              <a:p>
                <a:r>
                  <a:rPr lang="en-GB">
                    <a:noFill/>
                  </a:rPr>
                  <a:t> </a:t>
                </a:r>
              </a:p>
            </p:txBody>
          </p:sp>
        </mc:Fallback>
      </mc:AlternateContent>
    </p:spTree>
    <p:extLst>
      <p:ext uri="{BB962C8B-B14F-4D97-AF65-F5344CB8AC3E}">
        <p14:creationId xmlns:p14="http://schemas.microsoft.com/office/powerpoint/2010/main" val="28564274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12304</TotalTime>
  <Words>1454</Words>
  <Application>Microsoft Office PowerPoint</Application>
  <PresentationFormat>Widescreen</PresentationFormat>
  <Paragraphs>168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Cambria Math</vt:lpstr>
      <vt:lpstr>Corbel</vt:lpstr>
      <vt:lpstr>Courier New</vt:lpstr>
      <vt:lpstr>Monotype Sorts</vt:lpstr>
      <vt:lpstr>Trebuchet MS</vt:lpstr>
      <vt:lpstr>Parallax</vt:lpstr>
      <vt:lpstr>CMP 201: Computer Programming I</vt:lpstr>
      <vt:lpstr>A Simple Java Program</vt:lpstr>
      <vt:lpstr>Structure of Java Program</vt:lpstr>
      <vt:lpstr>Anatomy of Java Program</vt:lpstr>
      <vt:lpstr>Comments</vt:lpstr>
      <vt:lpstr>Access Modifiers</vt:lpstr>
      <vt:lpstr>Class Name</vt:lpstr>
      <vt:lpstr>Main Method</vt:lpstr>
      <vt:lpstr>Statements</vt:lpstr>
      <vt:lpstr>Reserved Words</vt:lpstr>
      <vt:lpstr>Blocks</vt:lpstr>
      <vt:lpstr>Java Print Statement</vt:lpstr>
      <vt:lpstr> Strings and String Literals</vt:lpstr>
      <vt:lpstr>Writing Simple Java Programs</vt:lpstr>
      <vt:lpstr>Writing Simple Java Programs</vt:lpstr>
      <vt:lpstr>Writing Simple Java Programs</vt:lpstr>
      <vt:lpstr>Writing Simple Java Programs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 801: Management and Entrepreneurship</dc:title>
  <dc:creator>Ahmad Idris Tambuwal</dc:creator>
  <cp:lastModifiedBy>Ahmad Idris Tambuwal</cp:lastModifiedBy>
  <cp:revision>90</cp:revision>
  <dcterms:created xsi:type="dcterms:W3CDTF">2023-04-03T11:05:13Z</dcterms:created>
  <dcterms:modified xsi:type="dcterms:W3CDTF">2024-06-29T10:47:48Z</dcterms:modified>
</cp:coreProperties>
</file>