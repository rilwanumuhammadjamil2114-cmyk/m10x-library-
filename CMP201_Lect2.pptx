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2" r:id="rId4"/>
    <p:sldId id="263" r:id="rId5"/>
    <p:sldId id="264" r:id="rId6"/>
    <p:sldId id="265" r:id="rId7"/>
    <p:sldId id="281" r:id="rId8"/>
    <p:sldId id="282" r:id="rId9"/>
    <p:sldId id="266" r:id="rId10"/>
    <p:sldId id="289" r:id="rId11"/>
    <p:sldId id="290" r:id="rId12"/>
    <p:sldId id="291" r:id="rId13"/>
    <p:sldId id="292" r:id="rId14"/>
    <p:sldId id="293" r:id="rId15"/>
    <p:sldId id="294" r:id="rId16"/>
    <p:sldId id="295" r:id="rId17"/>
    <p:sldId id="296" r:id="rId18"/>
    <p:sldId id="297" r:id="rId19"/>
    <p:sldId id="298" r:id="rId20"/>
    <p:sldId id="299" r:id="rId21"/>
    <p:sldId id="30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3216" autoAdjust="0"/>
  </p:normalViewPr>
  <p:slideViewPr>
    <p:cSldViewPr snapToGrid="0">
      <p:cViewPr varScale="1">
        <p:scale>
          <a:sx n="80" d="100"/>
          <a:sy n="80" d="100"/>
        </p:scale>
        <p:origin x="134" y="4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1/21/2026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java.sun.com/features/1998/05/birthday.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java.com/releases/matrix/"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7EE9-5D66-F14F-3B34-225822B8E1EB}"/>
              </a:ext>
            </a:extLst>
          </p:cNvPr>
          <p:cNvSpPr>
            <a:spLocks noGrp="1"/>
          </p:cNvSpPr>
          <p:nvPr>
            <p:ph type="ctrTitle"/>
          </p:nvPr>
        </p:nvSpPr>
        <p:spPr>
          <a:xfrm>
            <a:off x="879232" y="1998784"/>
            <a:ext cx="11385306" cy="1066801"/>
          </a:xfrm>
        </p:spPr>
        <p:txBody>
          <a:bodyPr/>
          <a:lstStyle/>
          <a:p>
            <a:pPr algn="l"/>
            <a:r>
              <a:rPr lang="en-GB" dirty="0"/>
              <a:t>CMP 201: Computer Programming I </a:t>
            </a:r>
          </a:p>
        </p:txBody>
      </p:sp>
    </p:spTree>
    <p:extLst>
      <p:ext uri="{BB962C8B-B14F-4D97-AF65-F5344CB8AC3E}">
        <p14:creationId xmlns:p14="http://schemas.microsoft.com/office/powerpoint/2010/main" val="2470596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33169" y="43963"/>
            <a:ext cx="10018713" cy="507022"/>
          </a:xfrm>
        </p:spPr>
        <p:txBody>
          <a:bodyPr>
            <a:noAutofit/>
          </a:bodyPr>
          <a:lstStyle/>
          <a:p>
            <a:r>
              <a:rPr lang="en-GB" sz="3600" b="0" i="0" u="none" strike="noStrike" baseline="0" dirty="0">
                <a:solidFill>
                  <a:srgbClr val="222222"/>
                </a:solidFill>
                <a:latin typeface="Trebuchet MS" panose="020B0603020202020204" pitchFamily="34" charset="0"/>
              </a:rPr>
              <a:t>Programming Languages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687871" y="697523"/>
            <a:ext cx="10310698" cy="6116513"/>
          </a:xfrm>
        </p:spPr>
        <p:txBody>
          <a:bodyPr>
            <a:noAutofit/>
          </a:bodyPr>
          <a:lstStyle/>
          <a:p>
            <a:r>
              <a:rPr lang="en-US" b="0" i="0" u="none" strike="noStrike" baseline="0" dirty="0">
                <a:solidFill>
                  <a:srgbClr val="222222"/>
                </a:solidFill>
                <a:latin typeface="Trebuchet MS" panose="020B0603020202020204" pitchFamily="34" charset="0"/>
              </a:rPr>
              <a:t>C &amp; C++ (an object-oriented language, based on C)</a:t>
            </a:r>
          </a:p>
          <a:p>
            <a:r>
              <a:rPr lang="en-US" b="0" i="0" u="none" strike="noStrike" baseline="0" dirty="0">
                <a:solidFill>
                  <a:srgbClr val="222222"/>
                </a:solidFill>
                <a:latin typeface="Trebuchet MS" panose="020B0603020202020204" pitchFamily="34" charset="0"/>
              </a:rPr>
              <a:t>Java (We will use it in this course)</a:t>
            </a:r>
          </a:p>
          <a:p>
            <a:r>
              <a:rPr lang="en-US" b="0" i="0" u="none" strike="noStrike" baseline="0" dirty="0">
                <a:solidFill>
                  <a:srgbClr val="222222"/>
                </a:solidFill>
                <a:latin typeface="Trebuchet MS" panose="020B0603020202020204" pitchFamily="34" charset="0"/>
              </a:rPr>
              <a:t>C# (a Java-like language developed by Microsoft)</a:t>
            </a:r>
          </a:p>
          <a:p>
            <a:r>
              <a:rPr lang="en-US" dirty="0">
                <a:solidFill>
                  <a:srgbClr val="222222"/>
                </a:solidFill>
                <a:latin typeface="Trebuchet MS" panose="020B0603020202020204" pitchFamily="34" charset="0"/>
              </a:rPr>
              <a:t>JavaScript ( A Java-like scripting language for web development (Front &amp; Back End (using Node.js))</a:t>
            </a:r>
            <a:endParaRPr lang="en-US" b="0" i="0" u="none" strike="noStrike" baseline="0" dirty="0">
              <a:solidFill>
                <a:srgbClr val="222222"/>
              </a:solidFill>
              <a:latin typeface="Trebuchet MS" panose="020B0603020202020204" pitchFamily="34" charset="0"/>
            </a:endParaRPr>
          </a:p>
          <a:p>
            <a:r>
              <a:rPr lang="en-GB" b="0" i="0" u="none" strike="noStrike" baseline="0" dirty="0">
                <a:solidFill>
                  <a:srgbClr val="222222"/>
                </a:solidFill>
                <a:latin typeface="Trebuchet MS" panose="020B0603020202020204" pitchFamily="34" charset="0"/>
              </a:rPr>
              <a:t>Python (General purpose programming language use in data science, machine learning, web development, scripting, etc)</a:t>
            </a:r>
          </a:p>
          <a:p>
            <a:r>
              <a:rPr lang="en-GB" b="0" i="0" u="none" strike="noStrike" baseline="0" dirty="0">
                <a:solidFill>
                  <a:srgbClr val="222222"/>
                </a:solidFill>
                <a:latin typeface="Trebuchet MS" panose="020B0603020202020204" pitchFamily="34" charset="0"/>
              </a:rPr>
              <a:t>Visual Basic (Basic-like visual language developed by Microsoft) </a:t>
            </a:r>
          </a:p>
          <a:p>
            <a:r>
              <a:rPr lang="en-GB" b="0" i="0" u="none" strike="noStrike" baseline="0" dirty="0">
                <a:solidFill>
                  <a:srgbClr val="222222"/>
                </a:solidFill>
                <a:latin typeface="Trebuchet MS" panose="020B0603020202020204" pitchFamily="34" charset="0"/>
              </a:rPr>
              <a:t>Ruby (Ruby on Rails framework for web development) </a:t>
            </a:r>
          </a:p>
          <a:p>
            <a:r>
              <a:rPr lang="en-GB" dirty="0">
                <a:solidFill>
                  <a:srgbClr val="222222"/>
                </a:solidFill>
                <a:latin typeface="Trebuchet MS" panose="020B0603020202020204" pitchFamily="34" charset="0"/>
              </a:rPr>
              <a:t>PHP (General purpose scripting language for dynamic web development</a:t>
            </a:r>
          </a:p>
          <a:p>
            <a:r>
              <a:rPr lang="en-GB" b="0" i="0" u="none" strike="noStrike" baseline="0" dirty="0">
                <a:solidFill>
                  <a:srgbClr val="222222"/>
                </a:solidFill>
                <a:latin typeface="Trebuchet MS" panose="020B0603020202020204" pitchFamily="34" charset="0"/>
              </a:rPr>
              <a:t>Swift (General purpose programming language for </a:t>
            </a:r>
            <a:r>
              <a:rPr lang="pt-BR" b="0" i="0" u="none" strike="noStrike" baseline="0" dirty="0">
                <a:solidFill>
                  <a:srgbClr val="222222"/>
                </a:solidFill>
                <a:latin typeface="Trebuchet MS" panose="020B0603020202020204" pitchFamily="34" charset="0"/>
              </a:rPr>
              <a:t>iOS, iPadOS, macOS, tvOS, and watchOS</a:t>
            </a:r>
          </a:p>
          <a:p>
            <a:r>
              <a:rPr lang="en-GB" b="0" i="0" u="none" strike="noStrike" baseline="0" dirty="0">
                <a:solidFill>
                  <a:srgbClr val="222222"/>
                </a:solidFill>
                <a:latin typeface="Trebuchet MS" panose="020B0603020202020204" pitchFamily="34" charset="0"/>
              </a:rPr>
              <a:t>Kotlin (A cross-platform language for mobile, web, and desktop App </a:t>
            </a:r>
          </a:p>
        </p:txBody>
      </p:sp>
    </p:spTree>
    <p:extLst>
      <p:ext uri="{BB962C8B-B14F-4D97-AF65-F5344CB8AC3E}">
        <p14:creationId xmlns:p14="http://schemas.microsoft.com/office/powerpoint/2010/main" val="284521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42864"/>
            <a:ext cx="10018713" cy="490536"/>
          </a:xfrm>
        </p:spPr>
        <p:txBody>
          <a:bodyPr>
            <a:noAutofit/>
          </a:bodyPr>
          <a:lstStyle/>
          <a:p>
            <a:pPr marL="0" indent="0">
              <a:buNone/>
            </a:pPr>
            <a:r>
              <a:rPr lang="en-GB" sz="3200" b="0" i="0" u="none" strike="noStrike" baseline="0" dirty="0">
                <a:solidFill>
                  <a:srgbClr val="000000"/>
                </a:solidFill>
                <a:latin typeface="Trebuchet MS" panose="020B0603020202020204" pitchFamily="34" charset="0"/>
              </a:rPr>
              <a:t>Why Java</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56451" y="642938"/>
            <a:ext cx="10018713" cy="6115050"/>
          </a:xfrm>
        </p:spPr>
        <p:txBody>
          <a:bodyPr>
            <a:noAutofit/>
          </a:bodyPr>
          <a:lstStyle/>
          <a:p>
            <a:r>
              <a:rPr lang="en-GB" b="0" i="0" u="none" strike="noStrike" baseline="0" dirty="0">
                <a:solidFill>
                  <a:srgbClr val="222222"/>
                </a:solidFill>
                <a:latin typeface="Trebuchet MS" panose="020B0603020202020204" pitchFamily="34" charset="0"/>
              </a:rPr>
              <a:t>The answer is that Java enables users to develop and deploy applications on the Internet for servers, desktop computers, and small hand-held devices. The future of computing is being profoundly influenced by the Internet, and Java promises to remain a big part of that future. </a:t>
            </a:r>
          </a:p>
          <a:p>
            <a:r>
              <a:rPr lang="en-GB" b="0" i="0" u="none" strike="noStrike" baseline="0" dirty="0">
                <a:solidFill>
                  <a:srgbClr val="222222"/>
                </a:solidFill>
                <a:latin typeface="Trebuchet MS" panose="020B0603020202020204" pitchFamily="34" charset="0"/>
              </a:rPr>
              <a:t>Java is Object Oriented Programming language</a:t>
            </a:r>
          </a:p>
          <a:p>
            <a:r>
              <a:rPr lang="en-GB" b="0" i="0" u="none" strike="noStrike" baseline="0" dirty="0">
                <a:solidFill>
                  <a:srgbClr val="222222"/>
                </a:solidFill>
                <a:latin typeface="Trebuchet MS" panose="020B0603020202020204" pitchFamily="34" charset="0"/>
              </a:rPr>
              <a:t>Java is the Internet programming language.</a:t>
            </a:r>
          </a:p>
          <a:p>
            <a:r>
              <a:rPr lang="en-GB" b="0" i="0" u="none" strike="noStrike" baseline="0" dirty="0">
                <a:solidFill>
                  <a:srgbClr val="222222"/>
                </a:solidFill>
                <a:latin typeface="Trebuchet MS" panose="020B0603020202020204" pitchFamily="34" charset="0"/>
              </a:rPr>
              <a:t>Java is a general purpose programming language. </a:t>
            </a:r>
          </a:p>
          <a:p>
            <a:r>
              <a:rPr lang="en-GB" b="0" i="0" u="none" strike="noStrike" baseline="0" dirty="0">
                <a:solidFill>
                  <a:srgbClr val="222222"/>
                </a:solidFill>
                <a:latin typeface="Trebuchet MS" panose="020B0603020202020204" pitchFamily="34" charset="0"/>
              </a:rPr>
              <a:t>Java is the Internet programming language.</a:t>
            </a:r>
          </a:p>
          <a:p>
            <a:r>
              <a:rPr lang="en-GB" b="0" i="0" u="none" strike="noStrike" baseline="0" dirty="0">
                <a:solidFill>
                  <a:srgbClr val="222222"/>
                </a:solidFill>
                <a:latin typeface="Trebuchet MS" panose="020B0603020202020204" pitchFamily="34" charset="0"/>
              </a:rPr>
              <a:t>Java can be used to develop Web applications.</a:t>
            </a:r>
          </a:p>
          <a:p>
            <a:r>
              <a:rPr lang="en-GB" b="0" i="0" u="none" strike="noStrike" baseline="0" dirty="0">
                <a:solidFill>
                  <a:srgbClr val="222222"/>
                </a:solidFill>
                <a:latin typeface="Trebuchet MS" panose="020B0603020202020204" pitchFamily="34" charset="0"/>
              </a:rPr>
              <a:t>Java Applets</a:t>
            </a:r>
          </a:p>
          <a:p>
            <a:r>
              <a:rPr lang="en-GB" b="0" i="0" u="none" strike="noStrike" baseline="0" dirty="0">
                <a:solidFill>
                  <a:srgbClr val="222222"/>
                </a:solidFill>
                <a:latin typeface="Trebuchet MS" panose="020B0603020202020204" pitchFamily="34" charset="0"/>
              </a:rPr>
              <a:t>Java Web Applications</a:t>
            </a:r>
          </a:p>
          <a:p>
            <a:r>
              <a:rPr lang="en-GB" b="0" i="0" u="none" strike="noStrike" baseline="0" dirty="0">
                <a:solidFill>
                  <a:srgbClr val="222222"/>
                </a:solidFill>
                <a:latin typeface="Trebuchet MS" panose="020B0603020202020204" pitchFamily="34" charset="0"/>
              </a:rPr>
              <a:t>Java can also be used to develop applications for hand-held devices such as Palm and cell phones</a:t>
            </a:r>
          </a:p>
        </p:txBody>
      </p:sp>
    </p:spTree>
    <p:extLst>
      <p:ext uri="{BB962C8B-B14F-4D97-AF65-F5344CB8AC3E}">
        <p14:creationId xmlns:p14="http://schemas.microsoft.com/office/powerpoint/2010/main" val="2560949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21446" y="190502"/>
            <a:ext cx="10018713" cy="695324"/>
          </a:xfrm>
        </p:spPr>
        <p:txBody>
          <a:bodyPr>
            <a:noAutofit/>
          </a:bodyPr>
          <a:lstStyle/>
          <a:p>
            <a:pPr marL="0" indent="0">
              <a:buNone/>
            </a:pPr>
            <a:r>
              <a:rPr lang="en-GB" sz="4800" b="0" i="0" u="none" strike="noStrike" baseline="0" dirty="0">
                <a:solidFill>
                  <a:srgbClr val="000000"/>
                </a:solidFill>
                <a:latin typeface="Trebuchet MS" panose="020B0603020202020204" pitchFamily="34" charset="0"/>
              </a:rPr>
              <a:t>Java History</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56451" y="1013077"/>
            <a:ext cx="10018713" cy="5170635"/>
          </a:xfrm>
        </p:spPr>
        <p:txBody>
          <a:bodyPr>
            <a:noAutofit/>
          </a:bodyPr>
          <a:lstStyle/>
          <a:p>
            <a:r>
              <a:rPr lang="en-GB" sz="3200" b="0" i="0" u="none" strike="noStrike" baseline="0" dirty="0">
                <a:solidFill>
                  <a:srgbClr val="222222"/>
                </a:solidFill>
                <a:latin typeface="Trebuchet MS" panose="020B0603020202020204" pitchFamily="34" charset="0"/>
              </a:rPr>
              <a:t>James Gosling and Sun Microsystems 1991</a:t>
            </a:r>
          </a:p>
          <a:p>
            <a:r>
              <a:rPr lang="en-GB" sz="3200" b="0" i="0" u="none" strike="noStrike" baseline="0" dirty="0">
                <a:solidFill>
                  <a:srgbClr val="222222"/>
                </a:solidFill>
                <a:latin typeface="Trebuchet MS" panose="020B0603020202020204" pitchFamily="34" charset="0"/>
              </a:rPr>
              <a:t>First called “Oak”</a:t>
            </a:r>
          </a:p>
          <a:p>
            <a:r>
              <a:rPr lang="en-GB" sz="3200" b="0" i="0" u="none" strike="noStrike" baseline="0" dirty="0">
                <a:solidFill>
                  <a:srgbClr val="222222"/>
                </a:solidFill>
                <a:latin typeface="Trebuchet MS" panose="020B0603020202020204" pitchFamily="34" charset="0"/>
              </a:rPr>
              <a:t>Renamed to “Java”, May 20, 1995, Sun World</a:t>
            </a:r>
          </a:p>
          <a:p>
            <a:r>
              <a:rPr lang="en-GB" sz="3200" b="0" i="0" u="none" strike="noStrike" baseline="0" dirty="0" err="1">
                <a:solidFill>
                  <a:srgbClr val="222222"/>
                </a:solidFill>
                <a:latin typeface="Trebuchet MS" panose="020B0603020202020204" pitchFamily="34" charset="0"/>
              </a:rPr>
              <a:t>HotJava</a:t>
            </a:r>
            <a:r>
              <a:rPr lang="en-GB" sz="3200" dirty="0">
                <a:solidFill>
                  <a:srgbClr val="222222"/>
                </a:solidFill>
                <a:latin typeface="Trebuchet MS" panose="020B0603020202020204" pitchFamily="34" charset="0"/>
              </a:rPr>
              <a:t> </a:t>
            </a:r>
          </a:p>
          <a:p>
            <a:pPr lvl="1"/>
            <a:r>
              <a:rPr lang="en-GB" sz="2800" b="0" i="0" u="none" strike="noStrike" baseline="0" dirty="0">
                <a:solidFill>
                  <a:srgbClr val="222222"/>
                </a:solidFill>
                <a:latin typeface="Trebuchet MS" panose="020B0603020202020204" pitchFamily="34" charset="0"/>
              </a:rPr>
              <a:t>The first Java-enabled Web browser</a:t>
            </a:r>
          </a:p>
          <a:p>
            <a:r>
              <a:rPr lang="en-GB" sz="3200" b="0" i="0" u="none" strike="noStrike" baseline="0" dirty="0">
                <a:solidFill>
                  <a:srgbClr val="222222"/>
                </a:solidFill>
                <a:latin typeface="Trebuchet MS" panose="020B0603020202020204" pitchFamily="34" charset="0"/>
              </a:rPr>
              <a:t>Early History Website:</a:t>
            </a:r>
          </a:p>
          <a:p>
            <a:pPr lvl="1"/>
            <a:r>
              <a:rPr lang="en-US" altLang="en-US" sz="2800" dirty="0">
                <a:hlinkClick r:id="rId2"/>
              </a:rPr>
              <a:t>http://java.sun.com/features/1998/05/birthday.html</a:t>
            </a:r>
            <a:endParaRPr lang="en-US" altLang="en-US" sz="2800" dirty="0"/>
          </a:p>
        </p:txBody>
      </p:sp>
    </p:spTree>
    <p:extLst>
      <p:ext uri="{BB962C8B-B14F-4D97-AF65-F5344CB8AC3E}">
        <p14:creationId xmlns:p14="http://schemas.microsoft.com/office/powerpoint/2010/main" val="1660877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21446" y="190502"/>
            <a:ext cx="10018713" cy="695324"/>
          </a:xfrm>
        </p:spPr>
        <p:txBody>
          <a:bodyPr>
            <a:noAutofit/>
          </a:bodyPr>
          <a:lstStyle/>
          <a:p>
            <a:pPr marL="0" indent="0">
              <a:buNone/>
            </a:pPr>
            <a:r>
              <a:rPr lang="en-GB" b="0" i="0" u="none" strike="noStrike" baseline="0" dirty="0">
                <a:solidFill>
                  <a:srgbClr val="000000"/>
                </a:solidFill>
                <a:latin typeface="Trebuchet MS" panose="020B0603020202020204" pitchFamily="34" charset="0"/>
              </a:rPr>
              <a:t>JDK Versions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822576"/>
            <a:ext cx="10295209" cy="5844923"/>
          </a:xfrm>
        </p:spPr>
        <p:txBody>
          <a:bodyPr>
            <a:noAutofit/>
          </a:bodyPr>
          <a:lstStyle/>
          <a:p>
            <a:r>
              <a:rPr lang="en-GB" sz="2800" b="0" i="0" u="none" strike="noStrike" baseline="0" dirty="0">
                <a:solidFill>
                  <a:srgbClr val="222222"/>
                </a:solidFill>
                <a:latin typeface="Trebuchet MS" panose="020B0603020202020204" pitchFamily="34" charset="0"/>
              </a:rPr>
              <a:t>JDK 1.02 (1996)</a:t>
            </a:r>
          </a:p>
          <a:p>
            <a:r>
              <a:rPr lang="en-GB" sz="2800" b="0" i="0" u="none" strike="noStrike" baseline="0" dirty="0">
                <a:solidFill>
                  <a:srgbClr val="222222"/>
                </a:solidFill>
                <a:latin typeface="Trebuchet MS" panose="020B0603020202020204" pitchFamily="34" charset="0"/>
              </a:rPr>
              <a:t>JDK 1.1 (1997)</a:t>
            </a:r>
          </a:p>
          <a:p>
            <a:r>
              <a:rPr lang="en-GB" sz="2800" b="0" i="0" u="none" strike="noStrike" baseline="0" dirty="0">
                <a:solidFill>
                  <a:srgbClr val="222222"/>
                </a:solidFill>
                <a:latin typeface="Trebuchet MS" panose="020B0603020202020204" pitchFamily="34" charset="0"/>
              </a:rPr>
              <a:t>JDK 1.2 (1998)</a:t>
            </a:r>
          </a:p>
          <a:p>
            <a:r>
              <a:rPr lang="en-GB" sz="2800" b="0" i="0" u="none" strike="noStrike" baseline="0" dirty="0">
                <a:solidFill>
                  <a:srgbClr val="222222"/>
                </a:solidFill>
                <a:latin typeface="Trebuchet MS" panose="020B0603020202020204" pitchFamily="34" charset="0"/>
              </a:rPr>
              <a:t>JDK 1.3 (2000)</a:t>
            </a:r>
          </a:p>
          <a:p>
            <a:r>
              <a:rPr lang="en-GB" sz="2800" b="0" i="0" u="none" strike="noStrike" baseline="0" dirty="0">
                <a:solidFill>
                  <a:srgbClr val="222222"/>
                </a:solidFill>
                <a:latin typeface="Trebuchet MS" panose="020B0603020202020204" pitchFamily="34" charset="0"/>
              </a:rPr>
              <a:t>JDK 1.4 (2002)</a:t>
            </a:r>
          </a:p>
          <a:p>
            <a:r>
              <a:rPr lang="en-GB" sz="2800" b="0" i="0" u="none" strike="noStrike" baseline="0" dirty="0">
                <a:solidFill>
                  <a:srgbClr val="222222"/>
                </a:solidFill>
                <a:latin typeface="Trebuchet MS" panose="020B0603020202020204" pitchFamily="34" charset="0"/>
              </a:rPr>
              <a:t>JDK 1.5 (2004) a. k. a. JDK 5 or Java 5</a:t>
            </a:r>
          </a:p>
          <a:p>
            <a:r>
              <a:rPr lang="en-GB" sz="2800" b="0" i="0" u="none" strike="noStrike" baseline="0" dirty="0">
                <a:solidFill>
                  <a:srgbClr val="222222"/>
                </a:solidFill>
                <a:latin typeface="Trebuchet MS" panose="020B0603020202020204" pitchFamily="34" charset="0"/>
              </a:rPr>
              <a:t>JDK 1.6 (2006) a. k. a. JDK 6 or Java 6</a:t>
            </a:r>
          </a:p>
          <a:p>
            <a:r>
              <a:rPr lang="en-GB" sz="2800" b="0" i="0" u="none" strike="noStrike" baseline="0" dirty="0">
                <a:solidFill>
                  <a:srgbClr val="222222"/>
                </a:solidFill>
                <a:latin typeface="Trebuchet MS" panose="020B0603020202020204" pitchFamily="34" charset="0"/>
              </a:rPr>
              <a:t>JDK 1.7 (possibly 2010) a. k. a. JDK 7 or Java 7</a:t>
            </a:r>
          </a:p>
          <a:p>
            <a:r>
              <a:rPr lang="en-GB" sz="2800" dirty="0">
                <a:solidFill>
                  <a:srgbClr val="222222"/>
                </a:solidFill>
                <a:latin typeface="Trebuchet MS" panose="020B0603020202020204" pitchFamily="34" charset="0"/>
              </a:rPr>
              <a:t>Check for the latest release: </a:t>
            </a:r>
            <a:r>
              <a:rPr lang="en-GB" sz="2800" dirty="0">
                <a:solidFill>
                  <a:srgbClr val="222222"/>
                </a:solidFill>
                <a:latin typeface="Trebuchet MS" panose="020B0603020202020204" pitchFamily="34" charset="0"/>
                <a:hlinkClick r:id="rId2"/>
              </a:rPr>
              <a:t>https://www.java.com/releases/matrix/</a:t>
            </a:r>
            <a:endParaRPr lang="en-GB" sz="2800" dirty="0">
              <a:solidFill>
                <a:srgbClr val="222222"/>
              </a:solidFill>
              <a:latin typeface="Trebuchet MS" panose="020B0603020202020204" pitchFamily="34" charset="0"/>
            </a:endParaRPr>
          </a:p>
        </p:txBody>
      </p:sp>
    </p:spTree>
    <p:extLst>
      <p:ext uri="{BB962C8B-B14F-4D97-AF65-F5344CB8AC3E}">
        <p14:creationId xmlns:p14="http://schemas.microsoft.com/office/powerpoint/2010/main" val="529332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24883" y="190502"/>
            <a:ext cx="10018713" cy="695324"/>
          </a:xfrm>
        </p:spPr>
        <p:txBody>
          <a:bodyPr>
            <a:noAutofit/>
          </a:bodyPr>
          <a:lstStyle/>
          <a:p>
            <a:pPr marL="0" indent="0">
              <a:buNone/>
            </a:pPr>
            <a:r>
              <a:rPr lang="en-GB" sz="4800" b="0" i="0" u="none" strike="noStrike" baseline="0" dirty="0">
                <a:solidFill>
                  <a:srgbClr val="000000"/>
                </a:solidFill>
                <a:latin typeface="Trebuchet MS" panose="020B0603020202020204" pitchFamily="34" charset="0"/>
              </a:rPr>
              <a:t>JDK Editions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624883" y="986763"/>
            <a:ext cx="10295209" cy="5381145"/>
          </a:xfrm>
        </p:spPr>
        <p:txBody>
          <a:bodyPr>
            <a:noAutofit/>
          </a:bodyPr>
          <a:lstStyle/>
          <a:p>
            <a:r>
              <a:rPr lang="en-GB" sz="3200" b="0" i="0" u="none" strike="noStrike" baseline="0" dirty="0">
                <a:solidFill>
                  <a:srgbClr val="222222"/>
                </a:solidFill>
                <a:latin typeface="Trebuchet MS" panose="020B0603020202020204" pitchFamily="34" charset="0"/>
              </a:rPr>
              <a:t>Java Standard Edition (J2SE)</a:t>
            </a:r>
          </a:p>
          <a:p>
            <a:pPr lvl="1"/>
            <a:r>
              <a:rPr lang="en-GB" sz="2800" b="0" i="0" u="none" strike="noStrike" baseline="0" dirty="0">
                <a:solidFill>
                  <a:srgbClr val="222222"/>
                </a:solidFill>
                <a:latin typeface="Trebuchet MS" panose="020B0603020202020204" pitchFamily="34" charset="0"/>
              </a:rPr>
              <a:t>J2SE can be used to develop client-side standalone applications or applets.</a:t>
            </a:r>
          </a:p>
          <a:p>
            <a:r>
              <a:rPr lang="en-GB" sz="3200" b="0" i="0" u="none" strike="noStrike" baseline="0" dirty="0">
                <a:solidFill>
                  <a:srgbClr val="222222"/>
                </a:solidFill>
                <a:latin typeface="Trebuchet MS" panose="020B0603020202020204" pitchFamily="34" charset="0"/>
              </a:rPr>
              <a:t>Java Enterprise Edition (J2EE)</a:t>
            </a:r>
          </a:p>
          <a:p>
            <a:pPr lvl="1"/>
            <a:r>
              <a:rPr lang="en-GB" sz="2800" b="0" i="0" u="none" strike="noStrike" baseline="0" dirty="0">
                <a:solidFill>
                  <a:srgbClr val="222222"/>
                </a:solidFill>
                <a:latin typeface="Trebuchet MS" panose="020B0603020202020204" pitchFamily="34" charset="0"/>
              </a:rPr>
              <a:t>J2EE can be used to develop server-side applications such as Java servlets and Java </a:t>
            </a:r>
            <a:r>
              <a:rPr lang="en-GB" sz="2800" b="0" i="0" u="none" strike="noStrike" baseline="0" dirty="0" err="1">
                <a:solidFill>
                  <a:srgbClr val="222222"/>
                </a:solidFill>
                <a:latin typeface="Trebuchet MS" panose="020B0603020202020204" pitchFamily="34" charset="0"/>
              </a:rPr>
              <a:t>ServerPages</a:t>
            </a:r>
            <a:r>
              <a:rPr lang="en-GB" sz="2800" b="0" i="0" u="none" strike="noStrike" baseline="0" dirty="0">
                <a:solidFill>
                  <a:srgbClr val="222222"/>
                </a:solidFill>
                <a:latin typeface="Trebuchet MS" panose="020B0603020202020204" pitchFamily="34" charset="0"/>
              </a:rPr>
              <a:t>. </a:t>
            </a:r>
          </a:p>
          <a:p>
            <a:r>
              <a:rPr lang="en-GB" sz="3200" b="0" i="0" u="none" strike="noStrike" baseline="0" dirty="0">
                <a:solidFill>
                  <a:srgbClr val="222222"/>
                </a:solidFill>
                <a:latin typeface="Trebuchet MS" panose="020B0603020202020204" pitchFamily="34" charset="0"/>
              </a:rPr>
              <a:t>Java Micro Edition (J2ME). </a:t>
            </a:r>
          </a:p>
          <a:p>
            <a:pPr lvl="1"/>
            <a:r>
              <a:rPr lang="en-GB" sz="2800" b="0" i="0" u="none" strike="noStrike" baseline="0" dirty="0">
                <a:solidFill>
                  <a:srgbClr val="222222"/>
                </a:solidFill>
                <a:latin typeface="Trebuchet MS" panose="020B0603020202020204" pitchFamily="34" charset="0"/>
              </a:rPr>
              <a:t>J2ME can be used to develop applications for mobile devices such as cell phones. </a:t>
            </a:r>
          </a:p>
        </p:txBody>
      </p:sp>
    </p:spTree>
    <p:extLst>
      <p:ext uri="{BB962C8B-B14F-4D97-AF65-F5344CB8AC3E}">
        <p14:creationId xmlns:p14="http://schemas.microsoft.com/office/powerpoint/2010/main" val="3088042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24883" y="190502"/>
            <a:ext cx="10018713" cy="523873"/>
          </a:xfrm>
        </p:spPr>
        <p:txBody>
          <a:bodyPr>
            <a:noAutofit/>
          </a:bodyPr>
          <a:lstStyle/>
          <a:p>
            <a:pPr marL="0" indent="0">
              <a:buNone/>
            </a:pPr>
            <a:r>
              <a:rPr lang="en-GB" sz="4800" b="0" i="0" u="none" strike="noStrike" baseline="0" dirty="0">
                <a:solidFill>
                  <a:srgbClr val="000000"/>
                </a:solidFill>
                <a:latin typeface="Trebuchet MS" panose="020B0603020202020204" pitchFamily="34" charset="0"/>
              </a:rPr>
              <a:t>Popular Java IDEs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562018" y="885826"/>
            <a:ext cx="10295209" cy="6088407"/>
          </a:xfrm>
        </p:spPr>
        <p:txBody>
          <a:bodyPr>
            <a:noAutofit/>
          </a:bodyPr>
          <a:lstStyle/>
          <a:p>
            <a:r>
              <a:rPr lang="en-GB" sz="3200" b="0" i="0" u="none" strike="noStrike" baseline="0" dirty="0">
                <a:solidFill>
                  <a:srgbClr val="222222"/>
                </a:solidFill>
                <a:latin typeface="Trebuchet MS" panose="020B0603020202020204" pitchFamily="34" charset="0"/>
              </a:rPr>
              <a:t>NetBeans Open Source by Sun </a:t>
            </a:r>
          </a:p>
          <a:p>
            <a:r>
              <a:rPr lang="en-GB" sz="3200" b="0" i="0" u="none" strike="noStrike" baseline="0" dirty="0">
                <a:solidFill>
                  <a:srgbClr val="222222"/>
                </a:solidFill>
                <a:latin typeface="Trebuchet MS" panose="020B0603020202020204" pitchFamily="34" charset="0"/>
              </a:rPr>
              <a:t>Eclipse Open Source by IBM </a:t>
            </a:r>
          </a:p>
          <a:p>
            <a:r>
              <a:rPr lang="en-GB" sz="3200" dirty="0">
                <a:solidFill>
                  <a:srgbClr val="222222"/>
                </a:solidFill>
                <a:latin typeface="Trebuchet MS" panose="020B0603020202020204" pitchFamily="34" charset="0"/>
              </a:rPr>
              <a:t>IntelliJ IDEA Open Source by JetBrains</a:t>
            </a:r>
          </a:p>
          <a:p>
            <a:r>
              <a:rPr lang="en-GB" sz="3200" b="0" i="0" u="none" strike="noStrike" baseline="0" dirty="0" err="1">
                <a:solidFill>
                  <a:srgbClr val="222222"/>
                </a:solidFill>
                <a:latin typeface="Trebuchet MS" panose="020B0603020202020204" pitchFamily="34" charset="0"/>
              </a:rPr>
              <a:t>BlueJ</a:t>
            </a:r>
            <a:r>
              <a:rPr lang="en-GB" sz="3200" b="0" i="0" u="none" strike="noStrike" baseline="0" dirty="0">
                <a:solidFill>
                  <a:srgbClr val="222222"/>
                </a:solidFill>
                <a:latin typeface="Trebuchet MS" panose="020B0603020202020204" pitchFamily="34" charset="0"/>
              </a:rPr>
              <a:t> Open Source by Michael </a:t>
            </a:r>
            <a:r>
              <a:rPr lang="en-GB" sz="3200" b="0" i="0" u="none" strike="noStrike" baseline="0" dirty="0" err="1">
                <a:solidFill>
                  <a:srgbClr val="222222"/>
                </a:solidFill>
                <a:latin typeface="Trebuchet MS" panose="020B0603020202020204" pitchFamily="34" charset="0"/>
              </a:rPr>
              <a:t>Kolling</a:t>
            </a:r>
            <a:r>
              <a:rPr lang="en-GB" sz="3200" b="0" i="0" u="none" strike="noStrike" baseline="0" dirty="0">
                <a:solidFill>
                  <a:srgbClr val="222222"/>
                </a:solidFill>
                <a:latin typeface="Trebuchet MS" panose="020B0603020202020204" pitchFamily="34" charset="0"/>
              </a:rPr>
              <a:t> and John Rosenberg</a:t>
            </a:r>
          </a:p>
          <a:p>
            <a:r>
              <a:rPr lang="en-GB" sz="3200" dirty="0" err="1">
                <a:solidFill>
                  <a:srgbClr val="222222"/>
                </a:solidFill>
                <a:latin typeface="Trebuchet MS" panose="020B0603020202020204" pitchFamily="34" charset="0"/>
              </a:rPr>
              <a:t>Jdeveloper</a:t>
            </a:r>
            <a:r>
              <a:rPr lang="en-GB" sz="3200" dirty="0">
                <a:solidFill>
                  <a:srgbClr val="222222"/>
                </a:solidFill>
                <a:latin typeface="Trebuchet MS" panose="020B0603020202020204" pitchFamily="34" charset="0"/>
              </a:rPr>
              <a:t> Open Source by Oracle Corporation</a:t>
            </a:r>
          </a:p>
          <a:p>
            <a:r>
              <a:rPr lang="en-GB" sz="3200" b="0" i="0" u="none" strike="noStrike" baseline="0" dirty="0" err="1">
                <a:solidFill>
                  <a:srgbClr val="222222"/>
                </a:solidFill>
                <a:latin typeface="Trebuchet MS" panose="020B0603020202020204" pitchFamily="34" charset="0"/>
              </a:rPr>
              <a:t>JCreator</a:t>
            </a:r>
            <a:r>
              <a:rPr lang="en-GB" sz="3200" b="0" i="0" u="none" strike="noStrike" baseline="0" dirty="0">
                <a:solidFill>
                  <a:srgbClr val="222222"/>
                </a:solidFill>
                <a:latin typeface="Trebuchet MS" panose="020B0603020202020204" pitchFamily="34" charset="0"/>
              </a:rPr>
              <a:t> by </a:t>
            </a:r>
            <a:r>
              <a:rPr lang="en-GB" sz="3200" b="0" i="0" u="none" strike="noStrike" baseline="0" dirty="0" err="1">
                <a:solidFill>
                  <a:srgbClr val="222222"/>
                </a:solidFill>
                <a:latin typeface="Trebuchet MS" panose="020B0603020202020204" pitchFamily="34" charset="0"/>
              </a:rPr>
              <a:t>Xinox</a:t>
            </a:r>
            <a:r>
              <a:rPr lang="en-GB" sz="3200" b="0" i="0" u="none" strike="noStrike" baseline="0" dirty="0">
                <a:solidFill>
                  <a:srgbClr val="222222"/>
                </a:solidFill>
                <a:latin typeface="Trebuchet MS" panose="020B0603020202020204" pitchFamily="34" charset="0"/>
              </a:rPr>
              <a:t> Software</a:t>
            </a:r>
          </a:p>
          <a:p>
            <a:r>
              <a:rPr lang="en-GB" sz="3200" dirty="0" err="1">
                <a:solidFill>
                  <a:srgbClr val="222222"/>
                </a:solidFill>
                <a:latin typeface="Trebuchet MS" panose="020B0603020202020204" pitchFamily="34" charset="0"/>
              </a:rPr>
              <a:t>Greenfoot</a:t>
            </a:r>
            <a:r>
              <a:rPr lang="en-GB" sz="3200" dirty="0">
                <a:solidFill>
                  <a:srgbClr val="222222"/>
                </a:solidFill>
                <a:latin typeface="Trebuchet MS" panose="020B0603020202020204" pitchFamily="34" charset="0"/>
              </a:rPr>
              <a:t> by King’s College London for the purpose of education</a:t>
            </a:r>
          </a:p>
          <a:p>
            <a:r>
              <a:rPr lang="en-GB" sz="3200" dirty="0" err="1">
                <a:solidFill>
                  <a:srgbClr val="222222"/>
                </a:solidFill>
                <a:latin typeface="Trebuchet MS" panose="020B0603020202020204" pitchFamily="34" charset="0"/>
              </a:rPr>
              <a:t>JGrasp</a:t>
            </a:r>
            <a:endParaRPr lang="en-GB" sz="3200" dirty="0">
              <a:solidFill>
                <a:srgbClr val="222222"/>
              </a:solidFill>
              <a:latin typeface="Trebuchet MS" panose="020B0603020202020204" pitchFamily="34" charset="0"/>
            </a:endParaRPr>
          </a:p>
        </p:txBody>
      </p:sp>
    </p:spTree>
    <p:extLst>
      <p:ext uri="{BB962C8B-B14F-4D97-AF65-F5344CB8AC3E}">
        <p14:creationId xmlns:p14="http://schemas.microsoft.com/office/powerpoint/2010/main" val="2230810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24883" y="0"/>
            <a:ext cx="10018713" cy="569593"/>
          </a:xfrm>
        </p:spPr>
        <p:txBody>
          <a:bodyPr>
            <a:noAutofit/>
          </a:bodyPr>
          <a:lstStyle/>
          <a:p>
            <a:pPr marL="0" indent="0">
              <a:buNone/>
            </a:pPr>
            <a:r>
              <a:rPr lang="en-US" altLang="en-US" dirty="0"/>
              <a:t>Java Identifiers</a:t>
            </a:r>
            <a:endParaRPr lang="en-GB" b="0" i="0" u="none" strike="noStrike" baseline="0" dirty="0">
              <a:solidFill>
                <a:srgbClr val="000000"/>
              </a:solidFill>
              <a:latin typeface="Trebuchet MS" panose="020B0603020202020204" pitchFamily="34" charset="0"/>
            </a:endParaRP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624883" y="569593"/>
            <a:ext cx="10567117" cy="6288407"/>
          </a:xfrm>
        </p:spPr>
        <p:txBody>
          <a:bodyPr>
            <a:noAutofit/>
          </a:bodyPr>
          <a:lstStyle/>
          <a:p>
            <a:r>
              <a:rPr lang="en-GB" b="0" i="0" u="none" strike="noStrike" baseline="0" dirty="0">
                <a:solidFill>
                  <a:srgbClr val="222222"/>
                </a:solidFill>
                <a:latin typeface="Trebuchet MS" panose="020B0603020202020204" pitchFamily="34" charset="0"/>
              </a:rPr>
              <a:t>To be able to refer to entities stored in computer memory, Java allows the programmer to attach names to portions of memory. </a:t>
            </a:r>
          </a:p>
          <a:p>
            <a:pPr lvl="1"/>
            <a:r>
              <a:rPr lang="en-GB" dirty="0">
                <a:solidFill>
                  <a:srgbClr val="222222"/>
                </a:solidFill>
                <a:latin typeface="Trebuchet MS" panose="020B0603020202020204" pitchFamily="34" charset="0"/>
              </a:rPr>
              <a:t>These names are called Identifiers</a:t>
            </a:r>
            <a:endParaRPr lang="en-GB" b="0" i="0" u="none" strike="noStrike" baseline="0" dirty="0">
              <a:solidFill>
                <a:srgbClr val="222222"/>
              </a:solidFill>
              <a:latin typeface="Trebuchet MS" panose="020B0603020202020204" pitchFamily="34" charset="0"/>
            </a:endParaRPr>
          </a:p>
          <a:p>
            <a:r>
              <a:rPr lang="en-GB" b="0" i="0" u="none" strike="noStrike" baseline="0" dirty="0">
                <a:solidFill>
                  <a:srgbClr val="222222"/>
                </a:solidFill>
                <a:latin typeface="Trebuchet MS" panose="020B0603020202020204" pitchFamily="34" charset="0"/>
              </a:rPr>
              <a:t>An identifier is a sequence of characters that consist of letters, digits, underscores (_), and dollar signs ($). </a:t>
            </a:r>
          </a:p>
          <a:p>
            <a:r>
              <a:rPr lang="en-GB" b="0" i="0" u="none" strike="noStrike" baseline="0" dirty="0">
                <a:solidFill>
                  <a:srgbClr val="222222"/>
                </a:solidFill>
                <a:latin typeface="Trebuchet MS" panose="020B0603020202020204" pitchFamily="34" charset="0"/>
              </a:rPr>
              <a:t>An identifier must start with a letter, an underscore (_), or a dollar sign ($). It cannot start with a digit. </a:t>
            </a:r>
          </a:p>
          <a:p>
            <a:r>
              <a:rPr lang="en-GB" b="0" i="0" u="none" strike="noStrike" baseline="0" dirty="0">
                <a:solidFill>
                  <a:srgbClr val="222222"/>
                </a:solidFill>
                <a:latin typeface="Trebuchet MS" panose="020B0603020202020204" pitchFamily="34" charset="0"/>
              </a:rPr>
              <a:t>An identifier cannot be a reserved word (“Java Keywords”).</a:t>
            </a:r>
          </a:p>
          <a:p>
            <a:r>
              <a:rPr lang="en-GB" b="0" i="0" u="none" strike="noStrike" baseline="0" dirty="0">
                <a:solidFill>
                  <a:srgbClr val="222222"/>
                </a:solidFill>
                <a:latin typeface="Trebuchet MS" panose="020B0603020202020204" pitchFamily="34" charset="0"/>
              </a:rPr>
              <a:t>Most significantly, identifiers are case sensitive. So, Sample is not same as sample.</a:t>
            </a:r>
          </a:p>
          <a:p>
            <a:r>
              <a:rPr lang="en-GB" b="0" i="0" u="none" strike="noStrike" baseline="0" dirty="0">
                <a:solidFill>
                  <a:srgbClr val="222222"/>
                </a:solidFill>
                <a:latin typeface="Trebuchet MS" panose="020B0603020202020204" pitchFamily="34" charset="0"/>
              </a:rPr>
              <a:t>There are also some other rules which are followed but are not compulsory:</a:t>
            </a:r>
          </a:p>
          <a:p>
            <a:pPr lvl="1"/>
            <a:r>
              <a:rPr lang="en-GB" b="0" i="0" u="none" strike="noStrike" baseline="0" dirty="0">
                <a:solidFill>
                  <a:srgbClr val="222222"/>
                </a:solidFill>
                <a:latin typeface="Trebuchet MS" panose="020B0603020202020204" pitchFamily="34" charset="0"/>
              </a:rPr>
              <a:t>All identifiers begin with a lowercase letter except it is the name of a class</a:t>
            </a:r>
          </a:p>
          <a:p>
            <a:pPr lvl="1"/>
            <a:r>
              <a:rPr lang="en-GB" b="0" i="0" u="none" strike="noStrike" baseline="0" dirty="0">
                <a:solidFill>
                  <a:srgbClr val="222222"/>
                </a:solidFill>
                <a:latin typeface="Trebuchet MS" panose="020B0603020202020204" pitchFamily="34" charset="0"/>
              </a:rPr>
              <a:t>For compound words, the first word begins with lower case while subsequent words begin with an upper-case letter e.g. </a:t>
            </a:r>
            <a:r>
              <a:rPr lang="en-GB" b="0" i="0" u="none" strike="noStrike" baseline="0" dirty="0" err="1">
                <a:solidFill>
                  <a:srgbClr val="222222"/>
                </a:solidFill>
                <a:latin typeface="Trebuchet MS" panose="020B0603020202020204" pitchFamily="34" charset="0"/>
              </a:rPr>
              <a:t>classNumber</a:t>
            </a:r>
            <a:r>
              <a:rPr lang="en-GB" b="0" i="0" u="none" strike="noStrike" baseline="0" dirty="0">
                <a:solidFill>
                  <a:srgbClr val="222222"/>
                </a:solidFill>
                <a:latin typeface="Trebuchet MS" panose="020B0603020202020204" pitchFamily="34" charset="0"/>
              </a:rPr>
              <a:t>, </a:t>
            </a:r>
            <a:r>
              <a:rPr lang="en-GB" b="0" i="0" u="none" strike="noStrike" baseline="0" dirty="0" err="1">
                <a:solidFill>
                  <a:srgbClr val="222222"/>
                </a:solidFill>
                <a:latin typeface="Trebuchet MS" panose="020B0603020202020204" pitchFamily="34" charset="0"/>
              </a:rPr>
              <a:t>myProgram</a:t>
            </a:r>
            <a:r>
              <a:rPr lang="en-GB" b="0" i="0" u="none" strike="noStrike" baseline="0" dirty="0">
                <a:solidFill>
                  <a:srgbClr val="222222"/>
                </a:solidFill>
                <a:latin typeface="Trebuchet MS" panose="020B0603020202020204" pitchFamily="34" charset="0"/>
              </a:rPr>
              <a:t>, </a:t>
            </a:r>
            <a:r>
              <a:rPr lang="en-GB" b="0" i="0" u="none" strike="noStrike" baseline="0" dirty="0" err="1">
                <a:solidFill>
                  <a:srgbClr val="222222"/>
                </a:solidFill>
                <a:latin typeface="Trebuchet MS" panose="020B0603020202020204" pitchFamily="34" charset="0"/>
              </a:rPr>
              <a:t>areaOfTriangle</a:t>
            </a:r>
            <a:endParaRPr lang="en-GB" b="0" i="0" u="none" strike="noStrike" baseline="0" dirty="0">
              <a:solidFill>
                <a:srgbClr val="222222"/>
              </a:solidFill>
              <a:latin typeface="Trebuchet MS" panose="020B0603020202020204" pitchFamily="34" charset="0"/>
            </a:endParaRPr>
          </a:p>
        </p:txBody>
      </p:sp>
    </p:spTree>
    <p:extLst>
      <p:ext uri="{BB962C8B-B14F-4D97-AF65-F5344CB8AC3E}">
        <p14:creationId xmlns:p14="http://schemas.microsoft.com/office/powerpoint/2010/main" val="4139418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24883" y="190502"/>
            <a:ext cx="10018713" cy="695324"/>
          </a:xfrm>
        </p:spPr>
        <p:txBody>
          <a:bodyPr>
            <a:noAutofit/>
          </a:bodyPr>
          <a:lstStyle/>
          <a:p>
            <a:pPr marL="0" indent="0">
              <a:buNone/>
            </a:pPr>
            <a:r>
              <a:rPr lang="en-GB" sz="4800" b="0" i="0" u="none" strike="noStrike" baseline="0" dirty="0">
                <a:solidFill>
                  <a:srgbClr val="000000"/>
                </a:solidFill>
                <a:latin typeface="Trebuchet MS" panose="020B0603020202020204" pitchFamily="34" charset="0"/>
              </a:rPr>
              <a:t>Variables and Constants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02500" y="1098596"/>
            <a:ext cx="10295209" cy="5354832"/>
          </a:xfrm>
        </p:spPr>
        <p:txBody>
          <a:bodyPr>
            <a:noAutofit/>
          </a:bodyPr>
          <a:lstStyle/>
          <a:p>
            <a:r>
              <a:rPr lang="en-GB" b="0" i="0" u="none" strike="noStrike" baseline="0" dirty="0">
                <a:solidFill>
                  <a:srgbClr val="222222"/>
                </a:solidFill>
                <a:latin typeface="Trebuchet MS" panose="020B0603020202020204" pitchFamily="34" charset="0"/>
              </a:rPr>
              <a:t>A </a:t>
            </a:r>
            <a:r>
              <a:rPr lang="en-GB" b="1" i="1" u="none" strike="noStrike" baseline="0" dirty="0">
                <a:solidFill>
                  <a:srgbClr val="222222"/>
                </a:solidFill>
                <a:latin typeface="Trebuchet MS" panose="020B0603020202020204" pitchFamily="34" charset="0"/>
              </a:rPr>
              <a:t>variable</a:t>
            </a:r>
            <a:r>
              <a:rPr lang="en-GB" b="0" i="0" u="none" strike="noStrike" baseline="0" dirty="0">
                <a:solidFill>
                  <a:srgbClr val="222222"/>
                </a:solidFill>
                <a:latin typeface="Trebuchet MS" panose="020B0603020202020204" pitchFamily="34" charset="0"/>
              </a:rPr>
              <a:t> is a placeholder for a value that can be updated as the program runs.</a:t>
            </a:r>
          </a:p>
          <a:p>
            <a:r>
              <a:rPr lang="en-GB" b="0" i="0" u="none" strike="noStrike" baseline="0" dirty="0">
                <a:solidFill>
                  <a:srgbClr val="222222"/>
                </a:solidFill>
                <a:latin typeface="Trebuchet MS" panose="020B0603020202020204" pitchFamily="34" charset="0"/>
              </a:rPr>
              <a:t>A variable in Java is most easily envisioned as a box capable of storing a value.</a:t>
            </a:r>
          </a:p>
          <a:p>
            <a:r>
              <a:rPr lang="en-GB" b="0" i="0" u="none" strike="noStrike" baseline="0" dirty="0">
                <a:solidFill>
                  <a:srgbClr val="222222"/>
                </a:solidFill>
                <a:latin typeface="Trebuchet MS" panose="020B0603020202020204" pitchFamily="34" charset="0"/>
              </a:rPr>
              <a:t>A variable whose value does not change during the course of a program is called a </a:t>
            </a:r>
            <a:r>
              <a:rPr lang="en-GB" b="1" i="1" u="none" strike="noStrike" baseline="0" dirty="0">
                <a:solidFill>
                  <a:srgbClr val="222222"/>
                </a:solidFill>
                <a:latin typeface="Trebuchet MS" panose="020B0603020202020204" pitchFamily="34" charset="0"/>
              </a:rPr>
              <a:t>Constant</a:t>
            </a:r>
            <a:r>
              <a:rPr lang="en-GB" b="0" i="0" u="none" strike="noStrike" baseline="0" dirty="0">
                <a:solidFill>
                  <a:srgbClr val="222222"/>
                </a:solidFill>
                <a:latin typeface="Trebuchet MS" panose="020B0603020202020204" pitchFamily="34" charset="0"/>
              </a:rPr>
              <a:t>. </a:t>
            </a:r>
          </a:p>
          <a:p>
            <a:r>
              <a:rPr lang="en-GB" b="0" i="0" u="none" strike="noStrike" baseline="0" dirty="0">
                <a:solidFill>
                  <a:srgbClr val="222222"/>
                </a:solidFill>
                <a:latin typeface="Trebuchet MS" panose="020B0603020202020204" pitchFamily="34" charset="0"/>
              </a:rPr>
              <a:t>Each variable has the following attributes:</a:t>
            </a:r>
          </a:p>
          <a:p>
            <a:pPr lvl="1"/>
            <a:r>
              <a:rPr lang="en-GB" b="0" i="0" u="none" strike="noStrike" baseline="0" dirty="0">
                <a:solidFill>
                  <a:srgbClr val="222222"/>
                </a:solidFill>
                <a:latin typeface="Trebuchet MS" panose="020B0603020202020204" pitchFamily="34" charset="0"/>
              </a:rPr>
              <a:t>A name, which enables you to differentiate one variable from another.</a:t>
            </a:r>
          </a:p>
          <a:p>
            <a:pPr lvl="1"/>
            <a:r>
              <a:rPr lang="en-GB" b="0" i="0" u="none" strike="noStrike" baseline="0" dirty="0">
                <a:solidFill>
                  <a:srgbClr val="222222"/>
                </a:solidFill>
                <a:latin typeface="Trebuchet MS" panose="020B0603020202020204" pitchFamily="34" charset="0"/>
              </a:rPr>
              <a:t>A type, which specifies what type of value the variable can contain.</a:t>
            </a:r>
          </a:p>
          <a:p>
            <a:pPr lvl="1"/>
            <a:r>
              <a:rPr lang="en-GB" b="0" i="0" u="none" strike="noStrike" baseline="0" dirty="0">
                <a:solidFill>
                  <a:srgbClr val="222222"/>
                </a:solidFill>
                <a:latin typeface="Trebuchet MS" panose="020B0603020202020204" pitchFamily="34" charset="0"/>
              </a:rPr>
              <a:t>A value, which represents the current contents of the variable.</a:t>
            </a:r>
          </a:p>
          <a:p>
            <a:r>
              <a:rPr lang="en-GB" b="0" i="0" u="none" strike="noStrike" baseline="0" dirty="0">
                <a:solidFill>
                  <a:srgbClr val="222222"/>
                </a:solidFill>
                <a:latin typeface="Trebuchet MS" panose="020B0603020202020204" pitchFamily="34" charset="0"/>
              </a:rPr>
              <a:t>The name and type of a variable are fixed.  The value changes whenever you assign a new value to the variable.</a:t>
            </a:r>
          </a:p>
        </p:txBody>
      </p:sp>
    </p:spTree>
    <p:extLst>
      <p:ext uri="{BB962C8B-B14F-4D97-AF65-F5344CB8AC3E}">
        <p14:creationId xmlns:p14="http://schemas.microsoft.com/office/powerpoint/2010/main" val="3672848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596308" y="0"/>
            <a:ext cx="10018713" cy="695324"/>
          </a:xfrm>
        </p:spPr>
        <p:txBody>
          <a:bodyPr>
            <a:noAutofit/>
          </a:bodyPr>
          <a:lstStyle/>
          <a:p>
            <a:pPr marL="0" indent="0">
              <a:buNone/>
            </a:pPr>
            <a:r>
              <a:rPr lang="en-GB" b="0" i="0" u="none" strike="noStrike" baseline="0" dirty="0">
                <a:solidFill>
                  <a:srgbClr val="000000"/>
                </a:solidFill>
                <a:latin typeface="Trebuchet MS" panose="020B0603020202020204" pitchFamily="34" charset="0"/>
              </a:rPr>
              <a:t>Variable Declarations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695324"/>
            <a:ext cx="10295209" cy="5976574"/>
          </a:xfrm>
        </p:spPr>
        <p:txBody>
          <a:bodyPr>
            <a:noAutofit/>
          </a:bodyPr>
          <a:lstStyle/>
          <a:p>
            <a:r>
              <a:rPr lang="en-GB" sz="2200" b="0" i="0" u="none" strike="noStrike" baseline="0" dirty="0">
                <a:solidFill>
                  <a:srgbClr val="222222"/>
                </a:solidFill>
                <a:latin typeface="Trebuchet MS" panose="020B0603020202020204" pitchFamily="34" charset="0"/>
              </a:rPr>
              <a:t>In Java, you must declare a variable before you can use it.  The declaration establishes the name and type of the variable and, in most cases, specifies the initial value as well.</a:t>
            </a:r>
          </a:p>
          <a:p>
            <a:r>
              <a:rPr lang="en-GB" sz="2200" b="0" i="0" u="none" strike="noStrike" baseline="0" dirty="0">
                <a:solidFill>
                  <a:srgbClr val="222222"/>
                </a:solidFill>
                <a:latin typeface="Trebuchet MS" panose="020B0603020202020204" pitchFamily="34" charset="0"/>
              </a:rPr>
              <a:t>The most common form of a variable declaration is </a:t>
            </a:r>
          </a:p>
          <a:p>
            <a:pPr marL="0" indent="0">
              <a:buNone/>
            </a:pPr>
            <a:r>
              <a:rPr lang="en-GB" sz="2200" dirty="0">
                <a:solidFill>
                  <a:srgbClr val="222222"/>
                </a:solidFill>
                <a:latin typeface="Trebuchet MS" panose="020B0603020202020204" pitchFamily="34" charset="0"/>
              </a:rPr>
              <a:t>					</a:t>
            </a:r>
            <a:r>
              <a:rPr lang="en-GB" sz="2200" b="0" i="1" u="none" strike="noStrike" baseline="0" dirty="0">
                <a:solidFill>
                  <a:srgbClr val="222222"/>
                </a:solidFill>
                <a:latin typeface="Trebuchet MS" panose="020B0603020202020204" pitchFamily="34" charset="0"/>
              </a:rPr>
              <a:t>Datatype </a:t>
            </a:r>
            <a:r>
              <a:rPr lang="en-GB" sz="2200" b="0" i="0" u="none" strike="noStrike" baseline="0" dirty="0">
                <a:solidFill>
                  <a:srgbClr val="222222"/>
                </a:solidFill>
                <a:latin typeface="Trebuchet MS" panose="020B0603020202020204" pitchFamily="34" charset="0"/>
              </a:rPr>
              <a:t>&lt;</a:t>
            </a:r>
            <a:r>
              <a:rPr lang="en-GB" sz="2200" b="0" i="1" u="none" strike="noStrike" baseline="0" dirty="0">
                <a:solidFill>
                  <a:srgbClr val="222222"/>
                </a:solidFill>
                <a:latin typeface="Trebuchet MS" panose="020B0603020202020204" pitchFamily="34" charset="0"/>
              </a:rPr>
              <a:t>variable name</a:t>
            </a:r>
            <a:r>
              <a:rPr lang="en-GB" sz="2200" b="0" i="0" u="none" strike="noStrike" baseline="0" dirty="0">
                <a:solidFill>
                  <a:srgbClr val="222222"/>
                </a:solidFill>
                <a:latin typeface="Trebuchet MS" panose="020B0603020202020204" pitchFamily="34" charset="0"/>
              </a:rPr>
              <a:t>&gt;;</a:t>
            </a:r>
          </a:p>
          <a:p>
            <a:pPr lvl="1"/>
            <a:r>
              <a:rPr lang="en-GB" sz="1800" b="0" i="0" u="none" strike="noStrike" baseline="0" dirty="0">
                <a:solidFill>
                  <a:srgbClr val="222222"/>
                </a:solidFill>
                <a:latin typeface="Trebuchet MS" panose="020B0603020202020204" pitchFamily="34" charset="0"/>
              </a:rPr>
              <a:t>where </a:t>
            </a:r>
            <a:r>
              <a:rPr lang="en-GB" sz="1800" i="1" u="none" strike="noStrike" baseline="0" dirty="0">
                <a:solidFill>
                  <a:srgbClr val="222222"/>
                </a:solidFill>
                <a:latin typeface="Trebuchet MS" panose="020B0603020202020204" pitchFamily="34" charset="0"/>
              </a:rPr>
              <a:t>Datatype</a:t>
            </a:r>
            <a:r>
              <a:rPr lang="en-GB" sz="1800" b="0" i="0" u="none" strike="noStrike" baseline="0" dirty="0">
                <a:solidFill>
                  <a:srgbClr val="222222"/>
                </a:solidFill>
                <a:latin typeface="Trebuchet MS" panose="020B0603020202020204" pitchFamily="34" charset="0"/>
              </a:rPr>
              <a:t> is the name of a Java primitive type or class, </a:t>
            </a:r>
            <a:r>
              <a:rPr lang="en-GB" sz="1800" b="1" i="1" u="none" strike="noStrike" baseline="0" dirty="0">
                <a:solidFill>
                  <a:srgbClr val="222222"/>
                </a:solidFill>
                <a:latin typeface="Trebuchet MS" panose="020B0603020202020204" pitchFamily="34" charset="0"/>
              </a:rPr>
              <a:t>variable name </a:t>
            </a:r>
            <a:r>
              <a:rPr lang="en-GB" sz="1800" b="0" i="0" u="none" strike="noStrike" baseline="0" dirty="0">
                <a:solidFill>
                  <a:srgbClr val="222222"/>
                </a:solidFill>
                <a:latin typeface="Trebuchet MS" panose="020B0603020202020204" pitchFamily="34" charset="0"/>
              </a:rPr>
              <a:t>is an identifier that indicates the name of the variable</a:t>
            </a:r>
          </a:p>
          <a:p>
            <a:r>
              <a:rPr lang="en-GB" sz="2200" dirty="0">
                <a:solidFill>
                  <a:srgbClr val="222222"/>
                </a:solidFill>
                <a:latin typeface="Trebuchet MS" panose="020B0603020202020204" pitchFamily="34" charset="0"/>
              </a:rPr>
              <a:t>A variable can be declared and initialize at the same time as follows:</a:t>
            </a:r>
          </a:p>
          <a:p>
            <a:pPr marL="0" indent="0">
              <a:buNone/>
            </a:pPr>
            <a:r>
              <a:rPr lang="en-GB" sz="2200" b="0" i="0" u="none" strike="noStrike" baseline="0" dirty="0">
                <a:solidFill>
                  <a:srgbClr val="222222"/>
                </a:solidFill>
                <a:latin typeface="Trebuchet MS" panose="020B0603020202020204" pitchFamily="34" charset="0"/>
              </a:rPr>
              <a:t>					</a:t>
            </a:r>
            <a:r>
              <a:rPr lang="en-GB" sz="2200" b="0" i="1" u="none" strike="noStrike" baseline="0" dirty="0">
                <a:solidFill>
                  <a:srgbClr val="222222"/>
                </a:solidFill>
                <a:latin typeface="Trebuchet MS" panose="020B0603020202020204" pitchFamily="34" charset="0"/>
              </a:rPr>
              <a:t>Datatype </a:t>
            </a:r>
            <a:r>
              <a:rPr lang="en-GB" sz="2200" b="0" i="0" u="none" strike="noStrike" baseline="0" dirty="0">
                <a:solidFill>
                  <a:srgbClr val="222222"/>
                </a:solidFill>
                <a:latin typeface="Trebuchet MS" panose="020B0603020202020204" pitchFamily="34" charset="0"/>
              </a:rPr>
              <a:t>&lt;</a:t>
            </a:r>
            <a:r>
              <a:rPr lang="en-GB" sz="2200" b="0" i="1" u="none" strike="noStrike" baseline="0" dirty="0">
                <a:solidFill>
                  <a:srgbClr val="222222"/>
                </a:solidFill>
                <a:latin typeface="Trebuchet MS" panose="020B0603020202020204" pitchFamily="34" charset="0"/>
              </a:rPr>
              <a:t>variable name</a:t>
            </a:r>
            <a:r>
              <a:rPr lang="en-GB" sz="2200" b="0" i="0" u="none" strike="noStrike" baseline="0" dirty="0">
                <a:solidFill>
                  <a:srgbClr val="222222"/>
                </a:solidFill>
                <a:latin typeface="Trebuchet MS" panose="020B0603020202020204" pitchFamily="34" charset="0"/>
              </a:rPr>
              <a:t>&gt; = value;</a:t>
            </a:r>
          </a:p>
          <a:p>
            <a:pPr lvl="1"/>
            <a:r>
              <a:rPr lang="en-GB" sz="1800" b="0" i="0" u="none" strike="noStrike" baseline="0" dirty="0">
                <a:solidFill>
                  <a:srgbClr val="222222"/>
                </a:solidFill>
                <a:latin typeface="Trebuchet MS" panose="020B0603020202020204" pitchFamily="34" charset="0"/>
              </a:rPr>
              <a:t>Where value is an expression specifying the initial value.</a:t>
            </a:r>
          </a:p>
          <a:p>
            <a:r>
              <a:rPr lang="en-GB" sz="2200" b="0" i="0" u="none" strike="noStrike" baseline="0" dirty="0">
                <a:solidFill>
                  <a:srgbClr val="222222"/>
                </a:solidFill>
                <a:latin typeface="Trebuchet MS" panose="020B0603020202020204" pitchFamily="34" charset="0"/>
              </a:rPr>
              <a:t>Most declarations appear as statements in the body of a method definition.  Variables declared in this way are called </a:t>
            </a:r>
            <a:r>
              <a:rPr lang="en-GB" sz="2200" b="1" i="1" u="none" strike="noStrike" baseline="0" dirty="0">
                <a:solidFill>
                  <a:srgbClr val="222222"/>
                </a:solidFill>
                <a:latin typeface="Trebuchet MS" panose="020B0603020202020204" pitchFamily="34" charset="0"/>
              </a:rPr>
              <a:t>local variables </a:t>
            </a:r>
            <a:r>
              <a:rPr lang="en-GB" sz="2200" b="0" i="0" u="none" strike="noStrike" baseline="0" dirty="0">
                <a:solidFill>
                  <a:srgbClr val="222222"/>
                </a:solidFill>
                <a:latin typeface="Trebuchet MS" panose="020B0603020202020204" pitchFamily="34" charset="0"/>
              </a:rPr>
              <a:t>and are accessible only inside that method.</a:t>
            </a:r>
          </a:p>
          <a:p>
            <a:r>
              <a:rPr lang="en-GB" sz="2200" b="0" i="0" u="none" strike="noStrike" baseline="0" dirty="0">
                <a:solidFill>
                  <a:srgbClr val="222222"/>
                </a:solidFill>
                <a:latin typeface="Trebuchet MS" panose="020B0603020202020204" pitchFamily="34" charset="0"/>
              </a:rPr>
              <a:t>Variables may also be declared as part of a class.  These are called </a:t>
            </a:r>
            <a:r>
              <a:rPr lang="en-GB" sz="2200" b="1" i="1" u="none" strike="noStrike" baseline="0" dirty="0">
                <a:solidFill>
                  <a:srgbClr val="222222"/>
                </a:solidFill>
                <a:latin typeface="Trebuchet MS" panose="020B0603020202020204" pitchFamily="34" charset="0"/>
              </a:rPr>
              <a:t>instance variables </a:t>
            </a:r>
          </a:p>
        </p:txBody>
      </p:sp>
    </p:spTree>
    <p:extLst>
      <p:ext uri="{BB962C8B-B14F-4D97-AF65-F5344CB8AC3E}">
        <p14:creationId xmlns:p14="http://schemas.microsoft.com/office/powerpoint/2010/main" val="2268031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596308" y="0"/>
            <a:ext cx="10018713" cy="695324"/>
          </a:xfrm>
        </p:spPr>
        <p:txBody>
          <a:bodyPr>
            <a:noAutofit/>
          </a:bodyPr>
          <a:lstStyle/>
          <a:p>
            <a:pPr marL="0" indent="0">
              <a:buNone/>
            </a:pPr>
            <a:r>
              <a:rPr lang="en-GB" b="0" i="0" u="none" strike="noStrike" baseline="0" dirty="0">
                <a:solidFill>
                  <a:srgbClr val="000000"/>
                </a:solidFill>
                <a:latin typeface="Trebuchet MS" panose="020B0603020202020204" pitchFamily="34" charset="0"/>
              </a:rPr>
              <a:t>Expressions in Java</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695324"/>
            <a:ext cx="10295209" cy="5976574"/>
          </a:xfrm>
        </p:spPr>
        <p:txBody>
          <a:bodyPr>
            <a:noAutofit/>
          </a:bodyPr>
          <a:lstStyle/>
          <a:p>
            <a:r>
              <a:rPr lang="en-GB" b="0" i="0" u="none" strike="noStrike" baseline="0" dirty="0">
                <a:solidFill>
                  <a:srgbClr val="222222"/>
                </a:solidFill>
                <a:latin typeface="Trebuchet MS" panose="020B0603020202020204" pitchFamily="34" charset="0"/>
              </a:rPr>
              <a:t>An expression in Java consists of </a:t>
            </a:r>
            <a:r>
              <a:rPr lang="en-GB" b="1" i="1" u="none" strike="noStrike" baseline="0" dirty="0">
                <a:solidFill>
                  <a:srgbClr val="222222"/>
                </a:solidFill>
                <a:latin typeface="Trebuchet MS" panose="020B0603020202020204" pitchFamily="34" charset="0"/>
              </a:rPr>
              <a:t>terms</a:t>
            </a:r>
            <a:r>
              <a:rPr lang="en-GB" b="0" i="0" u="none" strike="noStrike" baseline="0" dirty="0">
                <a:solidFill>
                  <a:srgbClr val="222222"/>
                </a:solidFill>
                <a:latin typeface="Trebuchet MS" panose="020B0603020202020204" pitchFamily="34" charset="0"/>
              </a:rPr>
              <a:t> joined together by </a:t>
            </a:r>
            <a:r>
              <a:rPr lang="en-GB" b="1" i="1" u="none" strike="noStrike" baseline="0" dirty="0">
                <a:solidFill>
                  <a:srgbClr val="222222"/>
                </a:solidFill>
                <a:latin typeface="Trebuchet MS" panose="020B0603020202020204" pitchFamily="34" charset="0"/>
              </a:rPr>
              <a:t>operators</a:t>
            </a:r>
          </a:p>
          <a:p>
            <a:pPr marL="0" indent="0">
              <a:buNone/>
            </a:pPr>
            <a:r>
              <a:rPr lang="en-GB" b="1" i="1" dirty="0">
                <a:solidFill>
                  <a:srgbClr val="222222"/>
                </a:solidFill>
                <a:latin typeface="Trebuchet MS" panose="020B0603020202020204" pitchFamily="34" charset="0"/>
              </a:rPr>
              <a:t>					e.g. int total = n1 + n2;</a:t>
            </a:r>
          </a:p>
          <a:p>
            <a:r>
              <a:rPr lang="en-GB" dirty="0">
                <a:solidFill>
                  <a:srgbClr val="222222"/>
                </a:solidFill>
                <a:latin typeface="Trebuchet MS" panose="020B0603020202020204" pitchFamily="34" charset="0"/>
              </a:rPr>
              <a:t>The n1 + n2 that appears to the right of the equal sign is an example of an expression, which specifies the operations involved in the computation.</a:t>
            </a:r>
          </a:p>
          <a:p>
            <a:endParaRPr lang="en-GB" b="1" i="1" dirty="0">
              <a:solidFill>
                <a:srgbClr val="222222"/>
              </a:solidFill>
              <a:latin typeface="Trebuchet MS" panose="020B0603020202020204" pitchFamily="34" charset="0"/>
            </a:endParaRPr>
          </a:p>
          <a:p>
            <a:r>
              <a:rPr lang="en-GB" b="0" i="0" u="none" strike="noStrike" baseline="0" dirty="0">
                <a:solidFill>
                  <a:srgbClr val="222222"/>
                </a:solidFill>
                <a:latin typeface="Trebuchet MS" panose="020B0603020202020204" pitchFamily="34" charset="0"/>
              </a:rPr>
              <a:t>Each term must be one of the following:</a:t>
            </a:r>
          </a:p>
          <a:p>
            <a:pPr lvl="1"/>
            <a:r>
              <a:rPr lang="en-GB" b="0" i="0" u="none" strike="noStrike" baseline="0" dirty="0">
                <a:solidFill>
                  <a:srgbClr val="222222"/>
                </a:solidFill>
                <a:latin typeface="Trebuchet MS" panose="020B0603020202020204" pitchFamily="34" charset="0"/>
              </a:rPr>
              <a:t>A constant (such as 3.14159265 or "hello, world")</a:t>
            </a:r>
          </a:p>
          <a:p>
            <a:pPr lvl="1"/>
            <a:r>
              <a:rPr lang="en-GB" b="0" i="0" u="none" strike="noStrike" baseline="0" dirty="0">
                <a:solidFill>
                  <a:srgbClr val="222222"/>
                </a:solidFill>
                <a:latin typeface="Trebuchet MS" panose="020B0603020202020204" pitchFamily="34" charset="0"/>
              </a:rPr>
              <a:t>A variable name (such as n1, n2, or total)</a:t>
            </a:r>
          </a:p>
          <a:p>
            <a:pPr lvl="1"/>
            <a:r>
              <a:rPr lang="en-GB" b="0" i="0" u="none" strike="noStrike" baseline="0" dirty="0">
                <a:solidFill>
                  <a:srgbClr val="222222"/>
                </a:solidFill>
                <a:latin typeface="Trebuchet MS" panose="020B0603020202020204" pitchFamily="34" charset="0"/>
              </a:rPr>
              <a:t>A method calls that returns a values (such as </a:t>
            </a:r>
            <a:r>
              <a:rPr lang="en-GB" b="0" i="0" u="none" strike="noStrike" baseline="0" dirty="0" err="1">
                <a:solidFill>
                  <a:srgbClr val="222222"/>
                </a:solidFill>
                <a:latin typeface="Trebuchet MS" panose="020B0603020202020204" pitchFamily="34" charset="0"/>
              </a:rPr>
              <a:t>readInt</a:t>
            </a:r>
            <a:r>
              <a:rPr lang="en-GB" b="0" i="0" u="none" strike="noStrike" baseline="0" dirty="0">
                <a:solidFill>
                  <a:srgbClr val="222222"/>
                </a:solidFill>
                <a:latin typeface="Trebuchet MS" panose="020B0603020202020204" pitchFamily="34" charset="0"/>
              </a:rPr>
              <a:t>)</a:t>
            </a:r>
          </a:p>
          <a:p>
            <a:pPr lvl="1"/>
            <a:r>
              <a:rPr lang="en-GB" b="0" i="0" u="none" strike="noStrike" baseline="0" dirty="0">
                <a:solidFill>
                  <a:srgbClr val="222222"/>
                </a:solidFill>
                <a:latin typeface="Trebuchet MS" panose="020B0603020202020204" pitchFamily="34" charset="0"/>
              </a:rPr>
              <a:t>An expression enclosed in parentheses</a:t>
            </a:r>
          </a:p>
        </p:txBody>
      </p:sp>
    </p:spTree>
    <p:extLst>
      <p:ext uri="{BB962C8B-B14F-4D97-AF65-F5344CB8AC3E}">
        <p14:creationId xmlns:p14="http://schemas.microsoft.com/office/powerpoint/2010/main" val="2822358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07738" y="186102"/>
            <a:ext cx="10018713" cy="695324"/>
          </a:xfrm>
        </p:spPr>
        <p:txBody>
          <a:bodyPr>
            <a:noAutofit/>
          </a:bodyPr>
          <a:lstStyle/>
          <a:p>
            <a:pPr marL="0" indent="0">
              <a:buNone/>
            </a:pPr>
            <a:r>
              <a:rPr lang="en-GB" b="0" i="0" u="none" strike="noStrike" baseline="0" dirty="0">
                <a:solidFill>
                  <a:srgbClr val="000000"/>
                </a:solidFill>
                <a:latin typeface="Trebuchet MS" panose="020B0603020202020204" pitchFamily="34" charset="0"/>
              </a:rPr>
              <a:t>Primitive Data Types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695324"/>
            <a:ext cx="10295209" cy="5976574"/>
          </a:xfrm>
        </p:spPr>
        <p:txBody>
          <a:bodyPr>
            <a:noAutofit/>
          </a:bodyPr>
          <a:lstStyle/>
          <a:p>
            <a:r>
              <a:rPr lang="en-GB" b="0" i="0" u="none" strike="noStrike" baseline="0" dirty="0">
                <a:solidFill>
                  <a:srgbClr val="222222"/>
                </a:solidFill>
                <a:latin typeface="Trebuchet MS" panose="020B0603020202020204" pitchFamily="34" charset="0"/>
              </a:rPr>
              <a:t>Although complex data values are represented using objects, Java defines a set of primitive types to represent simple data.</a:t>
            </a:r>
          </a:p>
          <a:p>
            <a:r>
              <a:rPr lang="en-GB" b="0" i="0" u="none" strike="noStrike" baseline="0" dirty="0">
                <a:solidFill>
                  <a:srgbClr val="222222"/>
                </a:solidFill>
                <a:latin typeface="Trebuchet MS" panose="020B0603020202020204" pitchFamily="34" charset="0"/>
              </a:rPr>
              <a:t>Of the eight primitive types available in Java, the programs in this course will use only the following four:</a:t>
            </a:r>
          </a:p>
          <a:p>
            <a:r>
              <a:rPr lang="en-GB" b="1" i="1" dirty="0">
                <a:solidFill>
                  <a:srgbClr val="222222"/>
                </a:solidFill>
                <a:latin typeface="Trebuchet MS" panose="020B0603020202020204" pitchFamily="34" charset="0"/>
              </a:rPr>
              <a:t>I</a:t>
            </a:r>
            <a:r>
              <a:rPr lang="en-GB" b="1" i="1" u="none" strike="noStrike" baseline="0" dirty="0">
                <a:solidFill>
                  <a:srgbClr val="222222"/>
                </a:solidFill>
                <a:latin typeface="Trebuchet MS" panose="020B0603020202020204" pitchFamily="34" charset="0"/>
              </a:rPr>
              <a:t>nt			</a:t>
            </a:r>
            <a:r>
              <a:rPr lang="en-GB" b="0" i="0" u="none" strike="noStrike" baseline="0" dirty="0">
                <a:solidFill>
                  <a:srgbClr val="222222"/>
                </a:solidFill>
                <a:latin typeface="Trebuchet MS" panose="020B0603020202020204" pitchFamily="34" charset="0"/>
              </a:rPr>
              <a:t>This type is used to represent integers, which are whole 					numbers such as 17 or –53.</a:t>
            </a:r>
          </a:p>
          <a:p>
            <a:r>
              <a:rPr lang="en-GB" b="1" i="1" dirty="0">
                <a:solidFill>
                  <a:srgbClr val="222222"/>
                </a:solidFill>
                <a:latin typeface="Trebuchet MS" panose="020B0603020202020204" pitchFamily="34" charset="0"/>
              </a:rPr>
              <a:t>Double</a:t>
            </a:r>
            <a:r>
              <a:rPr lang="en-GB" dirty="0">
                <a:solidFill>
                  <a:srgbClr val="222222"/>
                </a:solidFill>
                <a:latin typeface="Trebuchet MS" panose="020B0603020202020204" pitchFamily="34" charset="0"/>
              </a:rPr>
              <a:t>		This type is used to represent numbers that include a 						decimal fraction, such as 3.14159265.</a:t>
            </a:r>
          </a:p>
          <a:p>
            <a:r>
              <a:rPr lang="en-GB" b="1" i="1" dirty="0">
                <a:solidFill>
                  <a:srgbClr val="222222"/>
                </a:solidFill>
                <a:latin typeface="Trebuchet MS" panose="020B0603020202020204" pitchFamily="34" charset="0"/>
              </a:rPr>
              <a:t>Boolean	</a:t>
            </a:r>
            <a:r>
              <a:rPr lang="en-GB" dirty="0">
                <a:solidFill>
                  <a:srgbClr val="222222"/>
                </a:solidFill>
                <a:latin typeface="Trebuchet MS" panose="020B0603020202020204" pitchFamily="34" charset="0"/>
              </a:rPr>
              <a:t>This type represents a logical value (true or false).</a:t>
            </a:r>
          </a:p>
          <a:p>
            <a:r>
              <a:rPr lang="en-GB" b="1" dirty="0">
                <a:solidFill>
                  <a:srgbClr val="222222"/>
                </a:solidFill>
                <a:latin typeface="Trebuchet MS" panose="020B0603020202020204" pitchFamily="34" charset="0"/>
              </a:rPr>
              <a:t>Char</a:t>
            </a:r>
            <a:r>
              <a:rPr lang="en-GB" dirty="0">
                <a:solidFill>
                  <a:srgbClr val="222222"/>
                </a:solidFill>
                <a:latin typeface="Trebuchet MS" panose="020B0603020202020204" pitchFamily="34" charset="0"/>
              </a:rPr>
              <a:t>		This type represents a single character</a:t>
            </a:r>
          </a:p>
          <a:p>
            <a:r>
              <a:rPr lang="en-GB" b="1" i="1" dirty="0">
                <a:solidFill>
                  <a:srgbClr val="222222"/>
                </a:solidFill>
                <a:latin typeface="Trebuchet MS" panose="020B0603020202020204" pitchFamily="34" charset="0"/>
              </a:rPr>
              <a:t>String</a:t>
            </a:r>
            <a:r>
              <a:rPr lang="en-GB" dirty="0">
                <a:solidFill>
                  <a:srgbClr val="222222"/>
                </a:solidFill>
                <a:latin typeface="Trebuchet MS" panose="020B0603020202020204" pitchFamily="34" charset="0"/>
              </a:rPr>
              <a:t>		This type represents a sequence of characters</a:t>
            </a:r>
          </a:p>
        </p:txBody>
      </p:sp>
    </p:spTree>
    <p:extLst>
      <p:ext uri="{BB962C8B-B14F-4D97-AF65-F5344CB8AC3E}">
        <p14:creationId xmlns:p14="http://schemas.microsoft.com/office/powerpoint/2010/main" val="3326074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07738" y="186102"/>
            <a:ext cx="10018713" cy="695324"/>
          </a:xfrm>
        </p:spPr>
        <p:txBody>
          <a:bodyPr>
            <a:noAutofit/>
          </a:bodyPr>
          <a:lstStyle/>
          <a:p>
            <a:pPr marL="0" indent="0">
              <a:buNone/>
            </a:pPr>
            <a:r>
              <a:rPr lang="en-GB" b="0" i="0" u="none" strike="noStrike" baseline="0" dirty="0">
                <a:solidFill>
                  <a:srgbClr val="000000"/>
                </a:solidFill>
                <a:latin typeface="Trebuchet MS" panose="020B0603020202020204" pitchFamily="34" charset="0"/>
              </a:rPr>
              <a:t>Operators and Operands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948690"/>
            <a:ext cx="10295209" cy="5723208"/>
          </a:xfrm>
        </p:spPr>
        <p:txBody>
          <a:bodyPr>
            <a:noAutofit/>
          </a:bodyPr>
          <a:lstStyle/>
          <a:p>
            <a:r>
              <a:rPr lang="en-GB" dirty="0">
                <a:solidFill>
                  <a:srgbClr val="222222"/>
                </a:solidFill>
                <a:latin typeface="Trebuchet MS" panose="020B0603020202020204" pitchFamily="34" charset="0"/>
              </a:rPr>
              <a:t>As in most languages, Java programs specify computation in the form of </a:t>
            </a:r>
            <a:r>
              <a:rPr lang="en-GB" b="1" i="1" dirty="0">
                <a:solidFill>
                  <a:srgbClr val="222222"/>
                </a:solidFill>
                <a:latin typeface="Trebuchet MS" panose="020B0603020202020204" pitchFamily="34" charset="0"/>
              </a:rPr>
              <a:t>arithmetic expressions </a:t>
            </a:r>
            <a:r>
              <a:rPr lang="en-GB" dirty="0">
                <a:solidFill>
                  <a:srgbClr val="222222"/>
                </a:solidFill>
                <a:latin typeface="Trebuchet MS" panose="020B0603020202020204" pitchFamily="34" charset="0"/>
              </a:rPr>
              <a:t>that closely resemble expressions in mathematics.</a:t>
            </a:r>
          </a:p>
          <a:p>
            <a:endParaRPr lang="en-GB"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Operators in Java usually appear between two subexpressions, which are called its </a:t>
            </a:r>
            <a:r>
              <a:rPr lang="en-GB" b="1" i="1" dirty="0">
                <a:solidFill>
                  <a:srgbClr val="222222"/>
                </a:solidFill>
                <a:latin typeface="Trebuchet MS" panose="020B0603020202020204" pitchFamily="34" charset="0"/>
              </a:rPr>
              <a:t>operands</a:t>
            </a:r>
            <a:r>
              <a:rPr lang="en-GB" dirty="0">
                <a:solidFill>
                  <a:srgbClr val="222222"/>
                </a:solidFill>
                <a:latin typeface="Trebuchet MS" panose="020B0603020202020204" pitchFamily="34" charset="0"/>
              </a:rPr>
              <a:t>.  Operators that take two operands are called </a:t>
            </a:r>
            <a:r>
              <a:rPr lang="en-GB" b="1" i="1" dirty="0">
                <a:solidFill>
                  <a:srgbClr val="222222"/>
                </a:solidFill>
                <a:latin typeface="Trebuchet MS" panose="020B0603020202020204" pitchFamily="34" charset="0"/>
              </a:rPr>
              <a:t>binary operators</a:t>
            </a:r>
            <a:r>
              <a:rPr lang="en-GB" dirty="0">
                <a:solidFill>
                  <a:srgbClr val="222222"/>
                </a:solidFill>
                <a:latin typeface="Trebuchet MS" panose="020B0603020202020204" pitchFamily="34" charset="0"/>
              </a:rPr>
              <a:t>.</a:t>
            </a:r>
          </a:p>
          <a:p>
            <a:r>
              <a:rPr lang="en-GB" dirty="0">
                <a:solidFill>
                  <a:srgbClr val="222222"/>
                </a:solidFill>
                <a:latin typeface="Trebuchet MS" panose="020B0603020202020204" pitchFamily="34" charset="0"/>
              </a:rPr>
              <a:t>The - operator can also appear as a </a:t>
            </a:r>
            <a:r>
              <a:rPr lang="en-GB" b="1" i="1" dirty="0">
                <a:solidFill>
                  <a:srgbClr val="222222"/>
                </a:solidFill>
                <a:latin typeface="Trebuchet MS" panose="020B0603020202020204" pitchFamily="34" charset="0"/>
              </a:rPr>
              <a:t>unary operator</a:t>
            </a:r>
            <a:r>
              <a:rPr lang="en-GB" dirty="0">
                <a:solidFill>
                  <a:srgbClr val="222222"/>
                </a:solidFill>
                <a:latin typeface="Trebuchet MS" panose="020B0603020202020204" pitchFamily="34" charset="0"/>
              </a:rPr>
              <a:t>, as in the expression </a:t>
            </a:r>
            <a:r>
              <a:rPr lang="en-GB" b="1" dirty="0">
                <a:solidFill>
                  <a:srgbClr val="222222"/>
                </a:solidFill>
                <a:latin typeface="Trebuchet MS" panose="020B0603020202020204" pitchFamily="34" charset="0"/>
              </a:rPr>
              <a:t>-x</a:t>
            </a:r>
            <a:r>
              <a:rPr lang="en-GB" dirty="0">
                <a:solidFill>
                  <a:srgbClr val="222222"/>
                </a:solidFill>
                <a:latin typeface="Trebuchet MS" panose="020B0603020202020204" pitchFamily="34" charset="0"/>
              </a:rPr>
              <a:t>, which denotes the negative of </a:t>
            </a:r>
            <a:r>
              <a:rPr lang="en-GB" b="1" dirty="0">
                <a:solidFill>
                  <a:srgbClr val="222222"/>
                </a:solidFill>
                <a:latin typeface="Trebuchet MS" panose="020B0603020202020204" pitchFamily="34" charset="0"/>
              </a:rPr>
              <a:t>x</a:t>
            </a:r>
            <a:r>
              <a:rPr lang="en-GB" dirty="0">
                <a:solidFill>
                  <a:srgbClr val="222222"/>
                </a:solidFill>
                <a:latin typeface="Trebuchet MS" panose="020B0603020202020204" pitchFamily="34" charset="0"/>
              </a:rPr>
              <a:t>.</a:t>
            </a:r>
          </a:p>
        </p:txBody>
      </p:sp>
      <p:grpSp>
        <p:nvGrpSpPr>
          <p:cNvPr id="4" name="Group 4">
            <a:extLst>
              <a:ext uri="{FF2B5EF4-FFF2-40B4-BE49-F238E27FC236}">
                <a16:creationId xmlns:a16="http://schemas.microsoft.com/office/drawing/2014/main" id="{8F712F2A-5D26-1E1C-632A-B549BD47E6E5}"/>
              </a:ext>
            </a:extLst>
          </p:cNvPr>
          <p:cNvGrpSpPr>
            <a:grpSpLocks/>
          </p:cNvGrpSpPr>
          <p:nvPr/>
        </p:nvGrpSpPr>
        <p:grpSpPr bwMode="auto">
          <a:xfrm>
            <a:off x="2167209" y="2501900"/>
            <a:ext cx="9645696" cy="1985963"/>
            <a:chOff x="310" y="1432"/>
            <a:chExt cx="5120" cy="1251"/>
          </a:xfrm>
        </p:grpSpPr>
        <p:sp>
          <p:nvSpPr>
            <p:cNvPr id="5" name="Rectangle 5">
              <a:extLst>
                <a:ext uri="{FF2B5EF4-FFF2-40B4-BE49-F238E27FC236}">
                  <a16:creationId xmlns:a16="http://schemas.microsoft.com/office/drawing/2014/main" id="{DD932764-D7A3-8899-83A9-A2918515A0AD}"/>
                </a:ext>
              </a:extLst>
            </p:cNvPr>
            <p:cNvSpPr>
              <a:spLocks noChangeArrowheads="1"/>
            </p:cNvSpPr>
            <p:nvPr/>
          </p:nvSpPr>
          <p:spPr bwMode="auto">
            <a:xfrm>
              <a:off x="310" y="1432"/>
              <a:ext cx="5120"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just">
                <a:lnSpc>
                  <a:spcPct val="85000"/>
                </a:lnSpc>
                <a:spcBef>
                  <a:spcPct val="0"/>
                </a:spcBef>
                <a:spcAft>
                  <a:spcPct val="25000"/>
                </a:spcAft>
                <a:buNone/>
              </a:pPr>
              <a:r>
                <a:rPr lang="en-US" altLang="en-US" sz="2400" b="0" dirty="0">
                  <a:latin typeface="Trebuchet MS" panose="020B0603020202020204" pitchFamily="34" charset="0"/>
                </a:rPr>
                <a:t>The most common operators in Java are the ones that specify arithmetic computation:</a:t>
              </a:r>
            </a:p>
          </p:txBody>
        </p:sp>
        <p:sp>
          <p:nvSpPr>
            <p:cNvPr id="6" name="Rectangle 6">
              <a:extLst>
                <a:ext uri="{FF2B5EF4-FFF2-40B4-BE49-F238E27FC236}">
                  <a16:creationId xmlns:a16="http://schemas.microsoft.com/office/drawing/2014/main" id="{C760ED5C-4B0F-28D0-A7A9-13F4CF384C5B}"/>
                </a:ext>
              </a:extLst>
            </p:cNvPr>
            <p:cNvSpPr>
              <a:spLocks noChangeArrowheads="1"/>
            </p:cNvSpPr>
            <p:nvPr/>
          </p:nvSpPr>
          <p:spPr bwMode="auto">
            <a:xfrm>
              <a:off x="1080" y="1891"/>
              <a:ext cx="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dirty="0">
                  <a:latin typeface="Trebuchet MS" panose="020B0603020202020204" pitchFamily="34" charset="0"/>
                </a:rPr>
                <a:t>+</a:t>
              </a:r>
            </a:p>
          </p:txBody>
        </p:sp>
        <p:sp>
          <p:nvSpPr>
            <p:cNvPr id="7" name="Text Box 7">
              <a:extLst>
                <a:ext uri="{FF2B5EF4-FFF2-40B4-BE49-F238E27FC236}">
                  <a16:creationId xmlns:a16="http://schemas.microsoft.com/office/drawing/2014/main" id="{23DBB858-7B82-C740-3E23-F04A3C8856C8}"/>
                </a:ext>
              </a:extLst>
            </p:cNvPr>
            <p:cNvSpPr txBox="1">
              <a:spLocks noChangeArrowheads="1"/>
            </p:cNvSpPr>
            <p:nvPr/>
          </p:nvSpPr>
          <p:spPr bwMode="auto">
            <a:xfrm>
              <a:off x="1440" y="1872"/>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0" dirty="0">
                  <a:latin typeface="Trebuchet MS" panose="020B0603020202020204" pitchFamily="34" charset="0"/>
                </a:rPr>
                <a:t>Addition</a:t>
              </a:r>
            </a:p>
          </p:txBody>
        </p:sp>
        <p:sp>
          <p:nvSpPr>
            <p:cNvPr id="8" name="Rectangle 8">
              <a:extLst>
                <a:ext uri="{FF2B5EF4-FFF2-40B4-BE49-F238E27FC236}">
                  <a16:creationId xmlns:a16="http://schemas.microsoft.com/office/drawing/2014/main" id="{4C23AE04-8C6A-066F-E503-811839466742}"/>
                </a:ext>
              </a:extLst>
            </p:cNvPr>
            <p:cNvSpPr>
              <a:spLocks noChangeArrowheads="1"/>
            </p:cNvSpPr>
            <p:nvPr/>
          </p:nvSpPr>
          <p:spPr bwMode="auto">
            <a:xfrm>
              <a:off x="1080" y="2139"/>
              <a:ext cx="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dirty="0">
                  <a:latin typeface="Trebuchet MS" panose="020B0603020202020204" pitchFamily="34" charset="0"/>
                </a:rPr>
                <a:t>–</a:t>
              </a:r>
            </a:p>
          </p:txBody>
        </p:sp>
        <p:sp>
          <p:nvSpPr>
            <p:cNvPr id="9" name="Text Box 9">
              <a:extLst>
                <a:ext uri="{FF2B5EF4-FFF2-40B4-BE49-F238E27FC236}">
                  <a16:creationId xmlns:a16="http://schemas.microsoft.com/office/drawing/2014/main" id="{6BFC694C-D6AB-EC7F-E7F3-4DBA735C985A}"/>
                </a:ext>
              </a:extLst>
            </p:cNvPr>
            <p:cNvSpPr txBox="1">
              <a:spLocks noChangeArrowheads="1"/>
            </p:cNvSpPr>
            <p:nvPr/>
          </p:nvSpPr>
          <p:spPr bwMode="auto">
            <a:xfrm>
              <a:off x="1440" y="2120"/>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0" dirty="0">
                  <a:latin typeface="Trebuchet MS" panose="020B0603020202020204" pitchFamily="34" charset="0"/>
                </a:rPr>
                <a:t>Subtraction</a:t>
              </a:r>
            </a:p>
          </p:txBody>
        </p:sp>
        <p:sp>
          <p:nvSpPr>
            <p:cNvPr id="10" name="Rectangle 10">
              <a:extLst>
                <a:ext uri="{FF2B5EF4-FFF2-40B4-BE49-F238E27FC236}">
                  <a16:creationId xmlns:a16="http://schemas.microsoft.com/office/drawing/2014/main" id="{79F3F52A-A6F4-D39E-1673-19FAEF0F0148}"/>
                </a:ext>
              </a:extLst>
            </p:cNvPr>
            <p:cNvSpPr>
              <a:spLocks noChangeArrowheads="1"/>
            </p:cNvSpPr>
            <p:nvPr/>
          </p:nvSpPr>
          <p:spPr bwMode="auto">
            <a:xfrm>
              <a:off x="3000" y="1891"/>
              <a:ext cx="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dirty="0">
                  <a:latin typeface="Trebuchet MS" panose="020B0603020202020204" pitchFamily="34" charset="0"/>
                </a:rPr>
                <a:t>*</a:t>
              </a:r>
            </a:p>
          </p:txBody>
        </p:sp>
        <p:sp>
          <p:nvSpPr>
            <p:cNvPr id="11" name="Text Box 11">
              <a:extLst>
                <a:ext uri="{FF2B5EF4-FFF2-40B4-BE49-F238E27FC236}">
                  <a16:creationId xmlns:a16="http://schemas.microsoft.com/office/drawing/2014/main" id="{69B99FA7-2A01-62CC-8902-B38BFEAF4DA8}"/>
                </a:ext>
              </a:extLst>
            </p:cNvPr>
            <p:cNvSpPr txBox="1">
              <a:spLocks noChangeArrowheads="1"/>
            </p:cNvSpPr>
            <p:nvPr/>
          </p:nvSpPr>
          <p:spPr bwMode="auto">
            <a:xfrm>
              <a:off x="3360" y="1872"/>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0" dirty="0">
                  <a:latin typeface="Trebuchet MS" panose="020B0603020202020204" pitchFamily="34" charset="0"/>
                </a:rPr>
                <a:t>Multiplication</a:t>
              </a:r>
            </a:p>
          </p:txBody>
        </p:sp>
        <p:sp>
          <p:nvSpPr>
            <p:cNvPr id="12" name="Rectangle 12">
              <a:extLst>
                <a:ext uri="{FF2B5EF4-FFF2-40B4-BE49-F238E27FC236}">
                  <a16:creationId xmlns:a16="http://schemas.microsoft.com/office/drawing/2014/main" id="{87A7EB43-233C-E89E-C5A2-58020AE20826}"/>
                </a:ext>
              </a:extLst>
            </p:cNvPr>
            <p:cNvSpPr>
              <a:spLocks noChangeArrowheads="1"/>
            </p:cNvSpPr>
            <p:nvPr/>
          </p:nvSpPr>
          <p:spPr bwMode="auto">
            <a:xfrm>
              <a:off x="3000" y="2139"/>
              <a:ext cx="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dirty="0">
                  <a:latin typeface="Trebuchet MS" panose="020B0603020202020204" pitchFamily="34" charset="0"/>
                </a:rPr>
                <a:t>/</a:t>
              </a:r>
            </a:p>
          </p:txBody>
        </p:sp>
        <p:sp>
          <p:nvSpPr>
            <p:cNvPr id="13" name="Text Box 13">
              <a:extLst>
                <a:ext uri="{FF2B5EF4-FFF2-40B4-BE49-F238E27FC236}">
                  <a16:creationId xmlns:a16="http://schemas.microsoft.com/office/drawing/2014/main" id="{C70B2644-E4A0-4A35-6429-37A312BCEA9E}"/>
                </a:ext>
              </a:extLst>
            </p:cNvPr>
            <p:cNvSpPr txBox="1">
              <a:spLocks noChangeArrowheads="1"/>
            </p:cNvSpPr>
            <p:nvPr/>
          </p:nvSpPr>
          <p:spPr bwMode="auto">
            <a:xfrm>
              <a:off x="3360" y="2120"/>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0" dirty="0">
                  <a:latin typeface="Trebuchet MS" panose="020B0603020202020204" pitchFamily="34" charset="0"/>
                </a:rPr>
                <a:t>Division</a:t>
              </a:r>
            </a:p>
          </p:txBody>
        </p:sp>
        <p:sp>
          <p:nvSpPr>
            <p:cNvPr id="14" name="Rectangle 14">
              <a:extLst>
                <a:ext uri="{FF2B5EF4-FFF2-40B4-BE49-F238E27FC236}">
                  <a16:creationId xmlns:a16="http://schemas.microsoft.com/office/drawing/2014/main" id="{6218D97A-109A-AC9B-E95C-93A046E7EE8B}"/>
                </a:ext>
              </a:extLst>
            </p:cNvPr>
            <p:cNvSpPr>
              <a:spLocks noChangeArrowheads="1"/>
            </p:cNvSpPr>
            <p:nvPr/>
          </p:nvSpPr>
          <p:spPr bwMode="auto">
            <a:xfrm>
              <a:off x="3000" y="2392"/>
              <a:ext cx="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dirty="0">
                  <a:latin typeface="Trebuchet MS" panose="020B0603020202020204" pitchFamily="34" charset="0"/>
                </a:rPr>
                <a:t>%</a:t>
              </a:r>
            </a:p>
          </p:txBody>
        </p:sp>
        <p:sp>
          <p:nvSpPr>
            <p:cNvPr id="15" name="Text Box 15">
              <a:extLst>
                <a:ext uri="{FF2B5EF4-FFF2-40B4-BE49-F238E27FC236}">
                  <a16:creationId xmlns:a16="http://schemas.microsoft.com/office/drawing/2014/main" id="{102A5388-A47C-3933-313A-931366D31BC0}"/>
                </a:ext>
              </a:extLst>
            </p:cNvPr>
            <p:cNvSpPr txBox="1">
              <a:spLocks noChangeArrowheads="1"/>
            </p:cNvSpPr>
            <p:nvPr/>
          </p:nvSpPr>
          <p:spPr bwMode="auto">
            <a:xfrm>
              <a:off x="3360" y="2373"/>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0" dirty="0">
                  <a:latin typeface="Trebuchet MS" panose="020B0603020202020204" pitchFamily="34" charset="0"/>
                </a:rPr>
                <a:t>Remainder</a:t>
              </a:r>
            </a:p>
          </p:txBody>
        </p:sp>
      </p:grpSp>
    </p:spTree>
    <p:extLst>
      <p:ext uri="{BB962C8B-B14F-4D97-AF65-F5344CB8AC3E}">
        <p14:creationId xmlns:p14="http://schemas.microsoft.com/office/powerpoint/2010/main" val="4153700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07738" y="186102"/>
            <a:ext cx="10018713" cy="573993"/>
          </a:xfrm>
        </p:spPr>
        <p:txBody>
          <a:bodyPr>
            <a:noAutofit/>
          </a:bodyPr>
          <a:lstStyle/>
          <a:p>
            <a:pPr marL="0" indent="0">
              <a:buNone/>
            </a:pPr>
            <a:r>
              <a:rPr lang="en-GB" sz="3600" b="0" i="0" u="none" strike="noStrike" baseline="0" dirty="0">
                <a:solidFill>
                  <a:srgbClr val="000000"/>
                </a:solidFill>
                <a:latin typeface="Trebuchet MS" panose="020B0603020202020204" pitchFamily="34" charset="0"/>
              </a:rPr>
              <a:t>Division and Type Casts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846463"/>
            <a:ext cx="10295209" cy="5955030"/>
          </a:xfrm>
        </p:spPr>
        <p:txBody>
          <a:bodyPr>
            <a:noAutofit/>
          </a:bodyPr>
          <a:lstStyle/>
          <a:p>
            <a:r>
              <a:rPr lang="en-GB" dirty="0">
                <a:solidFill>
                  <a:srgbClr val="222222"/>
                </a:solidFill>
                <a:latin typeface="Trebuchet MS" panose="020B0603020202020204" pitchFamily="34" charset="0"/>
              </a:rPr>
              <a:t>Whenever you apply a binary operator to numeric values in Java, the result will be of type </a:t>
            </a:r>
            <a:r>
              <a:rPr lang="en-GB" b="1" i="1" dirty="0">
                <a:solidFill>
                  <a:srgbClr val="222222"/>
                </a:solidFill>
                <a:latin typeface="Trebuchet MS" panose="020B0603020202020204" pitchFamily="34" charset="0"/>
              </a:rPr>
              <a:t>int</a:t>
            </a:r>
            <a:r>
              <a:rPr lang="en-GB" dirty="0">
                <a:solidFill>
                  <a:srgbClr val="222222"/>
                </a:solidFill>
                <a:latin typeface="Trebuchet MS" panose="020B0603020202020204" pitchFamily="34" charset="0"/>
              </a:rPr>
              <a:t> if both operands are of type </a:t>
            </a:r>
            <a:r>
              <a:rPr lang="en-GB" b="1" i="1" dirty="0">
                <a:solidFill>
                  <a:srgbClr val="222222"/>
                </a:solidFill>
                <a:latin typeface="Trebuchet MS" panose="020B0603020202020204" pitchFamily="34" charset="0"/>
              </a:rPr>
              <a:t>int</a:t>
            </a:r>
            <a:r>
              <a:rPr lang="en-GB" dirty="0">
                <a:solidFill>
                  <a:srgbClr val="222222"/>
                </a:solidFill>
                <a:latin typeface="Trebuchet MS" panose="020B0603020202020204" pitchFamily="34" charset="0"/>
              </a:rPr>
              <a:t>, but will be a </a:t>
            </a:r>
            <a:r>
              <a:rPr lang="en-GB" b="1" i="1" dirty="0">
                <a:solidFill>
                  <a:srgbClr val="222222"/>
                </a:solidFill>
                <a:latin typeface="Trebuchet MS" panose="020B0603020202020204" pitchFamily="34" charset="0"/>
              </a:rPr>
              <a:t>double</a:t>
            </a:r>
            <a:r>
              <a:rPr lang="en-GB" dirty="0">
                <a:solidFill>
                  <a:srgbClr val="222222"/>
                </a:solidFill>
                <a:latin typeface="Trebuchet MS" panose="020B0603020202020204" pitchFamily="34" charset="0"/>
              </a:rPr>
              <a:t> if either operand is a </a:t>
            </a:r>
            <a:r>
              <a:rPr lang="en-GB" b="1" i="1" dirty="0">
                <a:solidFill>
                  <a:srgbClr val="222222"/>
                </a:solidFill>
                <a:latin typeface="Trebuchet MS" panose="020B0603020202020204" pitchFamily="34" charset="0"/>
              </a:rPr>
              <a:t>double</a:t>
            </a:r>
            <a:r>
              <a:rPr lang="en-GB" dirty="0">
                <a:solidFill>
                  <a:srgbClr val="222222"/>
                </a:solidFill>
                <a:latin typeface="Trebuchet MS" panose="020B0603020202020204" pitchFamily="34" charset="0"/>
              </a:rPr>
              <a:t>.</a:t>
            </a:r>
          </a:p>
          <a:p>
            <a:r>
              <a:rPr lang="en-GB" dirty="0">
                <a:solidFill>
                  <a:srgbClr val="222222"/>
                </a:solidFill>
                <a:latin typeface="Trebuchet MS" panose="020B0603020202020204" pitchFamily="34" charset="0"/>
              </a:rPr>
              <a:t>This rule has important consequences in the case of division.  For example, the expression</a:t>
            </a: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seems as if it should have the value 2.8, but because both operands are of type</a:t>
            </a:r>
            <a:r>
              <a:rPr lang="en-GB" b="1" dirty="0">
                <a:solidFill>
                  <a:srgbClr val="222222"/>
                </a:solidFill>
                <a:latin typeface="Trebuchet MS" panose="020B0603020202020204" pitchFamily="34" charset="0"/>
              </a:rPr>
              <a:t> int</a:t>
            </a:r>
            <a:r>
              <a:rPr lang="en-GB" dirty="0">
                <a:solidFill>
                  <a:srgbClr val="222222"/>
                </a:solidFill>
                <a:latin typeface="Trebuchet MS" panose="020B0603020202020204" pitchFamily="34" charset="0"/>
              </a:rPr>
              <a:t>, Java computes an integer result by throwing away the fractional part.  The result is therefore 2.</a:t>
            </a:r>
          </a:p>
          <a:p>
            <a:r>
              <a:rPr lang="en-GB" dirty="0">
                <a:solidFill>
                  <a:srgbClr val="222222"/>
                </a:solidFill>
                <a:latin typeface="Trebuchet MS" panose="020B0603020202020204" pitchFamily="34" charset="0"/>
              </a:rPr>
              <a:t>If you want to obtain the mathematically correct result, you need to convert at least one operand to a double, as in</a:t>
            </a: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The conversion is accomplished by means of a </a:t>
            </a:r>
            <a:r>
              <a:rPr lang="en-GB" b="1" i="1" dirty="0">
                <a:solidFill>
                  <a:srgbClr val="222222"/>
                </a:solidFill>
                <a:latin typeface="Trebuchet MS" panose="020B0603020202020204" pitchFamily="34" charset="0"/>
              </a:rPr>
              <a:t>type cast</a:t>
            </a:r>
            <a:r>
              <a:rPr lang="en-GB" dirty="0">
                <a:solidFill>
                  <a:srgbClr val="222222"/>
                </a:solidFill>
                <a:latin typeface="Trebuchet MS" panose="020B0603020202020204" pitchFamily="34" charset="0"/>
              </a:rPr>
              <a:t>, which consists of a type name in parentheses.</a:t>
            </a:r>
          </a:p>
        </p:txBody>
      </p:sp>
      <p:sp>
        <p:nvSpPr>
          <p:cNvPr id="17" name="Text Box 6">
            <a:extLst>
              <a:ext uri="{FF2B5EF4-FFF2-40B4-BE49-F238E27FC236}">
                <a16:creationId xmlns:a16="http://schemas.microsoft.com/office/drawing/2014/main" id="{E3A48FDF-5759-7E41-0A71-0621D6A38251}"/>
              </a:ext>
            </a:extLst>
          </p:cNvPr>
          <p:cNvSpPr txBox="1">
            <a:spLocks noChangeArrowheads="1"/>
          </p:cNvSpPr>
          <p:nvPr/>
        </p:nvSpPr>
        <p:spPr bwMode="auto">
          <a:xfrm>
            <a:off x="4381500" y="2863191"/>
            <a:ext cx="3429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400" dirty="0">
                <a:latin typeface="Trebuchet MS" panose="020B0603020202020204" pitchFamily="34" charset="0"/>
              </a:rPr>
              <a:t>14 / 5</a:t>
            </a:r>
            <a:endParaRPr lang="en-US" altLang="en-US" sz="2400" b="0" dirty="0">
              <a:latin typeface="Trebuchet MS" panose="020B0603020202020204" pitchFamily="34" charset="0"/>
            </a:endParaRPr>
          </a:p>
        </p:txBody>
      </p:sp>
      <p:sp>
        <p:nvSpPr>
          <p:cNvPr id="18" name="Text Box 6">
            <a:extLst>
              <a:ext uri="{FF2B5EF4-FFF2-40B4-BE49-F238E27FC236}">
                <a16:creationId xmlns:a16="http://schemas.microsoft.com/office/drawing/2014/main" id="{B8D738AD-8931-E01C-9D8C-553B38B141B7}"/>
              </a:ext>
            </a:extLst>
          </p:cNvPr>
          <p:cNvSpPr txBox="1">
            <a:spLocks noChangeArrowheads="1"/>
          </p:cNvSpPr>
          <p:nvPr/>
        </p:nvSpPr>
        <p:spPr bwMode="auto">
          <a:xfrm>
            <a:off x="4381500" y="5541621"/>
            <a:ext cx="3429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400" dirty="0">
                <a:latin typeface="Trebuchet MS" panose="020B0603020202020204" pitchFamily="34" charset="0"/>
              </a:rPr>
              <a:t>(double)14 / 5</a:t>
            </a:r>
            <a:endParaRPr lang="en-US" altLang="en-US" sz="2400" b="0" dirty="0">
              <a:latin typeface="Trebuchet MS" panose="020B0603020202020204" pitchFamily="34" charset="0"/>
            </a:endParaRPr>
          </a:p>
        </p:txBody>
      </p:sp>
    </p:spTree>
    <p:extLst>
      <p:ext uri="{BB962C8B-B14F-4D97-AF65-F5344CB8AC3E}">
        <p14:creationId xmlns:p14="http://schemas.microsoft.com/office/powerpoint/2010/main" val="1310812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07738" y="186102"/>
            <a:ext cx="10018713" cy="573993"/>
          </a:xfrm>
        </p:spPr>
        <p:txBody>
          <a:bodyPr>
            <a:noAutofit/>
          </a:bodyPr>
          <a:lstStyle/>
          <a:p>
            <a:pPr marL="0" indent="0">
              <a:buNone/>
            </a:pPr>
            <a:r>
              <a:rPr lang="en-GB" sz="3600" b="0" i="0" u="none" strike="noStrike" baseline="0" dirty="0">
                <a:solidFill>
                  <a:srgbClr val="000000"/>
                </a:solidFill>
                <a:latin typeface="Trebuchet MS" panose="020B0603020202020204" pitchFamily="34" charset="0"/>
              </a:rPr>
              <a:t>The Remainder Operator</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846463"/>
            <a:ext cx="10295209" cy="5955030"/>
          </a:xfrm>
        </p:spPr>
        <p:txBody>
          <a:bodyPr>
            <a:noAutofit/>
          </a:bodyPr>
          <a:lstStyle/>
          <a:p>
            <a:r>
              <a:rPr lang="en-GB" dirty="0">
                <a:solidFill>
                  <a:srgbClr val="222222"/>
                </a:solidFill>
                <a:latin typeface="Trebuchet MS" panose="020B0603020202020204" pitchFamily="34" charset="0"/>
              </a:rPr>
              <a:t>The only arithmetic operator that has no direct mathematical counterpart is %, which applies only to integer operands and computes the remainder when the first divided by the second:</a:t>
            </a:r>
          </a:p>
          <a:p>
            <a:endParaRPr lang="en-GB"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The result of the % operator make intuitive sense only if both operands are positive.  The examples in the book do not depend on knowing how % works with negative numbers.</a:t>
            </a:r>
          </a:p>
          <a:p>
            <a:r>
              <a:rPr lang="en-GB" dirty="0">
                <a:solidFill>
                  <a:srgbClr val="222222"/>
                </a:solidFill>
                <a:latin typeface="Trebuchet MS" panose="020B0603020202020204" pitchFamily="34" charset="0"/>
              </a:rPr>
              <a:t>The remainder operator turns out to be useful in a surprising number of programming applications and is well worth a bit of study.</a:t>
            </a:r>
          </a:p>
          <a:p>
            <a:pPr marL="0" indent="0">
              <a:buNone/>
            </a:pPr>
            <a:endParaRPr lang="en-GB" dirty="0">
              <a:solidFill>
                <a:srgbClr val="222222"/>
              </a:solidFill>
              <a:latin typeface="Trebuchet MS" panose="020B0603020202020204" pitchFamily="34" charset="0"/>
            </a:endParaRPr>
          </a:p>
        </p:txBody>
      </p:sp>
      <p:sp>
        <p:nvSpPr>
          <p:cNvPr id="4" name="Rectangle 6">
            <a:extLst>
              <a:ext uri="{FF2B5EF4-FFF2-40B4-BE49-F238E27FC236}">
                <a16:creationId xmlns:a16="http://schemas.microsoft.com/office/drawing/2014/main" id="{EB6BB2D6-C797-9EFA-443F-9AE96CD1FB0A}"/>
              </a:ext>
            </a:extLst>
          </p:cNvPr>
          <p:cNvSpPr>
            <a:spLocks noChangeArrowheads="1"/>
          </p:cNvSpPr>
          <p:nvPr/>
        </p:nvSpPr>
        <p:spPr bwMode="auto">
          <a:xfrm>
            <a:off x="4923790" y="2551430"/>
            <a:ext cx="1333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dirty="0">
                <a:latin typeface="Trebuchet MS" panose="020B0603020202020204" pitchFamily="34" charset="0"/>
              </a:rPr>
              <a:t>14 % 5</a:t>
            </a:r>
          </a:p>
        </p:txBody>
      </p:sp>
      <p:sp>
        <p:nvSpPr>
          <p:cNvPr id="5" name="Text Box 7">
            <a:extLst>
              <a:ext uri="{FF2B5EF4-FFF2-40B4-BE49-F238E27FC236}">
                <a16:creationId xmlns:a16="http://schemas.microsoft.com/office/drawing/2014/main" id="{8BB6999E-7D4F-53C9-C023-F43E20A28A9E}"/>
              </a:ext>
            </a:extLst>
          </p:cNvPr>
          <p:cNvSpPr txBox="1">
            <a:spLocks noChangeArrowheads="1"/>
          </p:cNvSpPr>
          <p:nvPr/>
        </p:nvSpPr>
        <p:spPr bwMode="auto">
          <a:xfrm>
            <a:off x="6244590" y="2491105"/>
            <a:ext cx="119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0" i="1" dirty="0">
                <a:latin typeface="Trebuchet MS" panose="020B0603020202020204" pitchFamily="34" charset="0"/>
              </a:rPr>
              <a:t>returns</a:t>
            </a:r>
          </a:p>
        </p:txBody>
      </p:sp>
      <p:sp>
        <p:nvSpPr>
          <p:cNvPr id="6" name="Text Box 8">
            <a:extLst>
              <a:ext uri="{FF2B5EF4-FFF2-40B4-BE49-F238E27FC236}">
                <a16:creationId xmlns:a16="http://schemas.microsoft.com/office/drawing/2014/main" id="{29931EA1-65AC-FAC2-C03A-4AD476673453}"/>
              </a:ext>
            </a:extLst>
          </p:cNvPr>
          <p:cNvSpPr txBox="1">
            <a:spLocks noChangeArrowheads="1"/>
          </p:cNvSpPr>
          <p:nvPr/>
        </p:nvSpPr>
        <p:spPr bwMode="auto">
          <a:xfrm>
            <a:off x="7438390" y="2551430"/>
            <a:ext cx="1193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latin typeface="Trebuchet MS" panose="020B0603020202020204" pitchFamily="34" charset="0"/>
              </a:rPr>
              <a:t>4</a:t>
            </a:r>
          </a:p>
        </p:txBody>
      </p:sp>
      <p:sp>
        <p:nvSpPr>
          <p:cNvPr id="7" name="Rectangle 9">
            <a:extLst>
              <a:ext uri="{FF2B5EF4-FFF2-40B4-BE49-F238E27FC236}">
                <a16:creationId xmlns:a16="http://schemas.microsoft.com/office/drawing/2014/main" id="{28CB744F-31D0-4068-2D7E-78D4C8EDD789}"/>
              </a:ext>
            </a:extLst>
          </p:cNvPr>
          <p:cNvSpPr>
            <a:spLocks noChangeArrowheads="1"/>
          </p:cNvSpPr>
          <p:nvPr/>
        </p:nvSpPr>
        <p:spPr bwMode="auto">
          <a:xfrm>
            <a:off x="4923790" y="2945130"/>
            <a:ext cx="1333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dirty="0">
                <a:latin typeface="Trebuchet MS" panose="020B0603020202020204" pitchFamily="34" charset="0"/>
              </a:rPr>
              <a:t>14 % 7</a:t>
            </a:r>
          </a:p>
        </p:txBody>
      </p:sp>
      <p:sp>
        <p:nvSpPr>
          <p:cNvPr id="8" name="Text Box 10">
            <a:extLst>
              <a:ext uri="{FF2B5EF4-FFF2-40B4-BE49-F238E27FC236}">
                <a16:creationId xmlns:a16="http://schemas.microsoft.com/office/drawing/2014/main" id="{B00ED300-B7A6-D70B-905E-157BE6E97FC9}"/>
              </a:ext>
            </a:extLst>
          </p:cNvPr>
          <p:cNvSpPr txBox="1">
            <a:spLocks noChangeArrowheads="1"/>
          </p:cNvSpPr>
          <p:nvPr/>
        </p:nvSpPr>
        <p:spPr bwMode="auto">
          <a:xfrm>
            <a:off x="6244590" y="2884805"/>
            <a:ext cx="119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0" i="1" dirty="0">
                <a:latin typeface="Trebuchet MS" panose="020B0603020202020204" pitchFamily="34" charset="0"/>
              </a:rPr>
              <a:t>returns</a:t>
            </a:r>
          </a:p>
        </p:txBody>
      </p:sp>
      <p:sp>
        <p:nvSpPr>
          <p:cNvPr id="9" name="Text Box 11">
            <a:extLst>
              <a:ext uri="{FF2B5EF4-FFF2-40B4-BE49-F238E27FC236}">
                <a16:creationId xmlns:a16="http://schemas.microsoft.com/office/drawing/2014/main" id="{292E4B5A-C299-534F-843E-8377D33BDBEE}"/>
              </a:ext>
            </a:extLst>
          </p:cNvPr>
          <p:cNvSpPr txBox="1">
            <a:spLocks noChangeArrowheads="1"/>
          </p:cNvSpPr>
          <p:nvPr/>
        </p:nvSpPr>
        <p:spPr bwMode="auto">
          <a:xfrm>
            <a:off x="7438390" y="2945130"/>
            <a:ext cx="1193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latin typeface="Trebuchet MS" panose="020B0603020202020204" pitchFamily="34" charset="0"/>
              </a:rPr>
              <a:t>0</a:t>
            </a:r>
          </a:p>
        </p:txBody>
      </p:sp>
      <p:sp>
        <p:nvSpPr>
          <p:cNvPr id="10" name="Rectangle 12">
            <a:extLst>
              <a:ext uri="{FF2B5EF4-FFF2-40B4-BE49-F238E27FC236}">
                <a16:creationId xmlns:a16="http://schemas.microsoft.com/office/drawing/2014/main" id="{7850967A-8FD1-DB80-DF7C-7CC4246BE809}"/>
              </a:ext>
            </a:extLst>
          </p:cNvPr>
          <p:cNvSpPr>
            <a:spLocks noChangeArrowheads="1"/>
          </p:cNvSpPr>
          <p:nvPr/>
        </p:nvSpPr>
        <p:spPr bwMode="auto">
          <a:xfrm>
            <a:off x="4923790" y="3338830"/>
            <a:ext cx="1333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dirty="0">
                <a:latin typeface="Trebuchet MS" panose="020B0603020202020204" pitchFamily="34" charset="0"/>
              </a:rPr>
              <a:t>7 % 14</a:t>
            </a:r>
          </a:p>
        </p:txBody>
      </p:sp>
      <p:sp>
        <p:nvSpPr>
          <p:cNvPr id="11" name="Text Box 13">
            <a:extLst>
              <a:ext uri="{FF2B5EF4-FFF2-40B4-BE49-F238E27FC236}">
                <a16:creationId xmlns:a16="http://schemas.microsoft.com/office/drawing/2014/main" id="{A957D4F1-A030-4997-2E7A-6607525E1A7F}"/>
              </a:ext>
            </a:extLst>
          </p:cNvPr>
          <p:cNvSpPr txBox="1">
            <a:spLocks noChangeArrowheads="1"/>
          </p:cNvSpPr>
          <p:nvPr/>
        </p:nvSpPr>
        <p:spPr bwMode="auto">
          <a:xfrm>
            <a:off x="6244590" y="3278505"/>
            <a:ext cx="119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0" i="1" dirty="0">
                <a:latin typeface="Trebuchet MS" panose="020B0603020202020204" pitchFamily="34" charset="0"/>
              </a:rPr>
              <a:t>returns</a:t>
            </a:r>
          </a:p>
        </p:txBody>
      </p:sp>
      <p:sp>
        <p:nvSpPr>
          <p:cNvPr id="12" name="Text Box 14">
            <a:extLst>
              <a:ext uri="{FF2B5EF4-FFF2-40B4-BE49-F238E27FC236}">
                <a16:creationId xmlns:a16="http://schemas.microsoft.com/office/drawing/2014/main" id="{F3CB8581-598D-DB8B-3956-4C353A7392E4}"/>
              </a:ext>
            </a:extLst>
          </p:cNvPr>
          <p:cNvSpPr txBox="1">
            <a:spLocks noChangeArrowheads="1"/>
          </p:cNvSpPr>
          <p:nvPr/>
        </p:nvSpPr>
        <p:spPr bwMode="auto">
          <a:xfrm>
            <a:off x="7438390" y="3338830"/>
            <a:ext cx="1193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latin typeface="Trebuchet MS" panose="020B0603020202020204" pitchFamily="34" charset="0"/>
              </a:rPr>
              <a:t>7</a:t>
            </a:r>
          </a:p>
        </p:txBody>
      </p:sp>
    </p:spTree>
    <p:extLst>
      <p:ext uri="{BB962C8B-B14F-4D97-AF65-F5344CB8AC3E}">
        <p14:creationId xmlns:p14="http://schemas.microsoft.com/office/powerpoint/2010/main" val="1296311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07738" y="186102"/>
            <a:ext cx="10018713" cy="573993"/>
          </a:xfrm>
        </p:spPr>
        <p:txBody>
          <a:bodyPr>
            <a:noAutofit/>
          </a:bodyPr>
          <a:lstStyle/>
          <a:p>
            <a:pPr marL="0" indent="0">
              <a:buNone/>
            </a:pPr>
            <a:r>
              <a:rPr lang="en-GB" sz="3600" b="0" i="0" u="none" strike="noStrike" baseline="0" dirty="0">
                <a:solidFill>
                  <a:srgbClr val="000000"/>
                </a:solidFill>
                <a:latin typeface="Trebuchet MS" panose="020B0603020202020204" pitchFamily="34" charset="0"/>
              </a:rPr>
              <a:t>Precedence</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846463"/>
            <a:ext cx="10295209" cy="5955030"/>
          </a:xfrm>
        </p:spPr>
        <p:txBody>
          <a:bodyPr>
            <a:noAutofit/>
          </a:bodyPr>
          <a:lstStyle/>
          <a:p>
            <a:r>
              <a:rPr lang="en-GB" dirty="0">
                <a:solidFill>
                  <a:srgbClr val="222222"/>
                </a:solidFill>
                <a:latin typeface="Trebuchet MS" panose="020B0603020202020204" pitchFamily="34" charset="0"/>
              </a:rPr>
              <a:t>If an expression contains more than one operator, Java uses </a:t>
            </a:r>
            <a:r>
              <a:rPr lang="en-GB" b="1" dirty="0">
                <a:solidFill>
                  <a:srgbClr val="222222"/>
                </a:solidFill>
                <a:latin typeface="Trebuchet MS" panose="020B0603020202020204" pitchFamily="34" charset="0"/>
              </a:rPr>
              <a:t>precedence rules </a:t>
            </a:r>
            <a:r>
              <a:rPr lang="en-GB" dirty="0">
                <a:solidFill>
                  <a:srgbClr val="222222"/>
                </a:solidFill>
                <a:latin typeface="Trebuchet MS" panose="020B0603020202020204" pitchFamily="34" charset="0"/>
              </a:rPr>
              <a:t>to determine the order of evaluation.  The arithmetic operators have the following relative precedence:</a:t>
            </a:r>
          </a:p>
          <a:p>
            <a:endParaRPr lang="en-GB"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Thus, Java evaluates unary - operators and type casts first, then the operators *, /, and %, and then the operators + and -.</a:t>
            </a:r>
          </a:p>
          <a:p>
            <a:r>
              <a:rPr lang="en-GB" dirty="0">
                <a:solidFill>
                  <a:srgbClr val="222222"/>
                </a:solidFill>
                <a:latin typeface="Trebuchet MS" panose="020B0603020202020204" pitchFamily="34" charset="0"/>
              </a:rPr>
              <a:t>Precedence applies only when two operands compete for the same operator.  If the operators are independent, Java evaluates expressions from left to right.</a:t>
            </a:r>
          </a:p>
          <a:p>
            <a:r>
              <a:rPr lang="en-GB" dirty="0">
                <a:solidFill>
                  <a:srgbClr val="222222"/>
                </a:solidFill>
                <a:latin typeface="Trebuchet MS" panose="020B0603020202020204" pitchFamily="34" charset="0"/>
              </a:rPr>
              <a:t>Parentheses may be used to change the order of operations.</a:t>
            </a:r>
          </a:p>
        </p:txBody>
      </p:sp>
      <p:sp>
        <p:nvSpPr>
          <p:cNvPr id="13" name="Rectangle 4">
            <a:extLst>
              <a:ext uri="{FF2B5EF4-FFF2-40B4-BE49-F238E27FC236}">
                <a16:creationId xmlns:a16="http://schemas.microsoft.com/office/drawing/2014/main" id="{1D93129E-F7D9-B84E-76A3-E86CCE63C159}"/>
              </a:ext>
            </a:extLst>
          </p:cNvPr>
          <p:cNvSpPr>
            <a:spLocks noChangeArrowheads="1"/>
          </p:cNvSpPr>
          <p:nvPr/>
        </p:nvSpPr>
        <p:spPr bwMode="auto">
          <a:xfrm>
            <a:off x="4191000" y="2356485"/>
            <a:ext cx="38100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0" i="1" dirty="0">
                <a:latin typeface="Trebuchet MS" panose="020B0603020202020204" pitchFamily="34" charset="0"/>
              </a:rPr>
              <a:t>      unary</a:t>
            </a:r>
            <a:r>
              <a:rPr lang="en-US" altLang="en-US" sz="2400" b="0" dirty="0">
                <a:latin typeface="Trebuchet MS" panose="020B0603020202020204" pitchFamily="34" charset="0"/>
              </a:rPr>
              <a:t> -     (</a:t>
            </a:r>
            <a:r>
              <a:rPr lang="en-US" altLang="en-US" sz="2400" b="0" i="1" dirty="0">
                <a:latin typeface="Trebuchet MS" panose="020B0603020202020204" pitchFamily="34" charset="0"/>
              </a:rPr>
              <a:t>type cast</a:t>
            </a:r>
            <a:r>
              <a:rPr lang="en-US" altLang="en-US" sz="2400" b="0" dirty="0">
                <a:latin typeface="Trebuchet MS" panose="020B0603020202020204" pitchFamily="34" charset="0"/>
              </a:rPr>
              <a:t>)  </a:t>
            </a:r>
          </a:p>
        </p:txBody>
      </p:sp>
      <p:sp>
        <p:nvSpPr>
          <p:cNvPr id="14" name="Rectangle 5">
            <a:extLst>
              <a:ext uri="{FF2B5EF4-FFF2-40B4-BE49-F238E27FC236}">
                <a16:creationId xmlns:a16="http://schemas.microsoft.com/office/drawing/2014/main" id="{7891C378-5256-8ADF-9A1E-7A876C31CC20}"/>
              </a:ext>
            </a:extLst>
          </p:cNvPr>
          <p:cNvSpPr>
            <a:spLocks noChangeArrowheads="1"/>
          </p:cNvSpPr>
          <p:nvPr/>
        </p:nvSpPr>
        <p:spPr bwMode="auto">
          <a:xfrm>
            <a:off x="4191000" y="2889885"/>
            <a:ext cx="38100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dirty="0">
                <a:latin typeface="Trebuchet MS" panose="020B0603020202020204" pitchFamily="34" charset="0"/>
              </a:rPr>
              <a:t>*    /    %</a:t>
            </a:r>
          </a:p>
        </p:txBody>
      </p:sp>
      <p:sp>
        <p:nvSpPr>
          <p:cNvPr id="15" name="Rectangle 6">
            <a:extLst>
              <a:ext uri="{FF2B5EF4-FFF2-40B4-BE49-F238E27FC236}">
                <a16:creationId xmlns:a16="http://schemas.microsoft.com/office/drawing/2014/main" id="{0C6E4D4F-8CFE-A7BF-9CC6-634B76FF2668}"/>
              </a:ext>
            </a:extLst>
          </p:cNvPr>
          <p:cNvSpPr>
            <a:spLocks noChangeArrowheads="1"/>
          </p:cNvSpPr>
          <p:nvPr/>
        </p:nvSpPr>
        <p:spPr bwMode="auto">
          <a:xfrm>
            <a:off x="4191000" y="3423285"/>
            <a:ext cx="38100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dirty="0">
                <a:latin typeface="Trebuchet MS" panose="020B0603020202020204" pitchFamily="34" charset="0"/>
              </a:rPr>
              <a:t>+    -</a:t>
            </a:r>
            <a:endParaRPr lang="en-US" altLang="en-US" sz="2400" b="0" dirty="0">
              <a:latin typeface="Trebuchet MS" panose="020B0603020202020204" pitchFamily="34" charset="0"/>
            </a:endParaRPr>
          </a:p>
        </p:txBody>
      </p:sp>
      <p:sp>
        <p:nvSpPr>
          <p:cNvPr id="16" name="Rectangle 7">
            <a:extLst>
              <a:ext uri="{FF2B5EF4-FFF2-40B4-BE49-F238E27FC236}">
                <a16:creationId xmlns:a16="http://schemas.microsoft.com/office/drawing/2014/main" id="{DD1CEE4D-122F-A613-8461-6ED31F43034C}"/>
              </a:ext>
            </a:extLst>
          </p:cNvPr>
          <p:cNvSpPr>
            <a:spLocks noChangeArrowheads="1"/>
          </p:cNvSpPr>
          <p:nvPr/>
        </p:nvSpPr>
        <p:spPr bwMode="auto">
          <a:xfrm>
            <a:off x="8153400" y="2242185"/>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b="0" i="1" dirty="0">
                <a:latin typeface="Trebuchet MS" panose="020B0603020202020204" pitchFamily="34" charset="0"/>
              </a:rPr>
              <a:t>highest</a:t>
            </a:r>
          </a:p>
        </p:txBody>
      </p:sp>
      <p:sp>
        <p:nvSpPr>
          <p:cNvPr id="17" name="Rectangle 8">
            <a:extLst>
              <a:ext uri="{FF2B5EF4-FFF2-40B4-BE49-F238E27FC236}">
                <a16:creationId xmlns:a16="http://schemas.microsoft.com/office/drawing/2014/main" id="{1134E1A5-99F0-BA78-A9BA-94DFB0852BE5}"/>
              </a:ext>
            </a:extLst>
          </p:cNvPr>
          <p:cNvSpPr>
            <a:spLocks noChangeArrowheads="1"/>
          </p:cNvSpPr>
          <p:nvPr/>
        </p:nvSpPr>
        <p:spPr bwMode="auto">
          <a:xfrm>
            <a:off x="8153400" y="3651885"/>
            <a:ext cx="1066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b="0" i="1" dirty="0">
                <a:latin typeface="Trebuchet MS" panose="020B0603020202020204" pitchFamily="34" charset="0"/>
              </a:rPr>
              <a:t>lowest</a:t>
            </a:r>
          </a:p>
        </p:txBody>
      </p:sp>
      <p:cxnSp>
        <p:nvCxnSpPr>
          <p:cNvPr id="18" name="AutoShape 9">
            <a:extLst>
              <a:ext uri="{FF2B5EF4-FFF2-40B4-BE49-F238E27FC236}">
                <a16:creationId xmlns:a16="http://schemas.microsoft.com/office/drawing/2014/main" id="{B1181291-153B-2F2D-D5E5-97E524C1CB4C}"/>
              </a:ext>
            </a:extLst>
          </p:cNvPr>
          <p:cNvCxnSpPr>
            <a:cxnSpLocks noChangeShapeType="1"/>
          </p:cNvCxnSpPr>
          <p:nvPr/>
        </p:nvCxnSpPr>
        <p:spPr bwMode="auto">
          <a:xfrm>
            <a:off x="8686800" y="2599373"/>
            <a:ext cx="1588" cy="1122362"/>
          </a:xfrm>
          <a:prstGeom prst="straightConnector1">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795275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07738" y="186102"/>
            <a:ext cx="10018713" cy="573993"/>
          </a:xfrm>
        </p:spPr>
        <p:txBody>
          <a:bodyPr>
            <a:noAutofit/>
          </a:bodyPr>
          <a:lstStyle/>
          <a:p>
            <a:pPr marL="0" indent="0">
              <a:buNone/>
            </a:pPr>
            <a:r>
              <a:rPr lang="en-GB" sz="3600" b="0" i="0" u="none" strike="noStrike" baseline="0" dirty="0">
                <a:solidFill>
                  <a:srgbClr val="000000"/>
                </a:solidFill>
                <a:latin typeface="Trebuchet MS" panose="020B0603020202020204" pitchFamily="34" charset="0"/>
              </a:rPr>
              <a:t>Assignment Statements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846463"/>
            <a:ext cx="10295209" cy="5955030"/>
          </a:xfrm>
        </p:spPr>
        <p:txBody>
          <a:bodyPr>
            <a:noAutofit/>
          </a:bodyPr>
          <a:lstStyle/>
          <a:p>
            <a:r>
              <a:rPr lang="en-GB" dirty="0">
                <a:solidFill>
                  <a:srgbClr val="222222"/>
                </a:solidFill>
                <a:latin typeface="Trebuchet MS" panose="020B0603020202020204" pitchFamily="34" charset="0"/>
              </a:rPr>
              <a:t>You can change the value of a variable in your program by using an assignment statement, which has the general form:</a:t>
            </a:r>
          </a:p>
          <a:p>
            <a:endParaRPr lang="en-GB"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The effect of an assignment statement is to compute the value of the expression on the right side of the equal sign and assign that value to the variable that appears on the left.  Thus, the assignment statement</a:t>
            </a: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adds together the current values of the variables total and value and then stores that sum back in the variable total.</a:t>
            </a:r>
          </a:p>
          <a:p>
            <a:r>
              <a:rPr lang="en-GB" dirty="0">
                <a:solidFill>
                  <a:srgbClr val="222222"/>
                </a:solidFill>
                <a:latin typeface="Trebuchet MS" panose="020B0603020202020204" pitchFamily="34" charset="0"/>
              </a:rPr>
              <a:t>When you assign a new value to a variable, the old value of that variable is lost. </a:t>
            </a:r>
          </a:p>
        </p:txBody>
      </p:sp>
      <p:sp>
        <p:nvSpPr>
          <p:cNvPr id="5" name="Rectangle 3">
            <a:extLst>
              <a:ext uri="{FF2B5EF4-FFF2-40B4-BE49-F238E27FC236}">
                <a16:creationId xmlns:a16="http://schemas.microsoft.com/office/drawing/2014/main" id="{4F18F86D-35D2-5B2E-8980-AB1104249783}"/>
              </a:ext>
            </a:extLst>
          </p:cNvPr>
          <p:cNvSpPr>
            <a:spLocks noChangeArrowheads="1"/>
          </p:cNvSpPr>
          <p:nvPr/>
        </p:nvSpPr>
        <p:spPr bwMode="auto">
          <a:xfrm>
            <a:off x="3262630" y="2027555"/>
            <a:ext cx="6553200" cy="7620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 name="Text Box 4">
            <a:extLst>
              <a:ext uri="{FF2B5EF4-FFF2-40B4-BE49-F238E27FC236}">
                <a16:creationId xmlns:a16="http://schemas.microsoft.com/office/drawing/2014/main" id="{7C8C2C82-4D2A-B0B5-8BC9-5AFA7141140F}"/>
              </a:ext>
            </a:extLst>
          </p:cNvPr>
          <p:cNvSpPr txBox="1">
            <a:spLocks noChangeArrowheads="1"/>
          </p:cNvSpPr>
          <p:nvPr/>
        </p:nvSpPr>
        <p:spPr bwMode="auto">
          <a:xfrm>
            <a:off x="3440430" y="2179955"/>
            <a:ext cx="6248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0" i="1" dirty="0">
                <a:latin typeface="Trebuchet MS" panose="020B0603020202020204" pitchFamily="34" charset="0"/>
              </a:rPr>
              <a:t>variable</a:t>
            </a:r>
            <a:r>
              <a:rPr lang="en-US" altLang="en-US" sz="2400" dirty="0">
                <a:latin typeface="Trebuchet MS" panose="020B0603020202020204" pitchFamily="34" charset="0"/>
              </a:rPr>
              <a:t> = </a:t>
            </a:r>
            <a:r>
              <a:rPr lang="en-US" altLang="en-US" sz="2400" b="0" i="1" dirty="0">
                <a:latin typeface="Trebuchet MS" panose="020B0603020202020204" pitchFamily="34" charset="0"/>
              </a:rPr>
              <a:t>expression</a:t>
            </a:r>
            <a:r>
              <a:rPr lang="en-US" altLang="en-US" sz="2400" dirty="0">
                <a:latin typeface="Trebuchet MS" panose="020B0603020202020204" pitchFamily="34" charset="0"/>
              </a:rPr>
              <a:t>;</a:t>
            </a:r>
          </a:p>
        </p:txBody>
      </p:sp>
      <p:sp>
        <p:nvSpPr>
          <p:cNvPr id="7" name="Text Box 8">
            <a:extLst>
              <a:ext uri="{FF2B5EF4-FFF2-40B4-BE49-F238E27FC236}">
                <a16:creationId xmlns:a16="http://schemas.microsoft.com/office/drawing/2014/main" id="{E252D2E6-9CC8-E316-2651-F66AA44E3982}"/>
              </a:ext>
            </a:extLst>
          </p:cNvPr>
          <p:cNvSpPr txBox="1">
            <a:spLocks noChangeArrowheads="1"/>
          </p:cNvSpPr>
          <p:nvPr/>
        </p:nvSpPr>
        <p:spPr bwMode="auto">
          <a:xfrm>
            <a:off x="4145280" y="4314825"/>
            <a:ext cx="716280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pPr>
            <a:r>
              <a:rPr lang="en-US" altLang="en-US" sz="2400" dirty="0">
                <a:latin typeface="Trebuchet MS" panose="020B0603020202020204" pitchFamily="34" charset="0"/>
              </a:rPr>
              <a:t>total = total + value;</a:t>
            </a:r>
          </a:p>
        </p:txBody>
      </p:sp>
    </p:spTree>
    <p:extLst>
      <p:ext uri="{BB962C8B-B14F-4D97-AF65-F5344CB8AC3E}">
        <p14:creationId xmlns:p14="http://schemas.microsoft.com/office/powerpoint/2010/main" val="341911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07738" y="186102"/>
            <a:ext cx="10018713" cy="573993"/>
          </a:xfrm>
        </p:spPr>
        <p:txBody>
          <a:bodyPr>
            <a:noAutofit/>
          </a:bodyPr>
          <a:lstStyle/>
          <a:p>
            <a:pPr marL="0" indent="0">
              <a:buNone/>
            </a:pPr>
            <a:r>
              <a:rPr lang="en-GB" sz="3600" b="0" i="0" u="none" strike="noStrike" baseline="0" dirty="0">
                <a:solidFill>
                  <a:srgbClr val="000000"/>
                </a:solidFill>
                <a:latin typeface="Trebuchet MS" panose="020B0603020202020204" pitchFamily="34" charset="0"/>
              </a:rPr>
              <a:t>Shorthand Assignments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846463"/>
            <a:ext cx="10295209" cy="5955030"/>
          </a:xfrm>
        </p:spPr>
        <p:txBody>
          <a:bodyPr>
            <a:noAutofit/>
          </a:bodyPr>
          <a:lstStyle/>
          <a:p>
            <a:r>
              <a:rPr lang="en-GB" dirty="0">
                <a:solidFill>
                  <a:srgbClr val="222222"/>
                </a:solidFill>
                <a:latin typeface="Trebuchet MS" panose="020B0603020202020204" pitchFamily="34" charset="0"/>
              </a:rPr>
              <a:t>Statements such as</a:t>
            </a: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are so common that Java allows the following shorthand form:</a:t>
            </a:r>
          </a:p>
          <a:p>
            <a:endParaRPr lang="en-GB" dirty="0">
              <a:solidFill>
                <a:srgbClr val="222222"/>
              </a:solidFill>
              <a:latin typeface="Trebuchet MS" panose="020B0603020202020204" pitchFamily="34" charset="0"/>
            </a:endParaRPr>
          </a:p>
          <a:p>
            <a:r>
              <a:rPr lang="en-US" altLang="en-US" sz="2400" b="0" dirty="0">
                <a:latin typeface="Trebuchet MS" panose="020B0603020202020204" pitchFamily="34" charset="0"/>
              </a:rPr>
              <a:t>The general form of a </a:t>
            </a:r>
            <a:r>
              <a:rPr lang="en-US" altLang="en-US" sz="2400" b="1" i="1" dirty="0">
                <a:latin typeface="Trebuchet MS" panose="020B0603020202020204" pitchFamily="34" charset="0"/>
              </a:rPr>
              <a:t>shorthand assignment</a:t>
            </a:r>
            <a:r>
              <a:rPr lang="en-US" altLang="en-US" sz="2400" b="1" dirty="0">
                <a:latin typeface="Trebuchet MS" panose="020B0603020202020204" pitchFamily="34" charset="0"/>
              </a:rPr>
              <a:t> </a:t>
            </a:r>
            <a:r>
              <a:rPr lang="en-US" altLang="en-US" sz="2400" b="0" dirty="0">
                <a:latin typeface="Trebuchet MS" panose="020B0603020202020204" pitchFamily="34" charset="0"/>
              </a:rPr>
              <a:t>is</a:t>
            </a:r>
          </a:p>
          <a:p>
            <a:endParaRPr lang="en-US"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where </a:t>
            </a:r>
            <a:r>
              <a:rPr lang="en-GB" b="1" i="1" dirty="0">
                <a:solidFill>
                  <a:srgbClr val="222222"/>
                </a:solidFill>
                <a:latin typeface="Trebuchet MS" panose="020B0603020202020204" pitchFamily="34" charset="0"/>
              </a:rPr>
              <a:t>op</a:t>
            </a:r>
            <a:r>
              <a:rPr lang="en-GB" dirty="0">
                <a:solidFill>
                  <a:srgbClr val="222222"/>
                </a:solidFill>
                <a:latin typeface="Trebuchet MS" panose="020B0603020202020204" pitchFamily="34" charset="0"/>
              </a:rPr>
              <a:t> is any of Java’s binary operators.  The effect of this statement is the same as</a:t>
            </a: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For example, the following statement multiplies salary by 2.</a:t>
            </a:r>
          </a:p>
          <a:p>
            <a:endParaRPr lang="en-GB" dirty="0">
              <a:solidFill>
                <a:srgbClr val="222222"/>
              </a:solidFill>
              <a:latin typeface="Trebuchet MS" panose="020B0603020202020204" pitchFamily="34" charset="0"/>
            </a:endParaRPr>
          </a:p>
        </p:txBody>
      </p:sp>
      <p:sp>
        <p:nvSpPr>
          <p:cNvPr id="4" name="Text Box 8">
            <a:extLst>
              <a:ext uri="{FF2B5EF4-FFF2-40B4-BE49-F238E27FC236}">
                <a16:creationId xmlns:a16="http://schemas.microsoft.com/office/drawing/2014/main" id="{E252D2E6-9CC8-E316-2651-F66AA44E3982}"/>
              </a:ext>
            </a:extLst>
          </p:cNvPr>
          <p:cNvSpPr txBox="1">
            <a:spLocks noChangeArrowheads="1"/>
          </p:cNvSpPr>
          <p:nvPr/>
        </p:nvSpPr>
        <p:spPr bwMode="auto">
          <a:xfrm>
            <a:off x="3616960" y="1372885"/>
            <a:ext cx="716280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pPr>
            <a:r>
              <a:rPr lang="en-US" altLang="en-US" sz="2400" dirty="0">
                <a:latin typeface="Trebuchet MS" panose="020B0603020202020204" pitchFamily="34" charset="0"/>
              </a:rPr>
              <a:t>total = total + value;</a:t>
            </a:r>
          </a:p>
        </p:txBody>
      </p:sp>
      <p:sp>
        <p:nvSpPr>
          <p:cNvPr id="8" name="Text Box 6">
            <a:extLst>
              <a:ext uri="{FF2B5EF4-FFF2-40B4-BE49-F238E27FC236}">
                <a16:creationId xmlns:a16="http://schemas.microsoft.com/office/drawing/2014/main" id="{666B11DE-22E3-AFEB-BA1D-7F3AAFF79C24}"/>
              </a:ext>
            </a:extLst>
          </p:cNvPr>
          <p:cNvSpPr txBox="1">
            <a:spLocks noChangeArrowheads="1"/>
          </p:cNvSpPr>
          <p:nvPr/>
        </p:nvSpPr>
        <p:spPr bwMode="auto">
          <a:xfrm>
            <a:off x="3616960" y="2408705"/>
            <a:ext cx="716280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pPr>
            <a:r>
              <a:rPr lang="en-US" altLang="en-US" sz="2400" dirty="0">
                <a:latin typeface="Trebuchet MS" panose="020B0603020202020204" pitchFamily="34" charset="0"/>
              </a:rPr>
              <a:t>total += value;</a:t>
            </a:r>
          </a:p>
        </p:txBody>
      </p:sp>
      <p:sp>
        <p:nvSpPr>
          <p:cNvPr id="10" name="Text Box 9">
            <a:extLst>
              <a:ext uri="{FF2B5EF4-FFF2-40B4-BE49-F238E27FC236}">
                <a16:creationId xmlns:a16="http://schemas.microsoft.com/office/drawing/2014/main" id="{F082E53D-AA68-04C7-FE9F-93EF845AB0B2}"/>
              </a:ext>
            </a:extLst>
          </p:cNvPr>
          <p:cNvSpPr txBox="1">
            <a:spLocks noChangeArrowheads="1"/>
          </p:cNvSpPr>
          <p:nvPr/>
        </p:nvSpPr>
        <p:spPr bwMode="auto">
          <a:xfrm>
            <a:off x="3794760" y="3581400"/>
            <a:ext cx="6248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0" i="1" dirty="0">
                <a:latin typeface="Trebuchet MS" panose="020B0603020202020204" pitchFamily="34" charset="0"/>
              </a:rPr>
              <a:t>variable</a:t>
            </a:r>
            <a:r>
              <a:rPr lang="en-US" altLang="en-US" sz="2400" dirty="0">
                <a:latin typeface="Trebuchet MS" panose="020B0603020202020204" pitchFamily="34" charset="0"/>
              </a:rPr>
              <a:t> </a:t>
            </a:r>
            <a:r>
              <a:rPr lang="en-US" altLang="en-US" sz="2400" b="0" i="1" dirty="0">
                <a:latin typeface="Trebuchet MS" panose="020B0603020202020204" pitchFamily="34" charset="0"/>
              </a:rPr>
              <a:t>op</a:t>
            </a:r>
            <a:r>
              <a:rPr lang="en-US" altLang="en-US" sz="2400" dirty="0">
                <a:latin typeface="Trebuchet MS" panose="020B0603020202020204" pitchFamily="34" charset="0"/>
              </a:rPr>
              <a:t>= </a:t>
            </a:r>
            <a:r>
              <a:rPr lang="en-US" altLang="en-US" sz="2400" b="0" i="1" dirty="0">
                <a:latin typeface="Trebuchet MS" panose="020B0603020202020204" pitchFamily="34" charset="0"/>
              </a:rPr>
              <a:t>expression</a:t>
            </a:r>
            <a:r>
              <a:rPr lang="en-US" altLang="en-US" sz="2400" dirty="0">
                <a:latin typeface="Trebuchet MS" panose="020B0603020202020204" pitchFamily="34" charset="0"/>
              </a:rPr>
              <a:t>;</a:t>
            </a:r>
          </a:p>
        </p:txBody>
      </p:sp>
      <p:sp>
        <p:nvSpPr>
          <p:cNvPr id="11" name="Text Box 12">
            <a:extLst>
              <a:ext uri="{FF2B5EF4-FFF2-40B4-BE49-F238E27FC236}">
                <a16:creationId xmlns:a16="http://schemas.microsoft.com/office/drawing/2014/main" id="{E7253CA7-C88E-7B6A-8ECB-89763FADF4BE}"/>
              </a:ext>
            </a:extLst>
          </p:cNvPr>
          <p:cNvSpPr txBox="1">
            <a:spLocks noChangeArrowheads="1"/>
          </p:cNvSpPr>
          <p:nvPr/>
        </p:nvSpPr>
        <p:spPr bwMode="auto">
          <a:xfrm>
            <a:off x="3616960" y="5336690"/>
            <a:ext cx="716280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pPr>
            <a:r>
              <a:rPr lang="en-US" altLang="en-US" sz="2400" b="0" i="1" dirty="0">
                <a:latin typeface="Trebuchet MS" panose="020B0603020202020204" pitchFamily="34" charset="0"/>
              </a:rPr>
              <a:t>variable</a:t>
            </a:r>
            <a:r>
              <a:rPr lang="en-US" altLang="en-US" sz="2400" dirty="0">
                <a:latin typeface="Trebuchet MS" panose="020B0603020202020204" pitchFamily="34" charset="0"/>
              </a:rPr>
              <a:t> = </a:t>
            </a:r>
            <a:r>
              <a:rPr lang="en-US" altLang="en-US" sz="2400" b="0" i="1" dirty="0">
                <a:latin typeface="Trebuchet MS" panose="020B0603020202020204" pitchFamily="34" charset="0"/>
              </a:rPr>
              <a:t>variable</a:t>
            </a:r>
            <a:r>
              <a:rPr lang="en-US" altLang="en-US" sz="2400" dirty="0">
                <a:latin typeface="Trebuchet MS" panose="020B0603020202020204" pitchFamily="34" charset="0"/>
              </a:rPr>
              <a:t> </a:t>
            </a:r>
            <a:r>
              <a:rPr lang="en-US" altLang="en-US" sz="2400" b="0" i="1" dirty="0">
                <a:latin typeface="Trebuchet MS" panose="020B0603020202020204" pitchFamily="34" charset="0"/>
              </a:rPr>
              <a:t>op</a:t>
            </a:r>
            <a:r>
              <a:rPr lang="en-US" altLang="en-US" sz="2400" dirty="0">
                <a:latin typeface="Trebuchet MS" panose="020B0603020202020204" pitchFamily="34" charset="0"/>
              </a:rPr>
              <a:t> (</a:t>
            </a:r>
            <a:r>
              <a:rPr lang="en-US" altLang="en-US" sz="2400" b="0" i="1" dirty="0">
                <a:latin typeface="Trebuchet MS" panose="020B0603020202020204" pitchFamily="34" charset="0"/>
              </a:rPr>
              <a:t>expression</a:t>
            </a:r>
            <a:r>
              <a:rPr lang="en-US" altLang="en-US" sz="2400" dirty="0">
                <a:latin typeface="Trebuchet MS" panose="020B0603020202020204" pitchFamily="34" charset="0"/>
              </a:rPr>
              <a:t>);</a:t>
            </a:r>
          </a:p>
        </p:txBody>
      </p:sp>
      <p:sp>
        <p:nvSpPr>
          <p:cNvPr id="12" name="Text Box 14">
            <a:extLst>
              <a:ext uri="{FF2B5EF4-FFF2-40B4-BE49-F238E27FC236}">
                <a16:creationId xmlns:a16="http://schemas.microsoft.com/office/drawing/2014/main" id="{0E693B53-777C-60D4-7894-667725F18831}"/>
              </a:ext>
            </a:extLst>
          </p:cNvPr>
          <p:cNvSpPr txBox="1">
            <a:spLocks noChangeArrowheads="1"/>
          </p:cNvSpPr>
          <p:nvPr/>
        </p:nvSpPr>
        <p:spPr bwMode="auto">
          <a:xfrm>
            <a:off x="3616960" y="6333952"/>
            <a:ext cx="716280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pPr>
            <a:r>
              <a:rPr lang="en-US" altLang="en-US" sz="2400" dirty="0">
                <a:latin typeface="Trebuchet MS" panose="020B0603020202020204" pitchFamily="34" charset="0"/>
              </a:rPr>
              <a:t>salary *= 2;</a:t>
            </a:r>
          </a:p>
        </p:txBody>
      </p:sp>
    </p:spTree>
    <p:extLst>
      <p:ext uri="{BB962C8B-B14F-4D97-AF65-F5344CB8AC3E}">
        <p14:creationId xmlns:p14="http://schemas.microsoft.com/office/powerpoint/2010/main" val="2409425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07738" y="186102"/>
            <a:ext cx="10018713" cy="573993"/>
          </a:xfrm>
        </p:spPr>
        <p:txBody>
          <a:bodyPr>
            <a:noAutofit/>
          </a:bodyPr>
          <a:lstStyle/>
          <a:p>
            <a:pPr marL="0" indent="0">
              <a:buNone/>
            </a:pPr>
            <a:r>
              <a:rPr lang="en-GB" sz="3600" b="0" i="0" u="none" strike="noStrike" baseline="0" dirty="0">
                <a:solidFill>
                  <a:srgbClr val="000000"/>
                </a:solidFill>
                <a:latin typeface="Trebuchet MS" panose="020B0603020202020204" pitchFamily="34" charset="0"/>
              </a:rPr>
              <a:t>Increment and Decrement Operators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846463"/>
            <a:ext cx="10295209" cy="5955030"/>
          </a:xfrm>
        </p:spPr>
        <p:txBody>
          <a:bodyPr>
            <a:noAutofit/>
          </a:bodyPr>
          <a:lstStyle/>
          <a:p>
            <a:r>
              <a:rPr lang="en-GB" dirty="0">
                <a:solidFill>
                  <a:srgbClr val="222222"/>
                </a:solidFill>
                <a:latin typeface="Trebuchet MS" panose="020B0603020202020204" pitchFamily="34" charset="0"/>
              </a:rPr>
              <a:t>Another important shorthand form that appears frequently in Java programs is the </a:t>
            </a:r>
            <a:r>
              <a:rPr lang="en-GB" b="1" i="1" dirty="0">
                <a:solidFill>
                  <a:srgbClr val="222222"/>
                </a:solidFill>
                <a:latin typeface="Trebuchet MS" panose="020B0603020202020204" pitchFamily="34" charset="0"/>
              </a:rPr>
              <a:t>increment operator</a:t>
            </a:r>
            <a:r>
              <a:rPr lang="en-GB" dirty="0">
                <a:solidFill>
                  <a:srgbClr val="222222"/>
                </a:solidFill>
                <a:latin typeface="Trebuchet MS" panose="020B0603020202020204" pitchFamily="34" charset="0"/>
              </a:rPr>
              <a:t>, which is most commonly written immediately after a variable, like this:</a:t>
            </a: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The effect of this statement is to add one to the value of x, which means that this statement is equivalent to</a:t>
            </a:r>
          </a:p>
          <a:p>
            <a:endParaRPr lang="en-GB" dirty="0">
              <a:solidFill>
                <a:srgbClr val="222222"/>
              </a:solidFill>
              <a:latin typeface="Trebuchet MS" panose="020B0603020202020204" pitchFamily="34" charset="0"/>
            </a:endParaRPr>
          </a:p>
          <a:p>
            <a:r>
              <a:rPr lang="en-GB" altLang="en-US" sz="2400" b="0" dirty="0">
                <a:latin typeface="Trebuchet MS" panose="020B0603020202020204" pitchFamily="34" charset="0"/>
              </a:rPr>
              <a:t>or in an even longer form</a:t>
            </a:r>
            <a:endParaRPr lang="en-US"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The -- operator (which is called the </a:t>
            </a:r>
            <a:r>
              <a:rPr lang="en-GB" b="1" i="1" dirty="0">
                <a:solidFill>
                  <a:srgbClr val="222222"/>
                </a:solidFill>
                <a:latin typeface="Trebuchet MS" panose="020B0603020202020204" pitchFamily="34" charset="0"/>
              </a:rPr>
              <a:t>decrement operator</a:t>
            </a:r>
            <a:r>
              <a:rPr lang="en-GB" dirty="0">
                <a:solidFill>
                  <a:srgbClr val="222222"/>
                </a:solidFill>
                <a:latin typeface="Trebuchet MS" panose="020B0603020202020204" pitchFamily="34" charset="0"/>
              </a:rPr>
              <a:t>) is similar but subtracts one instead of adding one.</a:t>
            </a:r>
          </a:p>
          <a:p>
            <a:r>
              <a:rPr lang="en-GB" dirty="0">
                <a:solidFill>
                  <a:srgbClr val="222222"/>
                </a:solidFill>
                <a:latin typeface="Trebuchet MS" panose="020B0603020202020204" pitchFamily="34" charset="0"/>
              </a:rPr>
              <a:t>The ++ and -- operators are more complicated than shown here, but it makes sense to defer the details until in </a:t>
            </a:r>
            <a:r>
              <a:rPr lang="en-GB" b="1" i="1" dirty="0">
                <a:solidFill>
                  <a:srgbClr val="222222"/>
                </a:solidFill>
                <a:latin typeface="Trebuchet MS" panose="020B0603020202020204" pitchFamily="34" charset="0"/>
              </a:rPr>
              <a:t>Repetition Statements</a:t>
            </a:r>
            <a:r>
              <a:rPr lang="en-GB" dirty="0">
                <a:solidFill>
                  <a:srgbClr val="222222"/>
                </a:solidFill>
                <a:latin typeface="Trebuchet MS" panose="020B0603020202020204" pitchFamily="34" charset="0"/>
              </a:rPr>
              <a:t>.</a:t>
            </a:r>
          </a:p>
        </p:txBody>
      </p:sp>
      <p:sp>
        <p:nvSpPr>
          <p:cNvPr id="5" name="Text Box 5">
            <a:extLst>
              <a:ext uri="{FF2B5EF4-FFF2-40B4-BE49-F238E27FC236}">
                <a16:creationId xmlns:a16="http://schemas.microsoft.com/office/drawing/2014/main" id="{F64841C4-1AAB-4A6F-D5A4-713013E5709E}"/>
              </a:ext>
            </a:extLst>
          </p:cNvPr>
          <p:cNvSpPr txBox="1">
            <a:spLocks noChangeArrowheads="1"/>
          </p:cNvSpPr>
          <p:nvPr/>
        </p:nvSpPr>
        <p:spPr bwMode="auto">
          <a:xfrm>
            <a:off x="5149215" y="2141696"/>
            <a:ext cx="716280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pPr>
            <a:r>
              <a:rPr lang="en-US" altLang="en-US" sz="2400" dirty="0">
                <a:latin typeface="Trebuchet MS" panose="020B0603020202020204" pitchFamily="34" charset="0"/>
              </a:rPr>
              <a:t>x++;</a:t>
            </a:r>
          </a:p>
        </p:txBody>
      </p:sp>
      <p:sp>
        <p:nvSpPr>
          <p:cNvPr id="6" name="Text Box 8">
            <a:extLst>
              <a:ext uri="{FF2B5EF4-FFF2-40B4-BE49-F238E27FC236}">
                <a16:creationId xmlns:a16="http://schemas.microsoft.com/office/drawing/2014/main" id="{E0A0128F-FD4E-90BA-16AD-343D9B7605E4}"/>
              </a:ext>
            </a:extLst>
          </p:cNvPr>
          <p:cNvSpPr txBox="1">
            <a:spLocks noChangeArrowheads="1"/>
          </p:cNvSpPr>
          <p:nvPr/>
        </p:nvSpPr>
        <p:spPr bwMode="auto">
          <a:xfrm>
            <a:off x="5149215" y="3551555"/>
            <a:ext cx="7162800" cy="433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pPr>
            <a:r>
              <a:rPr lang="en-US" altLang="en-US" sz="2400" dirty="0">
                <a:latin typeface="Trebuchet MS" panose="020B0603020202020204" pitchFamily="34" charset="0"/>
              </a:rPr>
              <a:t>x += 1;</a:t>
            </a:r>
          </a:p>
        </p:txBody>
      </p:sp>
      <p:sp>
        <p:nvSpPr>
          <p:cNvPr id="7" name="Text Box 10">
            <a:extLst>
              <a:ext uri="{FF2B5EF4-FFF2-40B4-BE49-F238E27FC236}">
                <a16:creationId xmlns:a16="http://schemas.microsoft.com/office/drawing/2014/main" id="{1E069511-DB60-0EE3-F70D-50A2305CFBD9}"/>
              </a:ext>
            </a:extLst>
          </p:cNvPr>
          <p:cNvSpPr txBox="1">
            <a:spLocks noChangeArrowheads="1"/>
          </p:cNvSpPr>
          <p:nvPr/>
        </p:nvSpPr>
        <p:spPr bwMode="auto">
          <a:xfrm>
            <a:off x="5089208" y="4701702"/>
            <a:ext cx="6695122" cy="433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90000"/>
              </a:lnSpc>
            </a:pPr>
            <a:r>
              <a:rPr lang="en-US" altLang="en-US" sz="2400" dirty="0">
                <a:latin typeface="Trebuchet MS" panose="020B0603020202020204" pitchFamily="34" charset="0"/>
              </a:rPr>
              <a:t>x = x + 1;</a:t>
            </a:r>
          </a:p>
        </p:txBody>
      </p:sp>
    </p:spTree>
    <p:extLst>
      <p:ext uri="{BB962C8B-B14F-4D97-AF65-F5344CB8AC3E}">
        <p14:creationId xmlns:p14="http://schemas.microsoft.com/office/powerpoint/2010/main" val="3427308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07738" y="186102"/>
            <a:ext cx="10018713" cy="573993"/>
          </a:xfrm>
        </p:spPr>
        <p:txBody>
          <a:bodyPr>
            <a:noAutofit/>
          </a:bodyPr>
          <a:lstStyle/>
          <a:p>
            <a:pPr marL="0" indent="0">
              <a:buNone/>
            </a:pPr>
            <a:r>
              <a:rPr lang="en-GB" sz="3600" b="0" i="0" u="none" strike="noStrike" baseline="0" dirty="0">
                <a:solidFill>
                  <a:srgbClr val="000000"/>
                </a:solidFill>
                <a:latin typeface="Trebuchet MS" panose="020B0603020202020204" pitchFamily="34" charset="0"/>
              </a:rPr>
              <a:t>The Math Class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891539"/>
            <a:ext cx="10295209" cy="5966461"/>
          </a:xfrm>
        </p:spPr>
        <p:txBody>
          <a:bodyPr>
            <a:noAutofit/>
          </a:bodyPr>
          <a:lstStyle/>
          <a:p>
            <a:r>
              <a:rPr lang="en-GB" dirty="0">
                <a:solidFill>
                  <a:srgbClr val="222222"/>
                </a:solidFill>
                <a:latin typeface="Trebuchet MS" panose="020B0603020202020204" pitchFamily="34" charset="0"/>
              </a:rPr>
              <a:t>Obviously, the arithmetic operators discussed above do not solve all possible mathematical problems. However, many mathematical functions are included in the Math class of the Java library, which is available for the programmers use. Some of the functions include:</a:t>
            </a:r>
          </a:p>
          <a:p>
            <a:pPr marL="0" indent="0">
              <a:buNone/>
            </a:pPr>
            <a:r>
              <a:rPr lang="en-GB" dirty="0">
                <a:solidFill>
                  <a:srgbClr val="222222"/>
                </a:solidFill>
                <a:latin typeface="Trebuchet MS" panose="020B0603020202020204" pitchFamily="34" charset="0"/>
              </a:rPr>
              <a:t>		</a:t>
            </a:r>
            <a:r>
              <a:rPr lang="en-GB" b="1" dirty="0">
                <a:solidFill>
                  <a:srgbClr val="222222"/>
                </a:solidFill>
                <a:latin typeface="Trebuchet MS" panose="020B0603020202020204" pitchFamily="34" charset="0"/>
              </a:rPr>
              <a:t>Function</a:t>
            </a:r>
            <a:r>
              <a:rPr lang="en-GB" dirty="0">
                <a:solidFill>
                  <a:srgbClr val="222222"/>
                </a:solidFill>
                <a:latin typeface="Trebuchet MS" panose="020B0603020202020204" pitchFamily="34" charset="0"/>
              </a:rPr>
              <a:t>					</a:t>
            </a:r>
            <a:r>
              <a:rPr lang="en-GB" b="1" dirty="0">
                <a:solidFill>
                  <a:srgbClr val="222222"/>
                </a:solidFill>
                <a:latin typeface="Trebuchet MS" panose="020B0603020202020204" pitchFamily="34" charset="0"/>
              </a:rPr>
              <a:t>Action</a:t>
            </a:r>
          </a:p>
          <a:p>
            <a:pPr marL="0" indent="0">
              <a:buNone/>
            </a:pPr>
            <a:r>
              <a:rPr lang="en-GB" dirty="0">
                <a:solidFill>
                  <a:srgbClr val="222222"/>
                </a:solidFill>
                <a:latin typeface="Trebuchet MS" panose="020B0603020202020204" pitchFamily="34" charset="0"/>
              </a:rPr>
              <a:t>		sqrt(X)					Returns the square root of X</a:t>
            </a:r>
          </a:p>
          <a:p>
            <a:pPr marL="0" indent="0">
              <a:buNone/>
            </a:pPr>
            <a:r>
              <a:rPr lang="en-GB" dirty="0">
                <a:solidFill>
                  <a:srgbClr val="222222"/>
                </a:solidFill>
                <a:latin typeface="Trebuchet MS" panose="020B0603020202020204" pitchFamily="34" charset="0"/>
              </a:rPr>
              <a:t>		abs(X)						Returns the absolute value of X</a:t>
            </a:r>
          </a:p>
          <a:p>
            <a:pPr marL="0" indent="0">
              <a:buNone/>
            </a:pPr>
            <a:r>
              <a:rPr lang="en-GB" dirty="0">
                <a:solidFill>
                  <a:srgbClr val="222222"/>
                </a:solidFill>
                <a:latin typeface="Trebuchet MS" panose="020B0603020202020204" pitchFamily="34" charset="0"/>
              </a:rPr>
              <a:t>		cos(X), sin(X), tan(X)	Returns the trig values of an angle</a:t>
            </a:r>
          </a:p>
          <a:p>
            <a:pPr marL="0" indent="0">
              <a:buNone/>
            </a:pPr>
            <a:r>
              <a:rPr lang="en-GB" dirty="0">
                <a:solidFill>
                  <a:srgbClr val="222222"/>
                </a:solidFill>
                <a:latin typeface="Trebuchet MS" panose="020B0603020202020204" pitchFamily="34" charset="0"/>
              </a:rPr>
              <a:t>		exp(X)						Returns the exponential number e to the 										power of X</a:t>
            </a:r>
          </a:p>
          <a:p>
            <a:pPr marL="0" indent="0">
              <a:buNone/>
            </a:pPr>
            <a:r>
              <a:rPr lang="en-GB" dirty="0">
                <a:solidFill>
                  <a:srgbClr val="222222"/>
                </a:solidFill>
                <a:latin typeface="Trebuchet MS" panose="020B0603020202020204" pitchFamily="34" charset="0"/>
              </a:rPr>
              <a:t>		log(X)						Returns the natural logarithm of X</a:t>
            </a:r>
          </a:p>
          <a:p>
            <a:pPr marL="0" indent="0">
              <a:buNone/>
            </a:pPr>
            <a:r>
              <a:rPr lang="en-GB" dirty="0">
                <a:solidFill>
                  <a:srgbClr val="222222"/>
                </a:solidFill>
                <a:latin typeface="Trebuchet MS" panose="020B0603020202020204" pitchFamily="34" charset="0"/>
              </a:rPr>
              <a:t>		pow(X, Y)					Returns X to the power of Y</a:t>
            </a:r>
          </a:p>
          <a:p>
            <a:pPr marL="0" indent="0">
              <a:buNone/>
            </a:pPr>
            <a:endParaRPr lang="en-GB" dirty="0">
              <a:solidFill>
                <a:srgbClr val="222222"/>
              </a:solidFill>
              <a:latin typeface="Trebuchet MS" panose="020B0603020202020204" pitchFamily="34" charset="0"/>
            </a:endParaRPr>
          </a:p>
        </p:txBody>
      </p:sp>
    </p:spTree>
    <p:extLst>
      <p:ext uri="{BB962C8B-B14F-4D97-AF65-F5344CB8AC3E}">
        <p14:creationId xmlns:p14="http://schemas.microsoft.com/office/powerpoint/2010/main" val="2110212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07738" y="186102"/>
            <a:ext cx="10018713" cy="573993"/>
          </a:xfrm>
        </p:spPr>
        <p:txBody>
          <a:bodyPr>
            <a:noAutofit/>
          </a:bodyPr>
          <a:lstStyle/>
          <a:p>
            <a:pPr marL="0" indent="0">
              <a:buNone/>
            </a:pPr>
            <a:r>
              <a:rPr lang="en-GB" sz="3600" b="0" i="0" u="none" strike="noStrike" baseline="0" dirty="0">
                <a:solidFill>
                  <a:srgbClr val="000000"/>
                </a:solidFill>
                <a:latin typeface="Trebuchet MS" panose="020B0603020202020204" pitchFamily="34" charset="0"/>
              </a:rPr>
              <a:t>The Math Class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891539"/>
                <a:ext cx="10295209" cy="5966461"/>
              </a:xfrm>
            </p:spPr>
            <p:txBody>
              <a:bodyPr>
                <a:noAutofit/>
              </a:bodyPr>
              <a:lstStyle/>
              <a:p>
                <a:r>
                  <a:rPr lang="en-GB" dirty="0">
                    <a:solidFill>
                      <a:srgbClr val="222222"/>
                    </a:solidFill>
                    <a:latin typeface="Trebuchet MS" panose="020B0603020202020204" pitchFamily="34" charset="0"/>
                  </a:rPr>
                  <a:t>Example: Write the following algebraic expressions in Java</a:t>
                </a:r>
              </a:p>
              <a:p>
                <a:pPr marL="0" indent="0">
                  <a:buNone/>
                </a:pPr>
                <a:r>
                  <a:rPr lang="en-GB" dirty="0">
                    <a:solidFill>
                      <a:srgbClr val="222222"/>
                    </a:solidFill>
                    <a:latin typeface="Trebuchet MS" panose="020B0603020202020204" pitchFamily="34" charset="0"/>
                  </a:rPr>
                  <a:t>		1.	</a:t>
                </a:r>
                <a14:m>
                  <m:oMath xmlns:m="http://schemas.openxmlformats.org/officeDocument/2006/math">
                    <m:r>
                      <a:rPr lang="en-GB" b="0" i="1" smtClean="0">
                        <a:solidFill>
                          <a:srgbClr val="222222"/>
                        </a:solidFill>
                        <a:latin typeface="Cambria Math" panose="02040503050406030204" pitchFamily="18" charset="0"/>
                      </a:rPr>
                      <m:t>𝑍</m:t>
                    </m:r>
                    <m:r>
                      <a:rPr lang="en-GB" b="0" i="1" smtClean="0">
                        <a:solidFill>
                          <a:srgbClr val="222222"/>
                        </a:solidFill>
                        <a:latin typeface="Cambria Math" panose="02040503050406030204" pitchFamily="18" charset="0"/>
                      </a:rPr>
                      <m:t>=</m:t>
                    </m:r>
                    <m:f>
                      <m:fPr>
                        <m:ctrlPr>
                          <a:rPr lang="en-GB" b="0" i="1" smtClean="0">
                            <a:solidFill>
                              <a:srgbClr val="222222"/>
                            </a:solidFill>
                            <a:latin typeface="Cambria Math" panose="02040503050406030204" pitchFamily="18" charset="0"/>
                          </a:rPr>
                        </m:ctrlPr>
                      </m:fPr>
                      <m:num>
                        <m:r>
                          <a:rPr lang="en-GB" b="0" i="1" smtClean="0">
                            <a:solidFill>
                              <a:srgbClr val="222222"/>
                            </a:solidFill>
                            <a:latin typeface="Cambria Math" panose="02040503050406030204" pitchFamily="18" charset="0"/>
                          </a:rPr>
                          <m:t>4</m:t>
                        </m:r>
                        <m:r>
                          <a:rPr lang="en-GB" b="0" i="1" smtClean="0">
                            <a:solidFill>
                              <a:srgbClr val="222222"/>
                            </a:solidFill>
                            <a:latin typeface="Cambria Math" panose="02040503050406030204" pitchFamily="18" charset="0"/>
                          </a:rPr>
                          <m:t>𝑋</m:t>
                        </m:r>
                        <m:r>
                          <a:rPr lang="en-GB" b="0" i="1" smtClean="0">
                            <a:solidFill>
                              <a:srgbClr val="222222"/>
                            </a:solidFill>
                            <a:latin typeface="Cambria Math" panose="02040503050406030204" pitchFamily="18" charset="0"/>
                          </a:rPr>
                          <m:t>+</m:t>
                        </m:r>
                        <m:r>
                          <a:rPr lang="en-GB" b="0" i="1" smtClean="0">
                            <a:solidFill>
                              <a:srgbClr val="222222"/>
                            </a:solidFill>
                            <a:latin typeface="Cambria Math" panose="02040503050406030204" pitchFamily="18" charset="0"/>
                          </a:rPr>
                          <m:t>𝑌</m:t>
                        </m:r>
                      </m:num>
                      <m:den>
                        <m:sSup>
                          <m:sSupPr>
                            <m:ctrlPr>
                              <a:rPr lang="en-GB" b="0" i="1" smtClean="0">
                                <a:solidFill>
                                  <a:srgbClr val="222222"/>
                                </a:solidFill>
                                <a:latin typeface="Cambria Math" panose="02040503050406030204" pitchFamily="18" charset="0"/>
                              </a:rPr>
                            </m:ctrlPr>
                          </m:sSupPr>
                          <m:e>
                            <m:r>
                              <a:rPr lang="en-GB" b="0" i="1" smtClean="0">
                                <a:solidFill>
                                  <a:srgbClr val="222222"/>
                                </a:solidFill>
                                <a:latin typeface="Cambria Math" panose="02040503050406030204" pitchFamily="18" charset="0"/>
                              </a:rPr>
                              <m:t>𝑋</m:t>
                            </m:r>
                          </m:e>
                          <m:sup>
                            <m:r>
                              <a:rPr lang="en-GB" b="0" i="1" smtClean="0">
                                <a:solidFill>
                                  <a:srgbClr val="222222"/>
                                </a:solidFill>
                                <a:latin typeface="Cambria Math" panose="02040503050406030204" pitchFamily="18" charset="0"/>
                              </a:rPr>
                              <m:t>2</m:t>
                            </m:r>
                          </m:sup>
                        </m:sSup>
                        <m:r>
                          <a:rPr lang="en-GB" b="0" i="1" smtClean="0">
                            <a:solidFill>
                              <a:srgbClr val="222222"/>
                            </a:solidFill>
                            <a:latin typeface="Cambria Math" panose="02040503050406030204" pitchFamily="18" charset="0"/>
                          </a:rPr>
                          <m:t>−2</m:t>
                        </m:r>
                        <m:r>
                          <a:rPr lang="en-GB" b="0" i="1" smtClean="0">
                            <a:solidFill>
                              <a:srgbClr val="222222"/>
                            </a:solidFill>
                            <a:latin typeface="Cambria Math" panose="02040503050406030204" pitchFamily="18" charset="0"/>
                          </a:rPr>
                          <m:t>𝑌</m:t>
                        </m:r>
                      </m:den>
                    </m:f>
                  </m:oMath>
                </a14:m>
                <a:endParaRPr lang="en-GB" dirty="0">
                  <a:solidFill>
                    <a:srgbClr val="222222"/>
                  </a:solidFill>
                  <a:latin typeface="Trebuchet MS" panose="020B0603020202020204" pitchFamily="34" charset="0"/>
                </a:endParaRPr>
              </a:p>
              <a:p>
                <a:pPr marL="0" indent="0">
                  <a:buNone/>
                </a:pPr>
                <a:r>
                  <a:rPr lang="en-GB" dirty="0">
                    <a:solidFill>
                      <a:srgbClr val="222222"/>
                    </a:solidFill>
                    <a:latin typeface="Trebuchet MS" panose="020B0603020202020204" pitchFamily="34" charset="0"/>
                  </a:rPr>
                  <a:t>		2.	</a:t>
                </a:r>
                <a14:m>
                  <m:oMath xmlns:m="http://schemas.openxmlformats.org/officeDocument/2006/math">
                    <m:r>
                      <a:rPr lang="en-GB" b="0" i="1" smtClean="0">
                        <a:solidFill>
                          <a:srgbClr val="222222"/>
                        </a:solidFill>
                        <a:latin typeface="Cambria Math" panose="02040503050406030204" pitchFamily="18" charset="0"/>
                      </a:rPr>
                      <m:t>𝑍</m:t>
                    </m:r>
                    <m:r>
                      <a:rPr lang="en-GB" b="0" i="1" smtClean="0">
                        <a:solidFill>
                          <a:srgbClr val="222222"/>
                        </a:solidFill>
                        <a:latin typeface="Cambria Math" panose="02040503050406030204" pitchFamily="18" charset="0"/>
                      </a:rPr>
                      <m:t>=</m:t>
                    </m:r>
                    <m:rad>
                      <m:radPr>
                        <m:degHide m:val="on"/>
                        <m:ctrlPr>
                          <a:rPr lang="en-GB" b="0" i="1" smtClean="0">
                            <a:solidFill>
                              <a:srgbClr val="222222"/>
                            </a:solidFill>
                            <a:latin typeface="Cambria Math" panose="02040503050406030204" pitchFamily="18" charset="0"/>
                          </a:rPr>
                        </m:ctrlPr>
                      </m:radPr>
                      <m:deg/>
                      <m:e>
                        <m:r>
                          <a:rPr lang="en-GB" b="0" i="1" smtClean="0">
                            <a:solidFill>
                              <a:srgbClr val="222222"/>
                            </a:solidFill>
                            <a:latin typeface="Cambria Math" panose="02040503050406030204" pitchFamily="18" charset="0"/>
                          </a:rPr>
                          <m:t>𝑋</m:t>
                        </m:r>
                        <m:r>
                          <a:rPr lang="en-GB" b="0" i="1" smtClean="0">
                            <a:solidFill>
                              <a:srgbClr val="222222"/>
                            </a:solidFill>
                            <a:latin typeface="Cambria Math" panose="02040503050406030204" pitchFamily="18" charset="0"/>
                          </a:rPr>
                          <m:t>+</m:t>
                        </m:r>
                        <m:sSup>
                          <m:sSupPr>
                            <m:ctrlPr>
                              <a:rPr lang="en-GB" b="0" i="1" smtClean="0">
                                <a:solidFill>
                                  <a:srgbClr val="222222"/>
                                </a:solidFill>
                                <a:latin typeface="Cambria Math" panose="02040503050406030204" pitchFamily="18" charset="0"/>
                              </a:rPr>
                            </m:ctrlPr>
                          </m:sSupPr>
                          <m:e>
                            <m:r>
                              <a:rPr lang="en-GB" b="0" i="1" smtClean="0">
                                <a:solidFill>
                                  <a:srgbClr val="222222"/>
                                </a:solidFill>
                                <a:latin typeface="Cambria Math" panose="02040503050406030204" pitchFamily="18" charset="0"/>
                              </a:rPr>
                              <m:t>𝑌</m:t>
                            </m:r>
                          </m:e>
                          <m:sup>
                            <m:r>
                              <a:rPr lang="en-GB" b="0" i="1" smtClean="0">
                                <a:solidFill>
                                  <a:srgbClr val="222222"/>
                                </a:solidFill>
                                <a:latin typeface="Cambria Math" panose="02040503050406030204" pitchFamily="18" charset="0"/>
                              </a:rPr>
                              <m:t>2</m:t>
                            </m:r>
                          </m:sup>
                        </m:sSup>
                      </m:e>
                    </m:rad>
                  </m:oMath>
                </a14:m>
                <a:r>
                  <a:rPr lang="en-GB" dirty="0">
                    <a:solidFill>
                      <a:srgbClr val="222222"/>
                    </a:solidFill>
                    <a:latin typeface="Trebuchet MS" panose="020B0603020202020204" pitchFamily="34" charset="0"/>
                  </a:rPr>
                  <a:t>		</a:t>
                </a:r>
              </a:p>
              <a:p>
                <a:pPr marL="0" indent="0">
                  <a:buNone/>
                </a:pPr>
                <a:r>
                  <a:rPr lang="en-GB" dirty="0">
                    <a:solidFill>
                      <a:srgbClr val="222222"/>
                    </a:solidFill>
                    <a:latin typeface="Trebuchet MS" panose="020B0603020202020204" pitchFamily="34" charset="0"/>
                  </a:rPr>
                  <a:t>		3. </a:t>
                </a:r>
                <a14:m>
                  <m:oMath xmlns:m="http://schemas.openxmlformats.org/officeDocument/2006/math">
                    <m:rad>
                      <m:radPr>
                        <m:degHide m:val="on"/>
                        <m:ctrlPr>
                          <a:rPr lang="en-GB" i="1" smtClean="0">
                            <a:solidFill>
                              <a:srgbClr val="222222"/>
                            </a:solidFill>
                            <a:latin typeface="Cambria Math" panose="02040503050406030204" pitchFamily="18" charset="0"/>
                          </a:rPr>
                        </m:ctrlPr>
                      </m:radPr>
                      <m:deg/>
                      <m:e>
                        <m:r>
                          <a:rPr lang="en-GB" b="0" i="1" smtClean="0">
                            <a:solidFill>
                              <a:srgbClr val="222222"/>
                            </a:solidFill>
                            <a:latin typeface="Cambria Math" panose="02040503050406030204" pitchFamily="18" charset="0"/>
                          </a:rPr>
                          <m:t>(</m:t>
                        </m:r>
                        <m:r>
                          <a:rPr lang="en-GB" b="0" i="1" smtClean="0">
                            <a:solidFill>
                              <a:srgbClr val="222222"/>
                            </a:solidFill>
                            <a:latin typeface="Cambria Math" panose="02040503050406030204" pitchFamily="18" charset="0"/>
                          </a:rPr>
                          <m:t>𝑠</m:t>
                        </m:r>
                        <m:r>
                          <a:rPr lang="en-GB" b="0" i="1" smtClean="0">
                            <a:solidFill>
                              <a:srgbClr val="222222"/>
                            </a:solidFill>
                            <a:latin typeface="Cambria Math" panose="02040503050406030204" pitchFamily="18" charset="0"/>
                          </a:rPr>
                          <m:t>(</m:t>
                        </m:r>
                        <m:r>
                          <a:rPr lang="en-GB" b="0" i="1" smtClean="0">
                            <a:solidFill>
                              <a:srgbClr val="222222"/>
                            </a:solidFill>
                            <a:latin typeface="Cambria Math" panose="02040503050406030204" pitchFamily="18" charset="0"/>
                          </a:rPr>
                          <m:t>𝑠</m:t>
                        </m:r>
                        <m:r>
                          <a:rPr lang="en-GB" b="0" i="1" smtClean="0">
                            <a:solidFill>
                              <a:srgbClr val="222222"/>
                            </a:solidFill>
                            <a:latin typeface="Cambria Math" panose="02040503050406030204" pitchFamily="18" charset="0"/>
                          </a:rPr>
                          <m:t>−</m:t>
                        </m:r>
                        <m:r>
                          <a:rPr lang="en-GB" b="0" i="1" smtClean="0">
                            <a:solidFill>
                              <a:srgbClr val="222222"/>
                            </a:solidFill>
                            <a:latin typeface="Cambria Math" panose="02040503050406030204" pitchFamily="18" charset="0"/>
                          </a:rPr>
                          <m:t>𝑎</m:t>
                        </m:r>
                        <m:r>
                          <a:rPr lang="en-GB" b="0" i="1" smtClean="0">
                            <a:solidFill>
                              <a:srgbClr val="222222"/>
                            </a:solidFill>
                            <a:latin typeface="Cambria Math" panose="02040503050406030204" pitchFamily="18" charset="0"/>
                          </a:rPr>
                          <m:t>)(</m:t>
                        </m:r>
                        <m:r>
                          <a:rPr lang="en-GB" b="0" i="1" smtClean="0">
                            <a:solidFill>
                              <a:srgbClr val="222222"/>
                            </a:solidFill>
                            <a:latin typeface="Cambria Math" panose="02040503050406030204" pitchFamily="18" charset="0"/>
                          </a:rPr>
                          <m:t>𝑠</m:t>
                        </m:r>
                        <m:r>
                          <a:rPr lang="en-GB" b="0" i="1" smtClean="0">
                            <a:solidFill>
                              <a:srgbClr val="222222"/>
                            </a:solidFill>
                            <a:latin typeface="Cambria Math" panose="02040503050406030204" pitchFamily="18" charset="0"/>
                          </a:rPr>
                          <m:t>−</m:t>
                        </m:r>
                        <m:r>
                          <a:rPr lang="en-GB" b="0" i="1" smtClean="0">
                            <a:solidFill>
                              <a:srgbClr val="222222"/>
                            </a:solidFill>
                            <a:latin typeface="Cambria Math" panose="02040503050406030204" pitchFamily="18" charset="0"/>
                          </a:rPr>
                          <m:t>𝑏</m:t>
                        </m:r>
                        <m:r>
                          <a:rPr lang="en-GB" b="0" i="1" smtClean="0">
                            <a:solidFill>
                              <a:srgbClr val="222222"/>
                            </a:solidFill>
                            <a:latin typeface="Cambria Math" panose="02040503050406030204" pitchFamily="18" charset="0"/>
                          </a:rPr>
                          <m:t>)(</m:t>
                        </m:r>
                        <m:r>
                          <a:rPr lang="en-GB" b="0" i="1" smtClean="0">
                            <a:solidFill>
                              <a:srgbClr val="222222"/>
                            </a:solidFill>
                            <a:latin typeface="Cambria Math" panose="02040503050406030204" pitchFamily="18" charset="0"/>
                          </a:rPr>
                          <m:t>𝑠</m:t>
                        </m:r>
                        <m:r>
                          <a:rPr lang="en-GB" b="0" i="1" smtClean="0">
                            <a:solidFill>
                              <a:srgbClr val="222222"/>
                            </a:solidFill>
                            <a:latin typeface="Cambria Math" panose="02040503050406030204" pitchFamily="18" charset="0"/>
                          </a:rPr>
                          <m:t>−</m:t>
                        </m:r>
                        <m:r>
                          <a:rPr lang="en-GB" b="0" i="1" smtClean="0">
                            <a:solidFill>
                              <a:srgbClr val="222222"/>
                            </a:solidFill>
                            <a:latin typeface="Cambria Math" panose="02040503050406030204" pitchFamily="18" charset="0"/>
                          </a:rPr>
                          <m:t>𝑐</m:t>
                        </m:r>
                        <m:r>
                          <a:rPr lang="en-GB" b="0" i="1" smtClean="0">
                            <a:solidFill>
                              <a:srgbClr val="222222"/>
                            </a:solidFill>
                            <a:latin typeface="Cambria Math" panose="02040503050406030204" pitchFamily="18" charset="0"/>
                          </a:rPr>
                          <m:t>))</m:t>
                        </m:r>
                      </m:e>
                    </m:rad>
                  </m:oMath>
                </a14:m>
                <a:endParaRPr lang="en-GB" dirty="0">
                  <a:solidFill>
                    <a:srgbClr val="222222"/>
                  </a:solidFill>
                  <a:latin typeface="Trebuchet MS" panose="020B0603020202020204" pitchFamily="34" charset="0"/>
                </a:endParaRPr>
              </a:p>
              <a:p>
                <a:pPr marL="0" indent="0">
                  <a:buNone/>
                </a:pPr>
                <a:r>
                  <a:rPr lang="en-GB" dirty="0">
                    <a:solidFill>
                      <a:srgbClr val="222222"/>
                    </a:solidFill>
                    <a:latin typeface="Trebuchet MS" panose="020B0603020202020204" pitchFamily="34" charset="0"/>
                  </a:rPr>
                  <a:t>		4. </a:t>
                </a:r>
                <a14:m>
                  <m:oMath xmlns:m="http://schemas.openxmlformats.org/officeDocument/2006/math">
                    <m:r>
                      <a:rPr lang="en-GB" i="1" smtClean="0">
                        <a:solidFill>
                          <a:srgbClr val="222222"/>
                        </a:solidFill>
                        <a:latin typeface="Cambria Math" panose="02040503050406030204" pitchFamily="18" charset="0"/>
                      </a:rPr>
                      <m:t>𝑥</m:t>
                    </m:r>
                    <m:r>
                      <a:rPr lang="en-GB" i="1" smtClean="0">
                        <a:solidFill>
                          <a:srgbClr val="222222"/>
                        </a:solidFill>
                        <a:latin typeface="Cambria Math" panose="02040503050406030204" pitchFamily="18" charset="0"/>
                      </a:rPr>
                      <m:t>=</m:t>
                    </m:r>
                    <m:f>
                      <m:fPr>
                        <m:ctrlPr>
                          <a:rPr lang="en-GB" i="1" smtClean="0">
                            <a:solidFill>
                              <a:srgbClr val="222222"/>
                            </a:solidFill>
                            <a:latin typeface="Cambria Math" panose="02040503050406030204" pitchFamily="18" charset="0"/>
                          </a:rPr>
                        </m:ctrlPr>
                      </m:fPr>
                      <m:num>
                        <m:r>
                          <a:rPr lang="en-GB" i="1" smtClean="0">
                            <a:solidFill>
                              <a:srgbClr val="222222"/>
                            </a:solidFill>
                            <a:latin typeface="Cambria Math" panose="02040503050406030204" pitchFamily="18" charset="0"/>
                          </a:rPr>
                          <m:t>−</m:t>
                        </m:r>
                        <m:r>
                          <a:rPr lang="en-GB" i="1" smtClean="0">
                            <a:solidFill>
                              <a:srgbClr val="222222"/>
                            </a:solidFill>
                            <a:latin typeface="Cambria Math" panose="02040503050406030204" pitchFamily="18" charset="0"/>
                          </a:rPr>
                          <m:t>𝑏</m:t>
                        </m:r>
                        <m:r>
                          <a:rPr lang="en-GB" i="1" smtClean="0">
                            <a:solidFill>
                              <a:srgbClr val="222222"/>
                            </a:solidFill>
                            <a:latin typeface="Cambria Math" panose="02040503050406030204" pitchFamily="18" charset="0"/>
                          </a:rPr>
                          <m:t>±</m:t>
                        </m:r>
                        <m:rad>
                          <m:radPr>
                            <m:degHide m:val="on"/>
                            <m:ctrlPr>
                              <a:rPr lang="en-GB" i="1" smtClean="0">
                                <a:solidFill>
                                  <a:srgbClr val="222222"/>
                                </a:solidFill>
                                <a:latin typeface="Cambria Math" panose="02040503050406030204" pitchFamily="18" charset="0"/>
                              </a:rPr>
                            </m:ctrlPr>
                          </m:radPr>
                          <m:deg/>
                          <m:e>
                            <m:sSup>
                              <m:sSupPr>
                                <m:ctrlPr>
                                  <a:rPr lang="en-GB" i="1" smtClean="0">
                                    <a:solidFill>
                                      <a:srgbClr val="222222"/>
                                    </a:solidFill>
                                    <a:latin typeface="Cambria Math" panose="02040503050406030204" pitchFamily="18" charset="0"/>
                                  </a:rPr>
                                </m:ctrlPr>
                              </m:sSupPr>
                              <m:e>
                                <m:r>
                                  <a:rPr lang="en-GB" i="1" smtClean="0">
                                    <a:solidFill>
                                      <a:srgbClr val="222222"/>
                                    </a:solidFill>
                                    <a:latin typeface="Cambria Math" panose="02040503050406030204" pitchFamily="18" charset="0"/>
                                  </a:rPr>
                                  <m:t>𝑏</m:t>
                                </m:r>
                              </m:e>
                              <m:sup>
                                <m:r>
                                  <a:rPr lang="en-GB" i="1" smtClean="0">
                                    <a:solidFill>
                                      <a:srgbClr val="222222"/>
                                    </a:solidFill>
                                    <a:latin typeface="Cambria Math" panose="02040503050406030204" pitchFamily="18" charset="0"/>
                                  </a:rPr>
                                  <m:t>2</m:t>
                                </m:r>
                              </m:sup>
                            </m:sSup>
                            <m:r>
                              <a:rPr lang="en-GB" i="1" smtClean="0">
                                <a:solidFill>
                                  <a:srgbClr val="222222"/>
                                </a:solidFill>
                                <a:latin typeface="Cambria Math" panose="02040503050406030204" pitchFamily="18" charset="0"/>
                              </a:rPr>
                              <m:t>−4</m:t>
                            </m:r>
                            <m:r>
                              <a:rPr lang="en-GB" i="1" smtClean="0">
                                <a:solidFill>
                                  <a:srgbClr val="222222"/>
                                </a:solidFill>
                                <a:latin typeface="Cambria Math" panose="02040503050406030204" pitchFamily="18" charset="0"/>
                              </a:rPr>
                              <m:t>𝑎𝑐</m:t>
                            </m:r>
                          </m:e>
                        </m:rad>
                      </m:num>
                      <m:den>
                        <m:r>
                          <a:rPr lang="en-GB" i="1" smtClean="0">
                            <a:solidFill>
                              <a:srgbClr val="222222"/>
                            </a:solidFill>
                            <a:latin typeface="Cambria Math" panose="02040503050406030204" pitchFamily="18" charset="0"/>
                          </a:rPr>
                          <m:t>2</m:t>
                        </m:r>
                        <m:r>
                          <a:rPr lang="en-GB" i="1" smtClean="0">
                            <a:solidFill>
                              <a:srgbClr val="222222"/>
                            </a:solidFill>
                            <a:latin typeface="Cambria Math" panose="02040503050406030204" pitchFamily="18" charset="0"/>
                          </a:rPr>
                          <m:t>𝑎</m:t>
                        </m:r>
                      </m:den>
                    </m:f>
                  </m:oMath>
                </a14:m>
                <a:endParaRPr lang="en-GB" dirty="0">
                  <a:solidFill>
                    <a:srgbClr val="222222"/>
                  </a:solidFill>
                  <a:latin typeface="Trebuchet MS" panose="020B0603020202020204" pitchFamily="34" charset="0"/>
                </a:endParaRPr>
              </a:p>
              <a:p>
                <a:r>
                  <a:rPr lang="en-GB" dirty="0">
                    <a:solidFill>
                      <a:srgbClr val="222222"/>
                    </a:solidFill>
                    <a:latin typeface="Trebuchet MS" panose="020B0603020202020204" pitchFamily="34" charset="0"/>
                  </a:rPr>
                  <a:t>Solutions: </a:t>
                </a:r>
              </a:p>
              <a:p>
                <a:pPr marL="0" indent="0">
                  <a:buNone/>
                </a:pPr>
                <a:r>
                  <a:rPr lang="en-GB" dirty="0">
                    <a:solidFill>
                      <a:srgbClr val="222222"/>
                    </a:solidFill>
                    <a:latin typeface="Trebuchet MS" panose="020B0603020202020204" pitchFamily="34" charset="0"/>
                  </a:rPr>
                  <a:t>		1. Z = (4*X + Y)/ </a:t>
                </a:r>
                <a:r>
                  <a:rPr lang="en-GB" dirty="0" err="1">
                    <a:solidFill>
                      <a:srgbClr val="222222"/>
                    </a:solidFill>
                    <a:latin typeface="Trebuchet MS" panose="020B0603020202020204" pitchFamily="34" charset="0"/>
                  </a:rPr>
                  <a:t>Math.pow</a:t>
                </a:r>
                <a:r>
                  <a:rPr lang="en-GB" dirty="0">
                    <a:solidFill>
                      <a:srgbClr val="222222"/>
                    </a:solidFill>
                    <a:latin typeface="Trebuchet MS" panose="020B0603020202020204" pitchFamily="34" charset="0"/>
                  </a:rPr>
                  <a:t>(X,2) – 2*Y</a:t>
                </a:r>
              </a:p>
              <a:p>
                <a:pPr marL="0" indent="0">
                  <a:buNone/>
                </a:pPr>
                <a:r>
                  <a:rPr lang="en-GB" dirty="0">
                    <a:solidFill>
                      <a:srgbClr val="222222"/>
                    </a:solidFill>
                    <a:latin typeface="Trebuchet MS" panose="020B0603020202020204" pitchFamily="34" charset="0"/>
                  </a:rPr>
                  <a:t>		2. Z = </a:t>
                </a:r>
                <a:r>
                  <a:rPr lang="en-GB" dirty="0" err="1">
                    <a:solidFill>
                      <a:srgbClr val="222222"/>
                    </a:solidFill>
                    <a:latin typeface="Trebuchet MS" panose="020B0603020202020204" pitchFamily="34" charset="0"/>
                  </a:rPr>
                  <a:t>Math.sqrt</a:t>
                </a:r>
                <a:r>
                  <a:rPr lang="en-GB" dirty="0">
                    <a:solidFill>
                      <a:srgbClr val="222222"/>
                    </a:solidFill>
                    <a:latin typeface="Trebuchet MS" panose="020B0603020202020204" pitchFamily="34" charset="0"/>
                  </a:rPr>
                  <a:t>(X + </a:t>
                </a:r>
                <a:r>
                  <a:rPr lang="en-GB" dirty="0" err="1">
                    <a:solidFill>
                      <a:srgbClr val="222222"/>
                    </a:solidFill>
                    <a:latin typeface="Trebuchet MS" panose="020B0603020202020204" pitchFamily="34" charset="0"/>
                  </a:rPr>
                  <a:t>Math.pow</a:t>
                </a:r>
                <a:r>
                  <a:rPr lang="en-GB" dirty="0">
                    <a:solidFill>
                      <a:srgbClr val="222222"/>
                    </a:solidFill>
                    <a:latin typeface="Trebuchet MS" panose="020B0603020202020204" pitchFamily="34" charset="0"/>
                  </a:rPr>
                  <a:t>(Y,2)</a:t>
                </a:r>
              </a:p>
              <a:p>
                <a:pPr marL="0" indent="0">
                  <a:buNone/>
                </a:pPr>
                <a:r>
                  <a:rPr lang="en-GB" dirty="0">
                    <a:solidFill>
                      <a:srgbClr val="222222"/>
                    </a:solidFill>
                    <a:latin typeface="Trebuchet MS" panose="020B0603020202020204" pitchFamily="34" charset="0"/>
                  </a:rPr>
                  <a:t>		3. Area = </a:t>
                </a:r>
                <a:r>
                  <a:rPr lang="en-GB" dirty="0" err="1">
                    <a:solidFill>
                      <a:srgbClr val="222222"/>
                    </a:solidFill>
                    <a:latin typeface="Trebuchet MS" panose="020B0603020202020204" pitchFamily="34" charset="0"/>
                  </a:rPr>
                  <a:t>Math.sqrt</a:t>
                </a:r>
                <a:r>
                  <a:rPr lang="en-GB" dirty="0">
                    <a:solidFill>
                      <a:srgbClr val="222222"/>
                    </a:solidFill>
                    <a:latin typeface="Trebuchet MS" panose="020B0603020202020204" pitchFamily="34" charset="0"/>
                  </a:rPr>
                  <a:t>(s*(s – a)*(s – b)*(s – c))</a:t>
                </a:r>
              </a:p>
              <a:p>
                <a:pPr marL="0" indent="0">
                  <a:buNone/>
                </a:pPr>
                <a:r>
                  <a:rPr lang="en-GB" dirty="0">
                    <a:solidFill>
                      <a:srgbClr val="222222"/>
                    </a:solidFill>
                    <a:latin typeface="Trebuchet MS" panose="020B0603020202020204" pitchFamily="34" charset="0"/>
                  </a:rPr>
                  <a:t>		4. Class Work</a:t>
                </a:r>
              </a:p>
            </p:txBody>
          </p:sp>
        </mc:Choice>
        <mc:Fallback xmlns="">
          <p:sp>
            <p:nvSpPr>
              <p:cNvPr id="3" name="Content Placeholder 2">
                <a:extLst>
                  <a:ext uri="{FF2B5EF4-FFF2-40B4-BE49-F238E27FC236}">
                    <a16:creationId xmlns:a16="http://schemas.microsoft.com/office/drawing/2014/main" id="{9A9515C4-D2C5-4F6A-4D01-D1C37ECD04BF}"/>
                  </a:ext>
                </a:extLst>
              </p:cNvPr>
              <p:cNvSpPr>
                <a:spLocks noGrp="1" noRot="1" noChangeAspect="1" noMove="1" noResize="1" noEditPoints="1" noAdjustHandles="1" noChangeArrowheads="1" noChangeShapeType="1" noTextEdit="1"/>
              </p:cNvSpPr>
              <p:nvPr>
                <p:ph idx="1"/>
              </p:nvPr>
            </p:nvSpPr>
            <p:spPr>
              <a:xfrm>
                <a:off x="1896791" y="891539"/>
                <a:ext cx="10295209" cy="5966461"/>
              </a:xfrm>
              <a:blipFill>
                <a:blip r:embed="rId2"/>
                <a:stretch>
                  <a:fillRect l="-1480" t="-715" b="-204"/>
                </a:stretch>
              </a:blipFill>
            </p:spPr>
            <p:txBody>
              <a:bodyPr/>
              <a:lstStyle/>
              <a:p>
                <a:r>
                  <a:rPr lang="en-GB">
                    <a:noFill/>
                  </a:rPr>
                  <a:t> </a:t>
                </a:r>
              </a:p>
            </p:txBody>
          </p:sp>
        </mc:Fallback>
      </mc:AlternateContent>
    </p:spTree>
    <p:extLst>
      <p:ext uri="{BB962C8B-B14F-4D97-AF65-F5344CB8AC3E}">
        <p14:creationId xmlns:p14="http://schemas.microsoft.com/office/powerpoint/2010/main" val="12232336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12779</TotalTime>
  <Words>2276</Words>
  <Application>Microsoft Office PowerPoint</Application>
  <PresentationFormat>Widescreen</PresentationFormat>
  <Paragraphs>221</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Cambria Math</vt:lpstr>
      <vt:lpstr>Corbel</vt:lpstr>
      <vt:lpstr>Trebuchet MS</vt:lpstr>
      <vt:lpstr>Parallax</vt:lpstr>
      <vt:lpstr>CMP 201: Computer Programming I </vt:lpstr>
      <vt:lpstr>Programming Languages</vt:lpstr>
      <vt:lpstr>Why Java</vt:lpstr>
      <vt:lpstr>Java History</vt:lpstr>
      <vt:lpstr>JDK Versions</vt:lpstr>
      <vt:lpstr>JDK Editions</vt:lpstr>
      <vt:lpstr>Popular Java IDEs</vt:lpstr>
      <vt:lpstr>Java Identifiers</vt:lpstr>
      <vt:lpstr>Variables and Constants</vt:lpstr>
      <vt:lpstr>Variable Declarations</vt:lpstr>
      <vt:lpstr>Expressions in Java</vt:lpstr>
      <vt:lpstr>Primitive Data Types</vt:lpstr>
      <vt:lpstr>Operators and Operands</vt:lpstr>
      <vt:lpstr>Division and Type Casts</vt:lpstr>
      <vt:lpstr>The Remainder Operator</vt:lpstr>
      <vt:lpstr>Precedence</vt:lpstr>
      <vt:lpstr>Assignment Statements</vt:lpstr>
      <vt:lpstr>Shorthand Assignments</vt:lpstr>
      <vt:lpstr>Increment and Decrement Operators</vt:lpstr>
      <vt:lpstr>The Math Class</vt:lpstr>
      <vt:lpstr>The Math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 801: Management and Entrepreneurship</dc:title>
  <dc:creator>Ahmad Idris Tambuwal</dc:creator>
  <cp:lastModifiedBy>aidrista@outlook.com</cp:lastModifiedBy>
  <cp:revision>88</cp:revision>
  <dcterms:created xsi:type="dcterms:W3CDTF">2023-04-03T11:05:13Z</dcterms:created>
  <dcterms:modified xsi:type="dcterms:W3CDTF">2026-01-21T22:54:12Z</dcterms:modified>
</cp:coreProperties>
</file>